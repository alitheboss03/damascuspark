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Cambria"/>
              </a:defRPr>
            </a:pPr>
            <a:r>
              <a:rPr sz="1300" b="0" i="0" u="none" strike="noStrike">
                <a:solidFill>
                  <a:srgbClr val="0F172A"/>
                </a:solidFill>
                <a:latin typeface="Cambria"/>
              </a:rPr>
              <a:t>Hourly rate (credits) by zone</a:t>
            </a:r>
          </a:p>
        </c:rich>
      </c:tx>
      <c:layout/>
      <c:overlay val="0"/>
    </c:title>
    <c:autoTitleDeleted val="0"/>
    <c:plotArea>
      <c:layout/>
      <c:barChart>
        <c:barDir val="col"/>
        <c:grouping val="clustered"/>
        <c:varyColors val="0"/>
        <c:ser>
          <c:idx val="0"/>
          <c:order val="0"/>
          <c:tx>
            <c:strRef>
              <c:f>Sheet1!$B$1</c:f>
              <c:strCache>
                <c:ptCount val="1"/>
                <c:pt idx="0">
                  <c:v>Gas 5,000 SYP/L</c:v>
                </c:pt>
              </c:strCache>
            </c:strRef>
          </c:tx>
          <c:spPr>
            <a:solidFill>
              <a:srgbClr val="94A3B8"/>
            </a:solidFill>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Red</c:v>
                  </c:pt>
                  <c:pt idx="1">
                    <c:v>Yellow</c:v>
                  </c:pt>
                  <c:pt idx="2">
                    <c:v>Green</c:v>
                  </c:pt>
                </c:lvl>
              </c:multiLvlStrCache>
            </c:multiLvlStrRef>
          </c:cat>
          <c:val>
            <c:numRef>
              <c:f>Sheet1!$B$2:$B$4</c:f>
              <c:numCache>
                <c:formatCode>General</c:formatCode>
                <c:ptCount val="3"/>
                <c:pt idx="0">
                  <c:v>15</c:v>
                </c:pt>
                <c:pt idx="1">
                  <c:v>10</c:v>
                </c:pt>
                <c:pt idx="2">
                  <c:v>5</c:v>
                </c:pt>
              </c:numCache>
            </c:numRef>
          </c:val>
        </c:ser>
        <c:ser>
          <c:idx val="1"/>
          <c:order val="1"/>
          <c:tx>
            <c:strRef>
              <c:f>Sheet1!$C$1</c:f>
              <c:strCache>
                <c:ptCount val="1"/>
                <c:pt idx="0">
                  <c:v>Gas 10,000 SYP/L</c:v>
                </c:pt>
              </c:strCache>
            </c:strRef>
          </c:tx>
          <c:spPr>
            <a:solidFill>
              <a:srgbClr val="D4A017"/>
            </a:solidFill>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Red</c:v>
                  </c:pt>
                  <c:pt idx="1">
                    <c:v>Yellow</c:v>
                  </c:pt>
                  <c:pt idx="2">
                    <c:v>Green</c:v>
                  </c:pt>
                </c:lvl>
              </c:multiLvlStrCache>
            </c:multiLvlStrRef>
          </c:cat>
          <c:val>
            <c:numRef>
              <c:f>Sheet1!$C$2:$C$4</c:f>
              <c:numCache>
                <c:formatCode>General</c:formatCode>
                <c:ptCount val="3"/>
                <c:pt idx="0">
                  <c:v>30</c:v>
                </c:pt>
                <c:pt idx="1">
                  <c:v>20</c:v>
                </c:pt>
                <c:pt idx="2">
                  <c:v>10</c:v>
                </c:pt>
              </c:numCache>
            </c:numRef>
          </c:val>
        </c:ser>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4748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Cambria"/>
              </a:defRPr>
            </a:pPr>
            <a:r>
              <a:rPr sz="1300" b="0" i="0" u="none" strike="noStrike">
                <a:solidFill>
                  <a:srgbClr val="0F172A"/>
                </a:solidFill>
                <a:latin typeface="Cambria"/>
              </a:rPr>
              <a:t>Revenue split</a:t>
            </a:r>
          </a:p>
        </c:rich>
      </c:tx>
      <c:layout/>
      <c:overlay val="0"/>
    </c:title>
    <c:autoTitleDeleted val="0"/>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D4A017"/>
              </a:solidFill>
              <a:effectLst/>
            </c:spPr>
          </c:dPt>
          <c:dPt>
            <c:idx val="1"/>
            <c:bubble3D val="0"/>
            <c:spPr>
              <a:solidFill>
                <a:srgbClr val="0B1220"/>
              </a:solidFill>
              <a:effectLst/>
            </c:spPr>
          </c:dPt>
          <c:dLbls>
            <c:dLbl>
              <c:idx val="0"/>
              <c:numFmt formatCode="0%" sourceLinked="0"/>
              <c:spPr/>
              <c:txPr>
                <a:bodyPr/>
                <a:lstStyle/>
                <a:p>
                  <a:pPr>
                    <a:defRPr sz="1300" b="0"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City (60%)</c:v>
                </c:pt>
                <c:pt idx="1">
                  <c:v>Platform (40%)</c:v>
                </c:pt>
              </c:strCache>
            </c:strRef>
          </c:cat>
          <c:val>
            <c:numRef>
              <c:f>Sheet1!$B$2:$B$3</c:f>
              <c:numCache>
                <c:ptCount val="2"/>
                <c:pt idx="0">
                  <c:v>60</c:v>
                </c:pt>
                <c:pt idx="1">
                  <c:v>40</c:v>
                </c:pt>
              </c:numCache>
            </c:numRef>
          </c:val>
        </c:ser>
        <c:firstSliceAng val="0"/>
        <c:holeSize val="62"/>
      </c:doughnutChart>
      <c:spPr>
        <a:noFill/>
        <a:ln>
          <a:noFill/>
        </a:ln>
        <a:effectLst/>
      </c:spPr>
    </c:plotArea>
    <c:legend>
      <c:legendPos val="b"/>
      <c:overlay val="0"/>
      <c:txPr>
        <a:bodyPr/>
        <a:lstStyle/>
        <a:p>
          <a:pPr>
            <a:defRPr sz="1200">
              <a:solidFill>
                <a:srgbClr val="64748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and direct. Mawqif is a working, deployed platform — not a slide-ware concept. The three words on screen are the whole thesis: revenue that survives inflation, enforcement the city can see in real time, and infrastructure that stays sovereign. Invite them to open the live link on their phones during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parking as an under-monetized public asset, not a nuisance. The four cards are the status quo. Land the bottom line: today the city owns the curb but captures little of its value and gets no data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not in two years.' Three real tailwinds: institutional rebuild, an active national digitization agenda, and the new central vehicle network + plate rollout. Mawqif plugs into momentum that already exists rather than asking the city to start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one-sentence pitch: the city's parking operating system. Pay / Enforce / Govern map to the three apps you'll demo. Keep it tight — this slide sets up the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as a story of a single driver. Emphasize that the same flow that serves the driver also produces the audit trail the city has never had. This is where you cut to the live demo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De-risk the decision: this already exists and runs. Hand them the demo credentials and let them poke at the admin price control live. The $0 open-source stack line matters for both budget and sanctions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room. Make the point plainly: in a high-inflation economy, a fixed tariff is a slow-motion revenue loss. The peg means the city never has to pass a new fee schedule again — it tracks fuel automatically. The chart shows rates doubling with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Sovereignty is the argument a foreign vendor can't make. Money moves on local rails, data stays under government control, and because the whole stack is open-source there is nothing a sanction can switch off. Then close on security: this was engineered to bank standards,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risk reversal: no upfront cost, the city is the majority partner at 60%. Be explicit that the table is illustrative and the real number depends on their occupancy data — offer to re-run it with their figures. The point is the structure: the city earns from day one and the platform only earns when the city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to the decision-makers' mandate: revenue, transparency/anti-corruption, and visible service improvement for citizens. The last two cards — jobs and a smart-city data foundation — turn a parking app into a strategic platform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two alternatives. Building in-house is slow and ties up capital the city would rather not spend; a foreign vendor fails on sovereignty, FX cost, and sanctions exposure. Mawqif is the only column that's green down the line — and it's already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ask feel small and safe: we're only asking for Phase 1. Phases 2 and 3 show there's a credible path to scale and to the real registry integration, but the decision today is just a contained 90-day pilot in three named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small, concrete, low-risk ask: a contained 90-day pilot. Read the two columns as a trade — four lightweight things from them, four substantial things back, with the city carrying no financial risk. End by putting the live URL on screen and inviting them to open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4213D"/>
          </a:solidFill>
          <a:ln/>
        </p:spPr>
      </p:sp>
      <p:sp>
        <p:nvSpPr>
          <p:cNvPr id="3" name="Shape 1"/>
          <p:cNvSpPr/>
          <p:nvPr/>
        </p:nvSpPr>
        <p:spPr>
          <a:xfrm>
            <a:off x="10424160" y="3840480"/>
            <a:ext cx="3840480" cy="3840480"/>
          </a:xfrm>
          <a:prstGeom prst="ellipse">
            <a:avLst/>
          </a:prstGeom>
          <a:solidFill>
            <a:srgbClr val="0E1A33"/>
          </a:solidFill>
          <a:ln/>
        </p:spPr>
      </p:sp>
      <p:sp>
        <p:nvSpPr>
          <p:cNvPr id="4" name="Shape 2"/>
          <p:cNvSpPr/>
          <p:nvPr/>
        </p:nvSpPr>
        <p:spPr>
          <a:xfrm>
            <a:off x="640080" y="640080"/>
            <a:ext cx="868680" cy="868680"/>
          </a:xfrm>
          <a:prstGeom prst="ellipse">
            <a:avLst/>
          </a:prstGeom>
          <a:solidFill>
            <a:srgbClr val="D4A017"/>
          </a:solidFill>
          <a:ln/>
        </p:spPr>
      </p:sp>
      <p:sp>
        <p:nvSpPr>
          <p:cNvPr id="5" name="Text 3"/>
          <p:cNvSpPr/>
          <p:nvPr/>
        </p:nvSpPr>
        <p:spPr>
          <a:xfrm>
            <a:off x="640080" y="621792"/>
            <a:ext cx="868680" cy="868680"/>
          </a:xfrm>
          <a:prstGeom prst="rect">
            <a:avLst/>
          </a:prstGeom>
          <a:noFill/>
          <a:ln/>
        </p:spPr>
        <p:txBody>
          <a:bodyPr wrap="square" rtlCol="0" anchor="ctr"/>
          <a:lstStyle/>
          <a:p>
            <a:pPr algn="ctr" indent="0" marL="0">
              <a:buNone/>
            </a:pPr>
            <a:r>
              <a:rPr lang="en-US" sz="2470" b="1" dirty="0">
                <a:solidFill>
                  <a:srgbClr val="0B1220"/>
                </a:solidFill>
                <a:latin typeface="Cambria" pitchFamily="34" charset="0"/>
                <a:ea typeface="Cambria" pitchFamily="34" charset="-122"/>
                <a:cs typeface="Cambria" pitchFamily="34" charset="-120"/>
              </a:rPr>
              <a:t>م</a:t>
            </a:r>
            <a:endParaRPr lang="en-US" sz="2470" dirty="0"/>
          </a:p>
        </p:txBody>
      </p:sp>
      <p:sp>
        <p:nvSpPr>
          <p:cNvPr id="6" name="Text 4"/>
          <p:cNvSpPr/>
          <p:nvPr/>
        </p:nvSpPr>
        <p:spPr>
          <a:xfrm>
            <a:off x="640080" y="2240280"/>
            <a:ext cx="10058400" cy="457200"/>
          </a:xfrm>
          <a:prstGeom prst="rect">
            <a:avLst/>
          </a:prstGeom>
          <a:noFill/>
          <a:ln/>
        </p:spPr>
        <p:txBody>
          <a:bodyPr wrap="square" lIns="0" tIns="0" rIns="0" bIns="0" rtlCol="0" anchor="ctr"/>
          <a:lstStyle/>
          <a:p>
            <a:pPr indent="0" marL="0">
              <a:buNone/>
            </a:pPr>
            <a:r>
              <a:rPr lang="en-US" sz="1400" b="1" spc="400" kern="0" dirty="0">
                <a:solidFill>
                  <a:srgbClr val="D4A017"/>
                </a:solidFill>
                <a:latin typeface="Calibri" pitchFamily="34" charset="0"/>
                <a:ea typeface="Calibri" pitchFamily="34" charset="-122"/>
                <a:cs typeface="Calibri" pitchFamily="34" charset="-120"/>
              </a:rPr>
              <a:t>MAWQIF · موقف</a:t>
            </a:r>
            <a:endParaRPr lang="en-US" sz="1400" dirty="0"/>
          </a:p>
        </p:txBody>
      </p:sp>
      <p:sp>
        <p:nvSpPr>
          <p:cNvPr id="7" name="Text 5"/>
          <p:cNvSpPr/>
          <p:nvPr/>
        </p:nvSpPr>
        <p:spPr>
          <a:xfrm>
            <a:off x="640080" y="2697480"/>
            <a:ext cx="1024128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Smart Parking for Damascus</a:t>
            </a:r>
            <a:endParaRPr lang="en-US" sz="4800" dirty="0"/>
          </a:p>
        </p:txBody>
      </p:sp>
      <p:sp>
        <p:nvSpPr>
          <p:cNvPr id="8" name="Text 6"/>
          <p:cNvSpPr/>
          <p:nvPr/>
        </p:nvSpPr>
        <p:spPr>
          <a:xfrm>
            <a:off x="640080" y="3794760"/>
            <a:ext cx="10241280" cy="457200"/>
          </a:xfrm>
          <a:prstGeom prst="rect">
            <a:avLst/>
          </a:prstGeom>
          <a:noFill/>
          <a:ln/>
        </p:spPr>
        <p:txBody>
          <a:bodyPr wrap="square" lIns="0" tIns="0" rIns="0" bIns="0" rtlCol="0" anchor="ctr"/>
          <a:lstStyle/>
          <a:p>
            <a:pPr indent="0" marL="0">
              <a:buNone/>
            </a:pPr>
            <a:r>
              <a:rPr lang="en-US" sz="1900" dirty="0">
                <a:solidFill>
                  <a:srgbClr val="CBD5E1"/>
                </a:solidFill>
                <a:latin typeface="Calibri" pitchFamily="34" charset="0"/>
                <a:ea typeface="Calibri" pitchFamily="34" charset="-122"/>
                <a:cs typeface="Calibri" pitchFamily="34" charset="-120"/>
              </a:rPr>
              <a:t>Inflation-proof revenue · Real-time enforcement · Built sovereign.</a:t>
            </a:r>
            <a:endParaRPr lang="en-US" sz="1900" dirty="0"/>
          </a:p>
        </p:txBody>
      </p:sp>
      <p:sp>
        <p:nvSpPr>
          <p:cNvPr id="9" name="Shape 7"/>
          <p:cNvSpPr/>
          <p:nvPr/>
        </p:nvSpPr>
        <p:spPr>
          <a:xfrm>
            <a:off x="640080" y="4800600"/>
            <a:ext cx="2926080" cy="0"/>
          </a:xfrm>
          <a:prstGeom prst="line">
            <a:avLst/>
          </a:prstGeom>
          <a:noFill/>
          <a:ln w="25400">
            <a:solidFill>
              <a:srgbClr val="D4A017"/>
            </a:solidFill>
            <a:prstDash val="solid"/>
          </a:ln>
        </p:spPr>
      </p:sp>
      <p:sp>
        <p:nvSpPr>
          <p:cNvPr id="10" name="Text 8"/>
          <p:cNvSpPr/>
          <p:nvPr/>
        </p:nvSpPr>
        <p:spPr>
          <a:xfrm>
            <a:off x="640080" y="4983480"/>
            <a:ext cx="10515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Phase-1 Pitch  ·  Damascus Municipality &amp; Ministry of Transport  ·  2026</a:t>
            </a:r>
            <a:endParaRPr lang="en-US" sz="1300" dirty="0"/>
          </a:p>
        </p:txBody>
      </p:sp>
      <p:sp>
        <p:nvSpPr>
          <p:cNvPr id="11" name="Text 9"/>
          <p:cNvSpPr/>
          <p:nvPr/>
        </p:nvSpPr>
        <p:spPr>
          <a:xfrm>
            <a:off x="640080" y="6035040"/>
            <a:ext cx="10058400" cy="36576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Live demo:  damascus-park.vercel.app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THE OPPORTUNITY</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Damascus is leaving money on the street.</a:t>
            </a:r>
            <a:endParaRPr lang="en-US" sz="3000" dirty="0"/>
          </a:p>
        </p:txBody>
      </p:sp>
      <p:sp>
        <p:nvSpPr>
          <p:cNvPr id="6" name="Shape 4"/>
          <p:cNvSpPr/>
          <p:nvPr/>
        </p:nvSpPr>
        <p:spPr>
          <a:xfrm>
            <a:off x="640080"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914400" y="2121408"/>
            <a:ext cx="457200" cy="457200"/>
          </a:xfrm>
          <a:prstGeom prst="ellipse">
            <a:avLst/>
          </a:prstGeom>
          <a:solidFill>
            <a:srgbClr val="FBEFC9"/>
          </a:solidFill>
          <a:ln/>
        </p:spPr>
      </p:sp>
      <p:sp>
        <p:nvSpPr>
          <p:cNvPr id="8" name="Text 6"/>
          <p:cNvSpPr/>
          <p:nvPr/>
        </p:nvSpPr>
        <p:spPr>
          <a:xfrm>
            <a:off x="914400" y="2103120"/>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896112" y="2743200"/>
            <a:ext cx="2103120" cy="7315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Cash-only</a:t>
            </a:r>
            <a:endParaRPr lang="en-US" sz="1800" dirty="0"/>
          </a:p>
        </p:txBody>
      </p:sp>
      <p:sp>
        <p:nvSpPr>
          <p:cNvPr id="10" name="Text 8"/>
          <p:cNvSpPr/>
          <p:nvPr/>
        </p:nvSpPr>
        <p:spPr>
          <a:xfrm>
            <a:off x="896112" y="3383280"/>
            <a:ext cx="2103120" cy="1645920"/>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On-street parking runs on cash and paper. Collection is informal and impossible to audit.</a:t>
            </a:r>
            <a:endParaRPr lang="en-US" sz="1350" dirty="0"/>
          </a:p>
        </p:txBody>
      </p:sp>
      <p:sp>
        <p:nvSpPr>
          <p:cNvPr id="11" name="Shape 9"/>
          <p:cNvSpPr/>
          <p:nvPr/>
        </p:nvSpPr>
        <p:spPr>
          <a:xfrm>
            <a:off x="3456432"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3730752" y="2121408"/>
            <a:ext cx="457200" cy="457200"/>
          </a:xfrm>
          <a:prstGeom prst="ellipse">
            <a:avLst/>
          </a:prstGeom>
          <a:solidFill>
            <a:srgbClr val="FBEFC9"/>
          </a:solidFill>
          <a:ln/>
        </p:spPr>
      </p:sp>
      <p:sp>
        <p:nvSpPr>
          <p:cNvPr id="13" name="Text 11"/>
          <p:cNvSpPr/>
          <p:nvPr/>
        </p:nvSpPr>
        <p:spPr>
          <a:xfrm>
            <a:off x="3730752" y="2103120"/>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3712464" y="2743200"/>
            <a:ext cx="2103120" cy="7315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No visibility</a:t>
            </a:r>
            <a:endParaRPr lang="en-US" sz="1800" dirty="0"/>
          </a:p>
        </p:txBody>
      </p:sp>
      <p:sp>
        <p:nvSpPr>
          <p:cNvPr id="15" name="Text 13"/>
          <p:cNvSpPr/>
          <p:nvPr/>
        </p:nvSpPr>
        <p:spPr>
          <a:xfrm>
            <a:off x="3712464" y="3383280"/>
            <a:ext cx="2103120" cy="1645920"/>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The city has no real-time view of occupancy, revenue, or where enforcement is needed.</a:t>
            </a:r>
            <a:endParaRPr lang="en-US" sz="1350" dirty="0"/>
          </a:p>
        </p:txBody>
      </p:sp>
      <p:sp>
        <p:nvSpPr>
          <p:cNvPr id="16" name="Shape 14"/>
          <p:cNvSpPr/>
          <p:nvPr/>
        </p:nvSpPr>
        <p:spPr>
          <a:xfrm>
            <a:off x="6272784"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6547104" y="2121408"/>
            <a:ext cx="457200" cy="457200"/>
          </a:xfrm>
          <a:prstGeom prst="ellipse">
            <a:avLst/>
          </a:prstGeom>
          <a:solidFill>
            <a:srgbClr val="FBEFC9"/>
          </a:solidFill>
          <a:ln/>
        </p:spPr>
      </p:sp>
      <p:sp>
        <p:nvSpPr>
          <p:cNvPr id="18" name="Text 16"/>
          <p:cNvSpPr/>
          <p:nvPr/>
        </p:nvSpPr>
        <p:spPr>
          <a:xfrm>
            <a:off x="6547104" y="2103120"/>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528816" y="2743200"/>
            <a:ext cx="2103120" cy="7315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Inflation erodes tariffs</a:t>
            </a:r>
            <a:endParaRPr lang="en-US" sz="1800" dirty="0"/>
          </a:p>
        </p:txBody>
      </p:sp>
      <p:sp>
        <p:nvSpPr>
          <p:cNvPr id="20" name="Text 18"/>
          <p:cNvSpPr/>
          <p:nvPr/>
        </p:nvSpPr>
        <p:spPr>
          <a:xfrm>
            <a:off x="6528816" y="3383280"/>
            <a:ext cx="2103120" cy="1645920"/>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A fixed price in SYP loses meaning within months — revenue silently shrinks in real terms.</a:t>
            </a:r>
            <a:endParaRPr lang="en-US" sz="1350" dirty="0"/>
          </a:p>
        </p:txBody>
      </p:sp>
      <p:sp>
        <p:nvSpPr>
          <p:cNvPr id="21" name="Shape 19"/>
          <p:cNvSpPr/>
          <p:nvPr/>
        </p:nvSpPr>
        <p:spPr>
          <a:xfrm>
            <a:off x="9089136" y="1828800"/>
            <a:ext cx="2615184" cy="3383280"/>
          </a:xfrm>
          <a:prstGeom prst="roundRect">
            <a:avLst>
              <a:gd name="adj" fmla="val 3147"/>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Shape 20"/>
          <p:cNvSpPr/>
          <p:nvPr/>
        </p:nvSpPr>
        <p:spPr>
          <a:xfrm>
            <a:off x="9363456" y="2121408"/>
            <a:ext cx="457200" cy="457200"/>
          </a:xfrm>
          <a:prstGeom prst="ellipse">
            <a:avLst/>
          </a:prstGeom>
          <a:solidFill>
            <a:srgbClr val="FBEFC9"/>
          </a:solidFill>
          <a:ln/>
        </p:spPr>
      </p:sp>
      <p:sp>
        <p:nvSpPr>
          <p:cNvPr id="23" name="Text 21"/>
          <p:cNvSpPr/>
          <p:nvPr/>
        </p:nvSpPr>
        <p:spPr>
          <a:xfrm>
            <a:off x="9363456" y="2103120"/>
            <a:ext cx="457200" cy="45720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9345168" y="2743200"/>
            <a:ext cx="2103120" cy="7315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Leakage &amp; disputes</a:t>
            </a:r>
            <a:endParaRPr lang="en-US" sz="1800" dirty="0"/>
          </a:p>
        </p:txBody>
      </p:sp>
      <p:sp>
        <p:nvSpPr>
          <p:cNvPr id="25" name="Text 23"/>
          <p:cNvSpPr/>
          <p:nvPr/>
        </p:nvSpPr>
        <p:spPr>
          <a:xfrm>
            <a:off x="9345168" y="3383280"/>
            <a:ext cx="2103120" cy="1645920"/>
          </a:xfrm>
          <a:prstGeom prst="rect">
            <a:avLst/>
          </a:prstGeom>
          <a:noFill/>
          <a:ln/>
        </p:spPr>
        <p:txBody>
          <a:bodyPr wrap="square" lIns="0" tIns="0" rIns="0" bIns="0" rtlCol="0" anchor="ctr"/>
          <a:lstStyle/>
          <a:p>
            <a:pPr indent="0" marL="0">
              <a:lnSpc>
                <a:spcPct val="105000"/>
              </a:lnSpc>
              <a:buNone/>
            </a:pPr>
            <a:r>
              <a:rPr lang="en-US" sz="1350" dirty="0">
                <a:solidFill>
                  <a:srgbClr val="64748B"/>
                </a:solidFill>
                <a:latin typeface="Calibri" pitchFamily="34" charset="0"/>
                <a:ea typeface="Calibri" pitchFamily="34" charset="-122"/>
                <a:cs typeface="Calibri" pitchFamily="34" charset="-120"/>
              </a:rPr>
              <a:t>Untracked cash invites leakage and driver disputes, with no record to settle them.</a:t>
            </a:r>
            <a:endParaRPr lang="en-US" sz="1350" dirty="0"/>
          </a:p>
        </p:txBody>
      </p:sp>
      <p:sp>
        <p:nvSpPr>
          <p:cNvPr id="26" name="Text 24"/>
          <p:cNvSpPr/>
          <p:nvPr/>
        </p:nvSpPr>
        <p:spPr>
          <a:xfrm>
            <a:off x="640080" y="5532120"/>
            <a:ext cx="10972800"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The result:  </a:t>
            </a:r>
            <a:pPr indent="0" marL="0">
              <a:buNone/>
            </a:pPr>
            <a:r>
              <a:rPr lang="en-US" sz="1500" dirty="0">
                <a:solidFill>
                  <a:srgbClr val="64748B"/>
                </a:solidFill>
                <a:latin typeface="Calibri" pitchFamily="34" charset="0"/>
                <a:ea typeface="Calibri" pitchFamily="34" charset="-122"/>
                <a:cs typeface="Calibri" pitchFamily="34" charset="-120"/>
              </a:rPr>
              <a:t>a real public asset that generates little formal revenue — and no data to manage it with.</a:t>
            </a:r>
            <a:endParaRPr lang="en-US" sz="1500" dirty="0"/>
          </a:p>
        </p:txBody>
      </p:sp>
      <p:sp>
        <p:nvSpPr>
          <p:cNvPr id="27" name="Text 25"/>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28" name="Text 2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WHY NOW</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The moment to digitize is now.</a:t>
            </a:r>
            <a:endParaRPr lang="en-US" sz="3000" dirty="0"/>
          </a:p>
        </p:txBody>
      </p:sp>
      <p:sp>
        <p:nvSpPr>
          <p:cNvPr id="6" name="Shape 4"/>
          <p:cNvSpPr/>
          <p:nvPr/>
        </p:nvSpPr>
        <p:spPr>
          <a:xfrm>
            <a:off x="640080" y="1874520"/>
            <a:ext cx="10972800" cy="1225296"/>
          </a:xfrm>
          <a:prstGeom prst="roundRect">
            <a:avLst>
              <a:gd name="adj" fmla="val 671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960120" y="2212848"/>
            <a:ext cx="548640" cy="548640"/>
          </a:xfrm>
          <a:prstGeom prst="ellipse">
            <a:avLst/>
          </a:prstGeom>
          <a:solidFill>
            <a:srgbClr val="0B1220"/>
          </a:solidFill>
          <a:ln/>
        </p:spPr>
      </p:sp>
      <p:sp>
        <p:nvSpPr>
          <p:cNvPr id="8" name="Text 6"/>
          <p:cNvSpPr/>
          <p:nvPr/>
        </p:nvSpPr>
        <p:spPr>
          <a:xfrm>
            <a:off x="960120" y="2212848"/>
            <a:ext cx="548640" cy="548640"/>
          </a:xfrm>
          <a:prstGeom prst="rect">
            <a:avLst/>
          </a:prstGeom>
          <a:noFill/>
          <a:ln/>
        </p:spPr>
        <p:txBody>
          <a:bodyPr wrap="square" lIns="0" tIns="0" rIns="0" bIns="0" rtlCol="0" anchor="ctr"/>
          <a:lstStyle/>
          <a:p>
            <a:pPr algn="ctr" indent="0" marL="0">
              <a:buNone/>
            </a:pPr>
            <a:r>
              <a:rPr lang="en-US" sz="2000" b="1" dirty="0">
                <a:solidFill>
                  <a:srgbClr val="D4A017"/>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783080" y="2057400"/>
            <a:ext cx="9601200" cy="4572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Institutions are being rebuilt</a:t>
            </a:r>
            <a:endParaRPr lang="en-US" sz="1800" dirty="0"/>
          </a:p>
        </p:txBody>
      </p:sp>
      <p:sp>
        <p:nvSpPr>
          <p:cNvPr id="10" name="Text 8"/>
          <p:cNvSpPr/>
          <p:nvPr/>
        </p:nvSpPr>
        <p:spPr>
          <a:xfrm>
            <a:off x="1783080" y="2478024"/>
            <a:ext cx="96926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post-2024 transition is actively modernizing public administration — a rare window to set the digital standard from the start.</a:t>
            </a:r>
            <a:endParaRPr lang="en-US" sz="1350" dirty="0"/>
          </a:p>
        </p:txBody>
      </p:sp>
      <p:sp>
        <p:nvSpPr>
          <p:cNvPr id="11" name="Shape 9"/>
          <p:cNvSpPr/>
          <p:nvPr/>
        </p:nvSpPr>
        <p:spPr>
          <a:xfrm>
            <a:off x="640080" y="3246120"/>
            <a:ext cx="10972800" cy="1225296"/>
          </a:xfrm>
          <a:prstGeom prst="roundRect">
            <a:avLst>
              <a:gd name="adj" fmla="val 671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960120" y="3584448"/>
            <a:ext cx="548640" cy="548640"/>
          </a:xfrm>
          <a:prstGeom prst="ellipse">
            <a:avLst/>
          </a:prstGeom>
          <a:solidFill>
            <a:srgbClr val="0B1220"/>
          </a:solidFill>
          <a:ln/>
        </p:spPr>
      </p:sp>
      <p:sp>
        <p:nvSpPr>
          <p:cNvPr id="13" name="Text 11"/>
          <p:cNvSpPr/>
          <p:nvPr/>
        </p:nvSpPr>
        <p:spPr>
          <a:xfrm>
            <a:off x="960120" y="3584448"/>
            <a:ext cx="548640" cy="548640"/>
          </a:xfrm>
          <a:prstGeom prst="rect">
            <a:avLst/>
          </a:prstGeom>
          <a:noFill/>
          <a:ln/>
        </p:spPr>
        <p:txBody>
          <a:bodyPr wrap="square" lIns="0" tIns="0" rIns="0" bIns="0" rtlCol="0" anchor="ctr"/>
          <a:lstStyle/>
          <a:p>
            <a:pPr algn="ctr" indent="0" marL="0">
              <a:buNone/>
            </a:pPr>
            <a:r>
              <a:rPr lang="en-US" sz="2000" b="1" dirty="0">
                <a:solidFill>
                  <a:srgbClr val="D4A017"/>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783080" y="3429000"/>
            <a:ext cx="9601200" cy="4572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A national digital push</a:t>
            </a:r>
            <a:endParaRPr lang="en-US" sz="1800" dirty="0"/>
          </a:p>
        </p:txBody>
      </p:sp>
      <p:sp>
        <p:nvSpPr>
          <p:cNvPr id="15" name="Text 13"/>
          <p:cNvSpPr/>
          <p:nvPr/>
        </p:nvSpPr>
        <p:spPr>
          <a:xfrm>
            <a:off x="1783080" y="3849624"/>
            <a:ext cx="96926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e-government portal (egov.sy) and the Ministry of Transport's own digital-services program are already underway.</a:t>
            </a:r>
            <a:endParaRPr lang="en-US" sz="1350" dirty="0"/>
          </a:p>
        </p:txBody>
      </p:sp>
      <p:sp>
        <p:nvSpPr>
          <p:cNvPr id="16" name="Shape 14"/>
          <p:cNvSpPr/>
          <p:nvPr/>
        </p:nvSpPr>
        <p:spPr>
          <a:xfrm>
            <a:off x="640080" y="4617720"/>
            <a:ext cx="10972800" cy="1225296"/>
          </a:xfrm>
          <a:prstGeom prst="roundRect">
            <a:avLst>
              <a:gd name="adj" fmla="val 671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960120" y="4956048"/>
            <a:ext cx="548640" cy="548640"/>
          </a:xfrm>
          <a:prstGeom prst="ellipse">
            <a:avLst/>
          </a:prstGeom>
          <a:solidFill>
            <a:srgbClr val="0B1220"/>
          </a:solidFill>
          <a:ln/>
        </p:spPr>
      </p:sp>
      <p:sp>
        <p:nvSpPr>
          <p:cNvPr id="18" name="Text 16"/>
          <p:cNvSpPr/>
          <p:nvPr/>
        </p:nvSpPr>
        <p:spPr>
          <a:xfrm>
            <a:off x="960120" y="4956048"/>
            <a:ext cx="548640" cy="548640"/>
          </a:xfrm>
          <a:prstGeom prst="rect">
            <a:avLst/>
          </a:prstGeom>
          <a:noFill/>
          <a:ln/>
        </p:spPr>
        <p:txBody>
          <a:bodyPr wrap="square" lIns="0" tIns="0" rIns="0" bIns="0" rtlCol="0" anchor="ctr"/>
          <a:lstStyle/>
          <a:p>
            <a:pPr algn="ctr" indent="0" marL="0">
              <a:buNone/>
            </a:pPr>
            <a:r>
              <a:rPr lang="en-US" sz="2000" b="1" dirty="0">
                <a:solidFill>
                  <a:srgbClr val="D4A017"/>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1783080" y="4800600"/>
            <a:ext cx="9601200" cy="4572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A unified vehicle network + new plates</a:t>
            </a:r>
            <a:endParaRPr lang="en-US" sz="1800" dirty="0"/>
          </a:p>
        </p:txBody>
      </p:sp>
      <p:sp>
        <p:nvSpPr>
          <p:cNvPr id="20" name="Text 18"/>
          <p:cNvSpPr/>
          <p:nvPr/>
        </p:nvSpPr>
        <p:spPr>
          <a:xfrm>
            <a:off x="1783080" y="5221224"/>
            <a:ext cx="96926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Transport directorates now share a central network and a new plate model is rolling out in Damascus first — the rails for enforcement exist.</a:t>
            </a:r>
            <a:endParaRPr lang="en-US" sz="1350" dirty="0"/>
          </a:p>
        </p:txBody>
      </p:sp>
      <p:sp>
        <p:nvSpPr>
          <p:cNvPr id="21" name="Text 19"/>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22" name="Text 20"/>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011680" y="4023360"/>
            <a:ext cx="5486400" cy="5486400"/>
          </a:xfrm>
          <a:prstGeom prst="ellipse">
            <a:avLst/>
          </a:prstGeom>
          <a:solidFill>
            <a:srgbClr val="14213D"/>
          </a:solidFill>
          <a:ln/>
        </p:spPr>
      </p:sp>
      <p:sp>
        <p:nvSpPr>
          <p:cNvPr id="3" name="Shape 1"/>
          <p:cNvSpPr/>
          <p:nvPr/>
        </p:nvSpPr>
        <p:spPr>
          <a:xfrm>
            <a:off x="640080" y="548640"/>
            <a:ext cx="502920" cy="502920"/>
          </a:xfrm>
          <a:prstGeom prst="ellipse">
            <a:avLst/>
          </a:prstGeom>
          <a:solidFill>
            <a:srgbClr val="D4A017"/>
          </a:solidFill>
          <a:ln/>
        </p:spPr>
      </p:sp>
      <p:sp>
        <p:nvSpPr>
          <p:cNvPr id="4" name="Text 2"/>
          <p:cNvSpPr/>
          <p:nvPr/>
        </p:nvSpPr>
        <p:spPr>
          <a:xfrm>
            <a:off x="640080" y="530352"/>
            <a:ext cx="502920" cy="502920"/>
          </a:xfrm>
          <a:prstGeom prst="rect">
            <a:avLst/>
          </a:prstGeom>
          <a:noFill/>
          <a:ln/>
        </p:spPr>
        <p:txBody>
          <a:bodyPr wrap="square" rtlCol="0" anchor="ctr"/>
          <a:lstStyle/>
          <a:p>
            <a:pPr algn="ctr" indent="0" marL="0">
              <a:buNone/>
            </a:pPr>
            <a:r>
              <a:rPr lang="en-US" sz="1430" b="1" dirty="0">
                <a:solidFill>
                  <a:srgbClr val="0B1220"/>
                </a:solidFill>
                <a:latin typeface="Cambria" pitchFamily="34" charset="0"/>
                <a:ea typeface="Cambria" pitchFamily="34" charset="-122"/>
                <a:cs typeface="Cambria" pitchFamily="34" charset="-120"/>
              </a:rPr>
              <a:t>م</a:t>
            </a:r>
            <a:endParaRPr lang="en-US" sz="1430" dirty="0"/>
          </a:p>
        </p:txBody>
      </p:sp>
      <p:sp>
        <p:nvSpPr>
          <p:cNvPr id="5" name="Text 3"/>
          <p:cNvSpPr/>
          <p:nvPr/>
        </p:nvSpPr>
        <p:spPr>
          <a:xfrm>
            <a:off x="1353312" y="566928"/>
            <a:ext cx="9144000" cy="320040"/>
          </a:xfrm>
          <a:prstGeom prst="rect">
            <a:avLst/>
          </a:prstGeom>
          <a:noFill/>
          <a:ln/>
        </p:spPr>
        <p:txBody>
          <a:bodyPr wrap="square" lIns="0" tIns="0" rIns="0" bIns="0" rtlCol="0" anchor="ctr"/>
          <a:lstStyle/>
          <a:p>
            <a:pPr indent="0" marL="0">
              <a:buNone/>
            </a:pPr>
            <a:r>
              <a:rPr lang="en-US" sz="1200" b="1" spc="300" kern="0" dirty="0">
                <a:solidFill>
                  <a:srgbClr val="D4A017"/>
                </a:solidFill>
                <a:latin typeface="Calibri" pitchFamily="34" charset="0"/>
                <a:ea typeface="Calibri" pitchFamily="34" charset="-122"/>
                <a:cs typeface="Calibri" pitchFamily="34" charset="-120"/>
              </a:rPr>
              <a:t>THE SOLUTION</a:t>
            </a:r>
            <a:endParaRPr lang="en-US" sz="1200" dirty="0"/>
          </a:p>
        </p:txBody>
      </p:sp>
      <p:sp>
        <p:nvSpPr>
          <p:cNvPr id="6" name="Text 4"/>
          <p:cNvSpPr/>
          <p:nvPr/>
        </p:nvSpPr>
        <p:spPr>
          <a:xfrm>
            <a:off x="640080" y="1234440"/>
            <a:ext cx="1078992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Mawqif is the city's parking operating system.</a:t>
            </a:r>
            <a:endParaRPr lang="en-US" sz="3200" dirty="0"/>
          </a:p>
        </p:txBody>
      </p:sp>
      <p:sp>
        <p:nvSpPr>
          <p:cNvPr id="7" name="Text 5"/>
          <p:cNvSpPr/>
          <p:nvPr/>
        </p:nvSpPr>
        <p:spPr>
          <a:xfrm>
            <a:off x="640080" y="2240280"/>
            <a:ext cx="10607040" cy="64008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One platform connects drivers, wardens, and the municipality — turning every curbside space into auditable, inflation-resilient revenue.</a:t>
            </a:r>
            <a:endParaRPr lang="en-US" sz="1600" dirty="0"/>
          </a:p>
        </p:txBody>
      </p:sp>
      <p:sp>
        <p:nvSpPr>
          <p:cNvPr id="8" name="Shape 6"/>
          <p:cNvSpPr/>
          <p:nvPr/>
        </p:nvSpPr>
        <p:spPr>
          <a:xfrm>
            <a:off x="640080" y="3291840"/>
            <a:ext cx="3611880" cy="2651760"/>
          </a:xfrm>
          <a:prstGeom prst="roundRect">
            <a:avLst>
              <a:gd name="adj" fmla="val 3103"/>
            </a:avLst>
          </a:prstGeom>
          <a:solidFill>
            <a:srgbClr val="14213D"/>
          </a:solidFill>
          <a:ln w="12700">
            <a:solidFill>
              <a:srgbClr val="23304D"/>
            </a:solidFill>
            <a:prstDash val="solid"/>
          </a:ln>
        </p:spPr>
      </p:sp>
      <p:sp>
        <p:nvSpPr>
          <p:cNvPr id="9" name="Shape 7"/>
          <p:cNvSpPr/>
          <p:nvPr/>
        </p:nvSpPr>
        <p:spPr>
          <a:xfrm>
            <a:off x="960120" y="3611880"/>
            <a:ext cx="640080" cy="640080"/>
          </a:xfrm>
          <a:prstGeom prst="ellipse">
            <a:avLst/>
          </a:prstGeom>
          <a:solidFill>
            <a:srgbClr val="D4A017"/>
          </a:solidFill>
          <a:ln/>
        </p:spPr>
      </p:sp>
      <p:sp>
        <p:nvSpPr>
          <p:cNvPr id="10" name="Text 8"/>
          <p:cNvSpPr/>
          <p:nvPr/>
        </p:nvSpPr>
        <p:spPr>
          <a:xfrm>
            <a:off x="960120" y="3593592"/>
            <a:ext cx="640080" cy="64008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P</a:t>
            </a:r>
            <a:endParaRPr lang="en-US" sz="2400" dirty="0"/>
          </a:p>
        </p:txBody>
      </p:sp>
      <p:sp>
        <p:nvSpPr>
          <p:cNvPr id="11" name="Text 9"/>
          <p:cNvSpPr/>
          <p:nvPr/>
        </p:nvSpPr>
        <p:spPr>
          <a:xfrm>
            <a:off x="960120" y="4389120"/>
            <a:ext cx="292608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Pay</a:t>
            </a:r>
            <a:endParaRPr lang="en-US" sz="2100" dirty="0"/>
          </a:p>
        </p:txBody>
      </p:sp>
      <p:sp>
        <p:nvSpPr>
          <p:cNvPr id="12" name="Text 10"/>
          <p:cNvSpPr/>
          <p:nvPr/>
        </p:nvSpPr>
        <p:spPr>
          <a:xfrm>
            <a:off x="960120" y="4864608"/>
            <a:ext cx="3017520" cy="1005840"/>
          </a:xfrm>
          <a:prstGeom prst="rect">
            <a:avLst/>
          </a:prstGeom>
          <a:noFill/>
          <a:ln/>
        </p:spPr>
        <p:txBody>
          <a:bodyPr wrap="square" lIns="0" tIns="0" rIns="0" bIns="0" rtlCol="0" anchor="ctr"/>
          <a:lstStyle/>
          <a:p>
            <a:pPr indent="0" marL="0">
              <a:lnSpc>
                <a:spcPct val="104000"/>
              </a:lnSpc>
              <a:buNone/>
            </a:pPr>
            <a:r>
              <a:rPr lang="en-US" sz="1300" dirty="0">
                <a:solidFill>
                  <a:srgbClr val="AEBBD0"/>
                </a:solidFill>
                <a:latin typeface="Calibri" pitchFamily="34" charset="0"/>
                <a:ea typeface="Calibri" pitchFamily="34" charset="-122"/>
                <a:cs typeface="Calibri" pitchFamily="34" charset="-120"/>
              </a:rPr>
              <a:t>Drivers park and pay from a prepaid wallet — topped up by vouchers and local payment rails, no foreign cards.</a:t>
            </a:r>
            <a:endParaRPr lang="en-US" sz="1300" dirty="0"/>
          </a:p>
        </p:txBody>
      </p:sp>
      <p:sp>
        <p:nvSpPr>
          <p:cNvPr id="13" name="Shape 11"/>
          <p:cNvSpPr/>
          <p:nvPr/>
        </p:nvSpPr>
        <p:spPr>
          <a:xfrm>
            <a:off x="4434840" y="3291840"/>
            <a:ext cx="3611880" cy="2651760"/>
          </a:xfrm>
          <a:prstGeom prst="roundRect">
            <a:avLst>
              <a:gd name="adj" fmla="val 3103"/>
            </a:avLst>
          </a:prstGeom>
          <a:solidFill>
            <a:srgbClr val="14213D"/>
          </a:solidFill>
          <a:ln w="12700">
            <a:solidFill>
              <a:srgbClr val="23304D"/>
            </a:solidFill>
            <a:prstDash val="solid"/>
          </a:ln>
        </p:spPr>
      </p:sp>
      <p:sp>
        <p:nvSpPr>
          <p:cNvPr id="14" name="Shape 12"/>
          <p:cNvSpPr/>
          <p:nvPr/>
        </p:nvSpPr>
        <p:spPr>
          <a:xfrm>
            <a:off x="4754880" y="3611880"/>
            <a:ext cx="640080" cy="640080"/>
          </a:xfrm>
          <a:prstGeom prst="ellipse">
            <a:avLst/>
          </a:prstGeom>
          <a:solidFill>
            <a:srgbClr val="D4A017"/>
          </a:solidFill>
          <a:ln/>
        </p:spPr>
      </p:sp>
      <p:sp>
        <p:nvSpPr>
          <p:cNvPr id="15" name="Text 13"/>
          <p:cNvSpPr/>
          <p:nvPr/>
        </p:nvSpPr>
        <p:spPr>
          <a:xfrm>
            <a:off x="4754880" y="3593592"/>
            <a:ext cx="640080" cy="64008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E</a:t>
            </a:r>
            <a:endParaRPr lang="en-US" sz="2400" dirty="0"/>
          </a:p>
        </p:txBody>
      </p:sp>
      <p:sp>
        <p:nvSpPr>
          <p:cNvPr id="16" name="Text 14"/>
          <p:cNvSpPr/>
          <p:nvPr/>
        </p:nvSpPr>
        <p:spPr>
          <a:xfrm>
            <a:off x="4754880" y="4389120"/>
            <a:ext cx="292608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Enforce</a:t>
            </a:r>
            <a:endParaRPr lang="en-US" sz="2100" dirty="0"/>
          </a:p>
        </p:txBody>
      </p:sp>
      <p:sp>
        <p:nvSpPr>
          <p:cNvPr id="17" name="Text 15"/>
          <p:cNvSpPr/>
          <p:nvPr/>
        </p:nvSpPr>
        <p:spPr>
          <a:xfrm>
            <a:off x="4754880" y="4864608"/>
            <a:ext cx="3017520" cy="1005840"/>
          </a:xfrm>
          <a:prstGeom prst="rect">
            <a:avLst/>
          </a:prstGeom>
          <a:noFill/>
          <a:ln/>
        </p:spPr>
        <p:txBody>
          <a:bodyPr wrap="square" lIns="0" tIns="0" rIns="0" bIns="0" rtlCol="0" anchor="ctr"/>
          <a:lstStyle/>
          <a:p>
            <a:pPr indent="0" marL="0">
              <a:lnSpc>
                <a:spcPct val="104000"/>
              </a:lnSpc>
              <a:buNone/>
            </a:pPr>
            <a:r>
              <a:rPr lang="en-US" sz="1300" dirty="0">
                <a:solidFill>
                  <a:srgbClr val="AEBBD0"/>
                </a:solidFill>
                <a:latin typeface="Calibri" pitchFamily="34" charset="0"/>
                <a:ea typeface="Calibri" pitchFamily="34" charset="-122"/>
                <a:cs typeface="Calibri" pitchFamily="34" charset="-120"/>
              </a:rPr>
              <a:t>Wardens check any plate in seconds against the vehicle registry and issue fines on the spot.</a:t>
            </a:r>
            <a:endParaRPr lang="en-US" sz="1300" dirty="0"/>
          </a:p>
        </p:txBody>
      </p:sp>
      <p:sp>
        <p:nvSpPr>
          <p:cNvPr id="18" name="Shape 16"/>
          <p:cNvSpPr/>
          <p:nvPr/>
        </p:nvSpPr>
        <p:spPr>
          <a:xfrm>
            <a:off x="8229600" y="3291840"/>
            <a:ext cx="3611880" cy="2651760"/>
          </a:xfrm>
          <a:prstGeom prst="roundRect">
            <a:avLst>
              <a:gd name="adj" fmla="val 3103"/>
            </a:avLst>
          </a:prstGeom>
          <a:solidFill>
            <a:srgbClr val="14213D"/>
          </a:solidFill>
          <a:ln w="12700">
            <a:solidFill>
              <a:srgbClr val="23304D"/>
            </a:solidFill>
            <a:prstDash val="solid"/>
          </a:ln>
        </p:spPr>
      </p:sp>
      <p:sp>
        <p:nvSpPr>
          <p:cNvPr id="19" name="Shape 17"/>
          <p:cNvSpPr/>
          <p:nvPr/>
        </p:nvSpPr>
        <p:spPr>
          <a:xfrm>
            <a:off x="8549640" y="3611880"/>
            <a:ext cx="640080" cy="640080"/>
          </a:xfrm>
          <a:prstGeom prst="ellipse">
            <a:avLst/>
          </a:prstGeom>
          <a:solidFill>
            <a:srgbClr val="D4A017"/>
          </a:solidFill>
          <a:ln/>
        </p:spPr>
      </p:sp>
      <p:sp>
        <p:nvSpPr>
          <p:cNvPr id="20" name="Text 18"/>
          <p:cNvSpPr/>
          <p:nvPr/>
        </p:nvSpPr>
        <p:spPr>
          <a:xfrm>
            <a:off x="8549640" y="3593592"/>
            <a:ext cx="640080" cy="64008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G</a:t>
            </a:r>
            <a:endParaRPr lang="en-US" sz="2400" dirty="0"/>
          </a:p>
        </p:txBody>
      </p:sp>
      <p:sp>
        <p:nvSpPr>
          <p:cNvPr id="21" name="Text 19"/>
          <p:cNvSpPr/>
          <p:nvPr/>
        </p:nvSpPr>
        <p:spPr>
          <a:xfrm>
            <a:off x="8549640" y="4389120"/>
            <a:ext cx="292608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Govern</a:t>
            </a:r>
            <a:endParaRPr lang="en-US" sz="2100" dirty="0"/>
          </a:p>
        </p:txBody>
      </p:sp>
      <p:sp>
        <p:nvSpPr>
          <p:cNvPr id="22" name="Text 20"/>
          <p:cNvSpPr/>
          <p:nvPr/>
        </p:nvSpPr>
        <p:spPr>
          <a:xfrm>
            <a:off x="8549640" y="4864608"/>
            <a:ext cx="3017520" cy="1005840"/>
          </a:xfrm>
          <a:prstGeom prst="rect">
            <a:avLst/>
          </a:prstGeom>
          <a:noFill/>
          <a:ln/>
        </p:spPr>
        <p:txBody>
          <a:bodyPr wrap="square" lIns="0" tIns="0" rIns="0" bIns="0" rtlCol="0" anchor="ctr"/>
          <a:lstStyle/>
          <a:p>
            <a:pPr indent="0" marL="0">
              <a:lnSpc>
                <a:spcPct val="104000"/>
              </a:lnSpc>
              <a:buNone/>
            </a:pPr>
            <a:r>
              <a:rPr lang="en-US" sz="1300" dirty="0">
                <a:solidFill>
                  <a:srgbClr val="AEBBD0"/>
                </a:solidFill>
                <a:latin typeface="Calibri" pitchFamily="34" charset="0"/>
                <a:ea typeface="Calibri" pitchFamily="34" charset="-122"/>
                <a:cs typeface="Calibri" pitchFamily="34" charset="-120"/>
              </a:rPr>
              <a:t>Admins set one gas-pegged price and watch live revenue, occupancy, and the city's share in real time.</a:t>
            </a:r>
            <a:endParaRPr lang="en-US" sz="1300" dirty="0"/>
          </a:p>
        </p:txBody>
      </p:sp>
      <p:sp>
        <p:nvSpPr>
          <p:cNvPr id="23" name="Text 21"/>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Mawqif · موقف   ·   Damascus Smart Parking</a:t>
            </a:r>
            <a:endParaRPr lang="en-US" sz="900" dirty="0"/>
          </a:p>
        </p:txBody>
      </p:sp>
      <p:sp>
        <p:nvSpPr>
          <p:cNvPr id="24" name="Text 22"/>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HOW IT WORKS</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From curb to city treasury in one flow.</a:t>
            </a:r>
            <a:endParaRPr lang="en-US" sz="3000" dirty="0"/>
          </a:p>
        </p:txBody>
      </p:sp>
      <p:sp>
        <p:nvSpPr>
          <p:cNvPr id="6" name="Shape 4"/>
          <p:cNvSpPr/>
          <p:nvPr/>
        </p:nvSpPr>
        <p:spPr>
          <a:xfrm>
            <a:off x="640080"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1325880" y="2788920"/>
            <a:ext cx="731520" cy="731520"/>
          </a:xfrm>
          <a:prstGeom prst="ellipse">
            <a:avLst/>
          </a:prstGeom>
          <a:solidFill>
            <a:srgbClr val="0B1220"/>
          </a:solidFill>
          <a:ln/>
        </p:spPr>
      </p:sp>
      <p:sp>
        <p:nvSpPr>
          <p:cNvPr id="8" name="Text 6"/>
          <p:cNvSpPr/>
          <p:nvPr/>
        </p:nvSpPr>
        <p:spPr>
          <a:xfrm>
            <a:off x="1325880"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1</a:t>
            </a:r>
            <a:endParaRPr lang="en-US" sz="2600" dirty="0"/>
          </a:p>
        </p:txBody>
      </p:sp>
      <p:sp>
        <p:nvSpPr>
          <p:cNvPr id="9" name="Text 7"/>
          <p:cNvSpPr/>
          <p:nvPr/>
        </p:nvSpPr>
        <p:spPr>
          <a:xfrm>
            <a:off x="777240" y="3657600"/>
            <a:ext cx="182880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mbria" pitchFamily="34" charset="0"/>
                <a:ea typeface="Cambria" pitchFamily="34" charset="-122"/>
                <a:cs typeface="Cambria" pitchFamily="34" charset="-120"/>
              </a:rPr>
              <a:t>Park</a:t>
            </a:r>
            <a:endParaRPr lang="en-US" sz="1800" dirty="0"/>
          </a:p>
        </p:txBody>
      </p:sp>
      <p:sp>
        <p:nvSpPr>
          <p:cNvPr id="10" name="Text 8"/>
          <p:cNvSpPr/>
          <p:nvPr/>
        </p:nvSpPr>
        <p:spPr>
          <a:xfrm>
            <a:off x="804672" y="4059936"/>
            <a:ext cx="1773936" cy="640080"/>
          </a:xfrm>
          <a:prstGeom prst="rect">
            <a:avLst/>
          </a:prstGeom>
          <a:noFill/>
          <a:ln/>
        </p:spPr>
        <p:txBody>
          <a:bodyPr wrap="square" lIns="0" tIns="0" rIns="0" bIns="0" rtlCol="0" anchor="ctr"/>
          <a:lstStyle/>
          <a:p>
            <a:pPr algn="ctr" indent="0" marL="0">
              <a:lnSpc>
                <a:spcPct val="103000"/>
              </a:lnSpc>
              <a:buNone/>
            </a:pPr>
            <a:r>
              <a:rPr lang="en-US" sz="1250" dirty="0">
                <a:solidFill>
                  <a:srgbClr val="64748B"/>
                </a:solidFill>
                <a:latin typeface="Calibri" pitchFamily="34" charset="0"/>
                <a:ea typeface="Calibri" pitchFamily="34" charset="-122"/>
                <a:cs typeface="Calibri" pitchFamily="34" charset="-120"/>
              </a:rPr>
              <a:t>Driver pulls in and opens Mawqif.</a:t>
            </a:r>
            <a:endParaRPr lang="en-US" sz="1250" dirty="0"/>
          </a:p>
        </p:txBody>
      </p:sp>
      <p:sp>
        <p:nvSpPr>
          <p:cNvPr id="11" name="Text 9"/>
          <p:cNvSpPr/>
          <p:nvPr/>
        </p:nvSpPr>
        <p:spPr>
          <a:xfrm>
            <a:off x="2688336"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2926080"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3" name="Shape 11"/>
          <p:cNvSpPr/>
          <p:nvPr/>
        </p:nvSpPr>
        <p:spPr>
          <a:xfrm>
            <a:off x="3611880" y="2788920"/>
            <a:ext cx="731520" cy="731520"/>
          </a:xfrm>
          <a:prstGeom prst="ellipse">
            <a:avLst/>
          </a:prstGeom>
          <a:solidFill>
            <a:srgbClr val="0B1220"/>
          </a:solidFill>
          <a:ln/>
        </p:spPr>
      </p:sp>
      <p:sp>
        <p:nvSpPr>
          <p:cNvPr id="14" name="Text 12"/>
          <p:cNvSpPr/>
          <p:nvPr/>
        </p:nvSpPr>
        <p:spPr>
          <a:xfrm>
            <a:off x="3611880"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2</a:t>
            </a:r>
            <a:endParaRPr lang="en-US" sz="2600" dirty="0"/>
          </a:p>
        </p:txBody>
      </p:sp>
      <p:sp>
        <p:nvSpPr>
          <p:cNvPr id="15" name="Text 13"/>
          <p:cNvSpPr/>
          <p:nvPr/>
        </p:nvSpPr>
        <p:spPr>
          <a:xfrm>
            <a:off x="3063240" y="3657600"/>
            <a:ext cx="182880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mbria" pitchFamily="34" charset="0"/>
                <a:ea typeface="Cambria" pitchFamily="34" charset="-122"/>
                <a:cs typeface="Cambria" pitchFamily="34" charset="-120"/>
              </a:rPr>
              <a:t>Start</a:t>
            </a:r>
            <a:endParaRPr lang="en-US" sz="1800" dirty="0"/>
          </a:p>
        </p:txBody>
      </p:sp>
      <p:sp>
        <p:nvSpPr>
          <p:cNvPr id="16" name="Text 14"/>
          <p:cNvSpPr/>
          <p:nvPr/>
        </p:nvSpPr>
        <p:spPr>
          <a:xfrm>
            <a:off x="3090672" y="4059936"/>
            <a:ext cx="1773936" cy="640080"/>
          </a:xfrm>
          <a:prstGeom prst="rect">
            <a:avLst/>
          </a:prstGeom>
          <a:noFill/>
          <a:ln/>
        </p:spPr>
        <p:txBody>
          <a:bodyPr wrap="square" lIns="0" tIns="0" rIns="0" bIns="0" rtlCol="0" anchor="ctr"/>
          <a:lstStyle/>
          <a:p>
            <a:pPr algn="ctr" indent="0" marL="0">
              <a:lnSpc>
                <a:spcPct val="103000"/>
              </a:lnSpc>
              <a:buNone/>
            </a:pPr>
            <a:r>
              <a:rPr lang="en-US" sz="1250" dirty="0">
                <a:solidFill>
                  <a:srgbClr val="64748B"/>
                </a:solidFill>
                <a:latin typeface="Calibri" pitchFamily="34" charset="0"/>
                <a:ea typeface="Calibri" pitchFamily="34" charset="-122"/>
                <a:cs typeface="Calibri" pitchFamily="34" charset="-120"/>
              </a:rPr>
              <a:t>Picks the zone (GPS-suggested); price is set by the live gas index.</a:t>
            </a:r>
            <a:endParaRPr lang="en-US" sz="1250" dirty="0"/>
          </a:p>
        </p:txBody>
      </p:sp>
      <p:sp>
        <p:nvSpPr>
          <p:cNvPr id="17" name="Text 15"/>
          <p:cNvSpPr/>
          <p:nvPr/>
        </p:nvSpPr>
        <p:spPr>
          <a:xfrm>
            <a:off x="4974336"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5212080"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9" name="Shape 17"/>
          <p:cNvSpPr/>
          <p:nvPr/>
        </p:nvSpPr>
        <p:spPr>
          <a:xfrm>
            <a:off x="5897880" y="2788920"/>
            <a:ext cx="731520" cy="731520"/>
          </a:xfrm>
          <a:prstGeom prst="ellipse">
            <a:avLst/>
          </a:prstGeom>
          <a:solidFill>
            <a:srgbClr val="0B1220"/>
          </a:solidFill>
          <a:ln/>
        </p:spPr>
      </p:sp>
      <p:sp>
        <p:nvSpPr>
          <p:cNvPr id="20" name="Text 18"/>
          <p:cNvSpPr/>
          <p:nvPr/>
        </p:nvSpPr>
        <p:spPr>
          <a:xfrm>
            <a:off x="5897880"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3</a:t>
            </a:r>
            <a:endParaRPr lang="en-US" sz="2600" dirty="0"/>
          </a:p>
        </p:txBody>
      </p:sp>
      <p:sp>
        <p:nvSpPr>
          <p:cNvPr id="21" name="Text 19"/>
          <p:cNvSpPr/>
          <p:nvPr/>
        </p:nvSpPr>
        <p:spPr>
          <a:xfrm>
            <a:off x="5349240" y="3657600"/>
            <a:ext cx="182880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mbria" pitchFamily="34" charset="0"/>
                <a:ea typeface="Cambria" pitchFamily="34" charset="-122"/>
                <a:cs typeface="Cambria" pitchFamily="34" charset="-120"/>
              </a:rPr>
              <a:t>Pay</a:t>
            </a:r>
            <a:endParaRPr lang="en-US" sz="1800" dirty="0"/>
          </a:p>
        </p:txBody>
      </p:sp>
      <p:sp>
        <p:nvSpPr>
          <p:cNvPr id="22" name="Text 20"/>
          <p:cNvSpPr/>
          <p:nvPr/>
        </p:nvSpPr>
        <p:spPr>
          <a:xfrm>
            <a:off x="5376672" y="4059936"/>
            <a:ext cx="1773936" cy="640080"/>
          </a:xfrm>
          <a:prstGeom prst="rect">
            <a:avLst/>
          </a:prstGeom>
          <a:noFill/>
          <a:ln/>
        </p:spPr>
        <p:txBody>
          <a:bodyPr wrap="square" lIns="0" tIns="0" rIns="0" bIns="0" rtlCol="0" anchor="ctr"/>
          <a:lstStyle/>
          <a:p>
            <a:pPr algn="ctr" indent="0" marL="0">
              <a:lnSpc>
                <a:spcPct val="103000"/>
              </a:lnSpc>
              <a:buNone/>
            </a:pPr>
            <a:r>
              <a:rPr lang="en-US" sz="1250" dirty="0">
                <a:solidFill>
                  <a:srgbClr val="64748B"/>
                </a:solidFill>
                <a:latin typeface="Calibri" pitchFamily="34" charset="0"/>
                <a:ea typeface="Calibri" pitchFamily="34" charset="-122"/>
                <a:cs typeface="Calibri" pitchFamily="34" charset="-120"/>
              </a:rPr>
              <a:t>Time is billed from the prepaid wallet — no cash, no meter.</a:t>
            </a:r>
            <a:endParaRPr lang="en-US" sz="1250" dirty="0"/>
          </a:p>
        </p:txBody>
      </p:sp>
      <p:sp>
        <p:nvSpPr>
          <p:cNvPr id="23" name="Text 21"/>
          <p:cNvSpPr/>
          <p:nvPr/>
        </p:nvSpPr>
        <p:spPr>
          <a:xfrm>
            <a:off x="7260336"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24" name="Shape 22"/>
          <p:cNvSpPr/>
          <p:nvPr/>
        </p:nvSpPr>
        <p:spPr>
          <a:xfrm>
            <a:off x="7498080"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5" name="Shape 23"/>
          <p:cNvSpPr/>
          <p:nvPr/>
        </p:nvSpPr>
        <p:spPr>
          <a:xfrm>
            <a:off x="8183880" y="2788920"/>
            <a:ext cx="731520" cy="731520"/>
          </a:xfrm>
          <a:prstGeom prst="ellipse">
            <a:avLst/>
          </a:prstGeom>
          <a:solidFill>
            <a:srgbClr val="0B1220"/>
          </a:solidFill>
          <a:ln/>
        </p:spPr>
      </p:sp>
      <p:sp>
        <p:nvSpPr>
          <p:cNvPr id="26" name="Text 24"/>
          <p:cNvSpPr/>
          <p:nvPr/>
        </p:nvSpPr>
        <p:spPr>
          <a:xfrm>
            <a:off x="8183880"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4</a:t>
            </a:r>
            <a:endParaRPr lang="en-US" sz="2600" dirty="0"/>
          </a:p>
        </p:txBody>
      </p:sp>
      <p:sp>
        <p:nvSpPr>
          <p:cNvPr id="27" name="Text 25"/>
          <p:cNvSpPr/>
          <p:nvPr/>
        </p:nvSpPr>
        <p:spPr>
          <a:xfrm>
            <a:off x="7635240" y="3657600"/>
            <a:ext cx="182880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mbria" pitchFamily="34" charset="0"/>
                <a:ea typeface="Cambria" pitchFamily="34" charset="-122"/>
                <a:cs typeface="Cambria" pitchFamily="34" charset="-120"/>
              </a:rPr>
              <a:t>Enforce</a:t>
            </a:r>
            <a:endParaRPr lang="en-US" sz="1800" dirty="0"/>
          </a:p>
        </p:txBody>
      </p:sp>
      <p:sp>
        <p:nvSpPr>
          <p:cNvPr id="28" name="Text 26"/>
          <p:cNvSpPr/>
          <p:nvPr/>
        </p:nvSpPr>
        <p:spPr>
          <a:xfrm>
            <a:off x="7662672" y="4059936"/>
            <a:ext cx="1773936" cy="640080"/>
          </a:xfrm>
          <a:prstGeom prst="rect">
            <a:avLst/>
          </a:prstGeom>
          <a:noFill/>
          <a:ln/>
        </p:spPr>
        <p:txBody>
          <a:bodyPr wrap="square" lIns="0" tIns="0" rIns="0" bIns="0" rtlCol="0" anchor="ctr"/>
          <a:lstStyle/>
          <a:p>
            <a:pPr algn="ctr" indent="0" marL="0">
              <a:lnSpc>
                <a:spcPct val="103000"/>
              </a:lnSpc>
              <a:buNone/>
            </a:pPr>
            <a:r>
              <a:rPr lang="en-US" sz="1250" dirty="0">
                <a:solidFill>
                  <a:srgbClr val="64748B"/>
                </a:solidFill>
                <a:latin typeface="Calibri" pitchFamily="34" charset="0"/>
                <a:ea typeface="Calibri" pitchFamily="34" charset="-122"/>
                <a:cs typeface="Calibri" pitchFamily="34" charset="-120"/>
              </a:rPr>
              <a:t>Warden scans the plate; no active session = instant fine.</a:t>
            </a:r>
            <a:endParaRPr lang="en-US" sz="1250" dirty="0"/>
          </a:p>
        </p:txBody>
      </p:sp>
      <p:sp>
        <p:nvSpPr>
          <p:cNvPr id="29" name="Text 27"/>
          <p:cNvSpPr/>
          <p:nvPr/>
        </p:nvSpPr>
        <p:spPr>
          <a:xfrm>
            <a:off x="9546336" y="3108960"/>
            <a:ext cx="292608" cy="548640"/>
          </a:xfrm>
          <a:prstGeom prst="rect">
            <a:avLst/>
          </a:prstGeom>
          <a:noFill/>
          <a:ln/>
        </p:spPr>
        <p:txBody>
          <a:bodyPr wrap="square" lIns="0" tIns="0" rIns="0" bIns="0" rtlCol="0" anchor="ctr"/>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30" name="Shape 28"/>
          <p:cNvSpPr/>
          <p:nvPr/>
        </p:nvSpPr>
        <p:spPr>
          <a:xfrm>
            <a:off x="9784080" y="2468880"/>
            <a:ext cx="2103120" cy="2286000"/>
          </a:xfrm>
          <a:prstGeom prst="roundRect">
            <a:avLst>
              <a:gd name="adj" fmla="val 3913"/>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31" name="Shape 29"/>
          <p:cNvSpPr/>
          <p:nvPr/>
        </p:nvSpPr>
        <p:spPr>
          <a:xfrm>
            <a:off x="10469880" y="2788920"/>
            <a:ext cx="731520" cy="731520"/>
          </a:xfrm>
          <a:prstGeom prst="ellipse">
            <a:avLst/>
          </a:prstGeom>
          <a:solidFill>
            <a:srgbClr val="0B1220"/>
          </a:solidFill>
          <a:ln/>
        </p:spPr>
      </p:sp>
      <p:sp>
        <p:nvSpPr>
          <p:cNvPr id="32" name="Text 30"/>
          <p:cNvSpPr/>
          <p:nvPr/>
        </p:nvSpPr>
        <p:spPr>
          <a:xfrm>
            <a:off x="10469880" y="2788920"/>
            <a:ext cx="731520" cy="731520"/>
          </a:xfrm>
          <a:prstGeom prst="rect">
            <a:avLst/>
          </a:prstGeom>
          <a:noFill/>
          <a:ln/>
        </p:spPr>
        <p:txBody>
          <a:bodyPr wrap="square" lIns="0" tIns="0" rIns="0" bIns="0" rtlCol="0" anchor="ctr"/>
          <a:lstStyle/>
          <a:p>
            <a:pPr algn="ctr" indent="0" marL="0">
              <a:buNone/>
            </a:pPr>
            <a:r>
              <a:rPr lang="en-US" sz="2600" b="1" dirty="0">
                <a:solidFill>
                  <a:srgbClr val="D4A017"/>
                </a:solidFill>
                <a:latin typeface="Cambria" pitchFamily="34" charset="0"/>
                <a:ea typeface="Cambria" pitchFamily="34" charset="-122"/>
                <a:cs typeface="Cambria" pitchFamily="34" charset="-120"/>
              </a:rPr>
              <a:t>5</a:t>
            </a:r>
            <a:endParaRPr lang="en-US" sz="2600" dirty="0"/>
          </a:p>
        </p:txBody>
      </p:sp>
      <p:sp>
        <p:nvSpPr>
          <p:cNvPr id="33" name="Text 31"/>
          <p:cNvSpPr/>
          <p:nvPr/>
        </p:nvSpPr>
        <p:spPr>
          <a:xfrm>
            <a:off x="9921240" y="3657600"/>
            <a:ext cx="182880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mbria" pitchFamily="34" charset="0"/>
                <a:ea typeface="Cambria" pitchFamily="34" charset="-122"/>
                <a:cs typeface="Cambria" pitchFamily="34" charset="-120"/>
              </a:rPr>
              <a:t>Settle</a:t>
            </a:r>
            <a:endParaRPr lang="en-US" sz="1800" dirty="0"/>
          </a:p>
        </p:txBody>
      </p:sp>
      <p:sp>
        <p:nvSpPr>
          <p:cNvPr id="34" name="Text 32"/>
          <p:cNvSpPr/>
          <p:nvPr/>
        </p:nvSpPr>
        <p:spPr>
          <a:xfrm>
            <a:off x="9948672" y="4059936"/>
            <a:ext cx="1773936" cy="640080"/>
          </a:xfrm>
          <a:prstGeom prst="rect">
            <a:avLst/>
          </a:prstGeom>
          <a:noFill/>
          <a:ln/>
        </p:spPr>
        <p:txBody>
          <a:bodyPr wrap="square" lIns="0" tIns="0" rIns="0" bIns="0" rtlCol="0" anchor="ctr"/>
          <a:lstStyle/>
          <a:p>
            <a:pPr algn="ctr" indent="0" marL="0">
              <a:lnSpc>
                <a:spcPct val="103000"/>
              </a:lnSpc>
              <a:buNone/>
            </a:pPr>
            <a:r>
              <a:rPr lang="en-US" sz="1250" dirty="0">
                <a:solidFill>
                  <a:srgbClr val="64748B"/>
                </a:solidFill>
                <a:latin typeface="Calibri" pitchFamily="34" charset="0"/>
                <a:ea typeface="Calibri" pitchFamily="34" charset="-122"/>
                <a:cs typeface="Calibri" pitchFamily="34" charset="-120"/>
              </a:rPr>
              <a:t>Revenue splits to the city in real time, fully audited.</a:t>
            </a:r>
            <a:endParaRPr lang="en-US" sz="1250" dirty="0"/>
          </a:p>
        </p:txBody>
      </p:sp>
      <p:sp>
        <p:nvSpPr>
          <p:cNvPr id="35" name="Text 33"/>
          <p:cNvSpPr/>
          <p:nvPr/>
        </p:nvSpPr>
        <p:spPr>
          <a:xfrm>
            <a:off x="640080" y="5257800"/>
            <a:ext cx="109728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Every step is logged. </a:t>
            </a:r>
            <a:pPr algn="ctr" indent="0" marL="0">
              <a:buNone/>
            </a:pPr>
            <a:r>
              <a:rPr lang="en-US" sz="1500" dirty="0">
                <a:solidFill>
                  <a:srgbClr val="64748B"/>
                </a:solidFill>
                <a:latin typeface="Calibri" pitchFamily="34" charset="0"/>
                <a:ea typeface="Calibri" pitchFamily="34" charset="-122"/>
                <a:cs typeface="Calibri" pitchFamily="34" charset="-120"/>
              </a:rPr>
              <a:t>The city gets a complete, tamper-evident record of every session and every dinar.</a:t>
            </a:r>
            <a:endParaRPr lang="en-US" sz="1500" dirty="0"/>
          </a:p>
        </p:txBody>
      </p:sp>
      <p:sp>
        <p:nvSpPr>
          <p:cNvPr id="36" name="Text 34"/>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37" name="Text 35"/>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TRACTION</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Not a concept — a working platform, live today.</a:t>
            </a:r>
            <a:endParaRPr lang="en-US" sz="3000" dirty="0"/>
          </a:p>
        </p:txBody>
      </p:sp>
      <p:sp>
        <p:nvSpPr>
          <p:cNvPr id="6" name="Shape 4"/>
          <p:cNvSpPr/>
          <p:nvPr/>
        </p:nvSpPr>
        <p:spPr>
          <a:xfrm>
            <a:off x="640080" y="1874520"/>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896112" y="2148840"/>
            <a:ext cx="384048" cy="384048"/>
          </a:xfrm>
          <a:prstGeom prst="ellipse">
            <a:avLst/>
          </a:prstGeom>
          <a:solidFill>
            <a:srgbClr val="D4A017"/>
          </a:solidFill>
          <a:ln/>
        </p:spPr>
      </p:sp>
      <p:sp>
        <p:nvSpPr>
          <p:cNvPr id="8" name="Text 6"/>
          <p:cNvSpPr/>
          <p:nvPr/>
        </p:nvSpPr>
        <p:spPr>
          <a:xfrm>
            <a:off x="896112" y="2139696"/>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417320" y="2112264"/>
            <a:ext cx="2606040" cy="45720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Three role apps</a:t>
            </a:r>
            <a:endParaRPr lang="en-US" sz="1550" dirty="0"/>
          </a:p>
        </p:txBody>
      </p:sp>
      <p:sp>
        <p:nvSpPr>
          <p:cNvPr id="10" name="Text 8"/>
          <p:cNvSpPr/>
          <p:nvPr/>
        </p:nvSpPr>
        <p:spPr>
          <a:xfrm>
            <a:off x="1417320" y="2551176"/>
            <a:ext cx="2606040" cy="713232"/>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Driver, Warden, and Admin experiences — each scoped to exactly what that user needs.</a:t>
            </a:r>
            <a:endParaRPr lang="en-US" sz="1200" dirty="0"/>
          </a:p>
        </p:txBody>
      </p:sp>
      <p:sp>
        <p:nvSpPr>
          <p:cNvPr id="11" name="Shape 9"/>
          <p:cNvSpPr/>
          <p:nvPr/>
        </p:nvSpPr>
        <p:spPr>
          <a:xfrm>
            <a:off x="4389120" y="1874520"/>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4645152" y="2148840"/>
            <a:ext cx="384048" cy="384048"/>
          </a:xfrm>
          <a:prstGeom prst="ellipse">
            <a:avLst/>
          </a:prstGeom>
          <a:solidFill>
            <a:srgbClr val="D4A017"/>
          </a:solidFill>
          <a:ln/>
        </p:spPr>
      </p:sp>
      <p:sp>
        <p:nvSpPr>
          <p:cNvPr id="13" name="Text 11"/>
          <p:cNvSpPr/>
          <p:nvPr/>
        </p:nvSpPr>
        <p:spPr>
          <a:xfrm>
            <a:off x="4645152" y="2139696"/>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5166360" y="2112264"/>
            <a:ext cx="2606040" cy="45720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Arabic-first, bilingual</a:t>
            </a:r>
            <a:endParaRPr lang="en-US" sz="1550" dirty="0"/>
          </a:p>
        </p:txBody>
      </p:sp>
      <p:sp>
        <p:nvSpPr>
          <p:cNvPr id="15" name="Text 13"/>
          <p:cNvSpPr/>
          <p:nvPr/>
        </p:nvSpPr>
        <p:spPr>
          <a:xfrm>
            <a:off x="5166360" y="2551176"/>
            <a:ext cx="2606040" cy="713232"/>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Native right-to-left UI in Arabic, one tap to English, light &amp; dark themes.</a:t>
            </a:r>
            <a:endParaRPr lang="en-US" sz="1200" dirty="0"/>
          </a:p>
        </p:txBody>
      </p:sp>
      <p:sp>
        <p:nvSpPr>
          <p:cNvPr id="16" name="Shape 14"/>
          <p:cNvSpPr/>
          <p:nvPr/>
        </p:nvSpPr>
        <p:spPr>
          <a:xfrm>
            <a:off x="8138160" y="1874520"/>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8394192" y="2148840"/>
            <a:ext cx="384048" cy="384048"/>
          </a:xfrm>
          <a:prstGeom prst="ellipse">
            <a:avLst/>
          </a:prstGeom>
          <a:solidFill>
            <a:srgbClr val="D4A017"/>
          </a:solidFill>
          <a:ln/>
        </p:spPr>
      </p:sp>
      <p:sp>
        <p:nvSpPr>
          <p:cNvPr id="18" name="Text 16"/>
          <p:cNvSpPr/>
          <p:nvPr/>
        </p:nvSpPr>
        <p:spPr>
          <a:xfrm>
            <a:off x="8394192" y="2139696"/>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8915400" y="2112264"/>
            <a:ext cx="2606040" cy="45720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Live interactive map</a:t>
            </a:r>
            <a:endParaRPr lang="en-US" sz="1550" dirty="0"/>
          </a:p>
        </p:txBody>
      </p:sp>
      <p:sp>
        <p:nvSpPr>
          <p:cNvPr id="20" name="Text 18"/>
          <p:cNvSpPr/>
          <p:nvPr/>
        </p:nvSpPr>
        <p:spPr>
          <a:xfrm>
            <a:off x="8915400" y="2551176"/>
            <a:ext cx="2606040" cy="713232"/>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Real Damascus map with geo-fenced Red / Yellow / Green zones and live location.</a:t>
            </a:r>
            <a:endParaRPr lang="en-US" sz="1200" dirty="0"/>
          </a:p>
        </p:txBody>
      </p:sp>
      <p:sp>
        <p:nvSpPr>
          <p:cNvPr id="21" name="Shape 19"/>
          <p:cNvSpPr/>
          <p:nvPr/>
        </p:nvSpPr>
        <p:spPr>
          <a:xfrm>
            <a:off x="640080" y="3538728"/>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Shape 20"/>
          <p:cNvSpPr/>
          <p:nvPr/>
        </p:nvSpPr>
        <p:spPr>
          <a:xfrm>
            <a:off x="896112" y="3813048"/>
            <a:ext cx="384048" cy="384048"/>
          </a:xfrm>
          <a:prstGeom prst="ellipse">
            <a:avLst/>
          </a:prstGeom>
          <a:solidFill>
            <a:srgbClr val="D4A017"/>
          </a:solidFill>
          <a:ln/>
        </p:spPr>
      </p:sp>
      <p:sp>
        <p:nvSpPr>
          <p:cNvPr id="23" name="Text 21"/>
          <p:cNvSpPr/>
          <p:nvPr/>
        </p:nvSpPr>
        <p:spPr>
          <a:xfrm>
            <a:off x="896112" y="3803904"/>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1417320" y="3776472"/>
            <a:ext cx="2606040" cy="45720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Prepaid wallet &amp; ledger</a:t>
            </a:r>
            <a:endParaRPr lang="en-US" sz="1550" dirty="0"/>
          </a:p>
        </p:txBody>
      </p:sp>
      <p:sp>
        <p:nvSpPr>
          <p:cNvPr id="25" name="Text 23"/>
          <p:cNvSpPr/>
          <p:nvPr/>
        </p:nvSpPr>
        <p:spPr>
          <a:xfrm>
            <a:off x="1417320" y="4215384"/>
            <a:ext cx="2606040" cy="713232"/>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Voucher top-ups, gas-pegged charging, and an append-only audit ledger.</a:t>
            </a:r>
            <a:endParaRPr lang="en-US" sz="1200" dirty="0"/>
          </a:p>
        </p:txBody>
      </p:sp>
      <p:sp>
        <p:nvSpPr>
          <p:cNvPr id="26" name="Shape 24"/>
          <p:cNvSpPr/>
          <p:nvPr/>
        </p:nvSpPr>
        <p:spPr>
          <a:xfrm>
            <a:off x="4389120" y="3538728"/>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7" name="Shape 25"/>
          <p:cNvSpPr/>
          <p:nvPr/>
        </p:nvSpPr>
        <p:spPr>
          <a:xfrm>
            <a:off x="4645152" y="3813048"/>
            <a:ext cx="384048" cy="384048"/>
          </a:xfrm>
          <a:prstGeom prst="ellipse">
            <a:avLst/>
          </a:prstGeom>
          <a:solidFill>
            <a:srgbClr val="D4A017"/>
          </a:solidFill>
          <a:ln/>
        </p:spPr>
      </p:sp>
      <p:sp>
        <p:nvSpPr>
          <p:cNvPr id="28" name="Text 26"/>
          <p:cNvSpPr/>
          <p:nvPr/>
        </p:nvSpPr>
        <p:spPr>
          <a:xfrm>
            <a:off x="4645152" y="3803904"/>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5166360" y="3776472"/>
            <a:ext cx="2606040" cy="45720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Hardened &amp; secure</a:t>
            </a:r>
            <a:endParaRPr lang="en-US" sz="1550" dirty="0"/>
          </a:p>
        </p:txBody>
      </p:sp>
      <p:sp>
        <p:nvSpPr>
          <p:cNvPr id="30" name="Text 28"/>
          <p:cNvSpPr/>
          <p:nvPr/>
        </p:nvSpPr>
        <p:spPr>
          <a:xfrm>
            <a:off x="5166360" y="4215384"/>
            <a:ext cx="2606040" cy="713232"/>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Role-based access and row-level security on every table; idempotent payments.</a:t>
            </a:r>
            <a:endParaRPr lang="en-US" sz="1200" dirty="0"/>
          </a:p>
        </p:txBody>
      </p:sp>
      <p:sp>
        <p:nvSpPr>
          <p:cNvPr id="31" name="Shape 29"/>
          <p:cNvSpPr/>
          <p:nvPr/>
        </p:nvSpPr>
        <p:spPr>
          <a:xfrm>
            <a:off x="8138160" y="3538728"/>
            <a:ext cx="3566160" cy="1481328"/>
          </a:xfrm>
          <a:prstGeom prst="roundRect">
            <a:avLst>
              <a:gd name="adj" fmla="val 5556"/>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32" name="Shape 30"/>
          <p:cNvSpPr/>
          <p:nvPr/>
        </p:nvSpPr>
        <p:spPr>
          <a:xfrm>
            <a:off x="8394192" y="3813048"/>
            <a:ext cx="384048" cy="384048"/>
          </a:xfrm>
          <a:prstGeom prst="ellipse">
            <a:avLst/>
          </a:prstGeom>
          <a:solidFill>
            <a:srgbClr val="D4A017"/>
          </a:solidFill>
          <a:ln/>
        </p:spPr>
      </p:sp>
      <p:sp>
        <p:nvSpPr>
          <p:cNvPr id="33" name="Text 31"/>
          <p:cNvSpPr/>
          <p:nvPr/>
        </p:nvSpPr>
        <p:spPr>
          <a:xfrm>
            <a:off x="8394192" y="3803904"/>
            <a:ext cx="384048" cy="384048"/>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a:t>
            </a:r>
            <a:endParaRPr lang="en-US" sz="1500" dirty="0"/>
          </a:p>
        </p:txBody>
      </p:sp>
      <p:sp>
        <p:nvSpPr>
          <p:cNvPr id="34" name="Text 32"/>
          <p:cNvSpPr/>
          <p:nvPr/>
        </p:nvSpPr>
        <p:spPr>
          <a:xfrm>
            <a:off x="8915400" y="3776472"/>
            <a:ext cx="2606040" cy="457200"/>
          </a:xfrm>
          <a:prstGeom prst="rect">
            <a:avLst/>
          </a:prstGeom>
          <a:noFill/>
          <a:ln/>
        </p:spPr>
        <p:txBody>
          <a:bodyPr wrap="square" lIns="0" tIns="0" rIns="0" bIns="0" rtlCol="0" anchor="ctr"/>
          <a:lstStyle/>
          <a:p>
            <a:pPr indent="0" marL="0">
              <a:buNone/>
            </a:pPr>
            <a:r>
              <a:rPr lang="en-US" sz="1550" b="1" dirty="0">
                <a:solidFill>
                  <a:srgbClr val="0F172A"/>
                </a:solidFill>
                <a:latin typeface="Cambria" pitchFamily="34" charset="0"/>
                <a:ea typeface="Cambria" pitchFamily="34" charset="-122"/>
                <a:cs typeface="Cambria" pitchFamily="34" charset="-120"/>
              </a:rPr>
              <a:t>Deployed &amp; $0 stack</a:t>
            </a:r>
            <a:endParaRPr lang="en-US" sz="1550" dirty="0"/>
          </a:p>
        </p:txBody>
      </p:sp>
      <p:sp>
        <p:nvSpPr>
          <p:cNvPr id="35" name="Text 33"/>
          <p:cNvSpPr/>
          <p:nvPr/>
        </p:nvSpPr>
        <p:spPr>
          <a:xfrm>
            <a:off x="8915400" y="4215384"/>
            <a:ext cx="2606040" cy="713232"/>
          </a:xfrm>
          <a:prstGeom prst="rect">
            <a:avLst/>
          </a:prstGeom>
          <a:noFill/>
          <a:ln/>
        </p:spPr>
        <p:txBody>
          <a:bodyPr wrap="square" lIns="0" tIns="0" rIns="0" bIns="0" rtlCol="0" anchor="ctr"/>
          <a:lstStyle/>
          <a:p>
            <a:pPr indent="0" marL="0">
              <a:lnSpc>
                <a:spcPct val="102000"/>
              </a:lnSpc>
              <a:buNone/>
            </a:pPr>
            <a:r>
              <a:rPr lang="en-US" sz="1200" dirty="0">
                <a:solidFill>
                  <a:srgbClr val="64748B"/>
                </a:solidFill>
                <a:latin typeface="Calibri" pitchFamily="34" charset="0"/>
                <a:ea typeface="Calibri" pitchFamily="34" charset="-122"/>
                <a:cs typeface="Calibri" pitchFamily="34" charset="-120"/>
              </a:rPr>
              <a:t>Running on open-source infrastructure — no licenses, no foreign API keys.</a:t>
            </a:r>
            <a:endParaRPr lang="en-US" sz="1200" dirty="0"/>
          </a:p>
        </p:txBody>
      </p:sp>
      <p:sp>
        <p:nvSpPr>
          <p:cNvPr id="36" name="Text 34"/>
          <p:cNvSpPr/>
          <p:nvPr/>
        </p:nvSpPr>
        <p:spPr>
          <a:xfrm>
            <a:off x="640080" y="5715000"/>
            <a:ext cx="11155680" cy="365760"/>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Try it now:  </a:t>
            </a:r>
            <a:pPr algn="ctr" indent="0" marL="0">
              <a:buNone/>
            </a:pPr>
            <a:r>
              <a:rPr lang="en-US" sz="1250" b="1" dirty="0">
                <a:solidFill>
                  <a:srgbClr val="D4A017"/>
                </a:solidFill>
                <a:latin typeface="Calibri" pitchFamily="34" charset="0"/>
                <a:ea typeface="Calibri" pitchFamily="34" charset="-122"/>
                <a:cs typeface="Calibri" pitchFamily="34" charset="-120"/>
              </a:rPr>
              <a:t>damascus-park.vercel.app</a:t>
            </a:r>
            <a:pPr algn="ctr" indent="0" marL="0">
              <a:buNone/>
            </a:pPr>
            <a:r>
              <a:rPr lang="en-US" sz="1250" dirty="0">
                <a:solidFill>
                  <a:srgbClr val="64748B"/>
                </a:solidFill>
                <a:latin typeface="Calibri" pitchFamily="34" charset="0"/>
                <a:ea typeface="Calibri" pitchFamily="34" charset="-122"/>
                <a:cs typeface="Calibri" pitchFamily="34" charset="-120"/>
              </a:rPr>
              <a:t>   —  driver@mawqif.sy / warden@mawqif.sy / admin@mawqif.sy  ·  Demo@Mawqif2025!</a:t>
            </a:r>
            <a:endParaRPr lang="en-US" sz="1250" dirty="0"/>
          </a:p>
        </p:txBody>
      </p:sp>
      <p:sp>
        <p:nvSpPr>
          <p:cNvPr id="37" name="Text 35"/>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38" name="Text 3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THE DIFFERENTIATOR</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Tariffs that hold their value.</a:t>
            </a:r>
            <a:endParaRPr lang="en-US" sz="3000" dirty="0"/>
          </a:p>
        </p:txBody>
      </p:sp>
      <p:sp>
        <p:nvSpPr>
          <p:cNvPr id="6" name="Text 4"/>
          <p:cNvSpPr/>
          <p:nvPr/>
        </p:nvSpPr>
        <p:spPr>
          <a:xfrm>
            <a:off x="640080" y="1691640"/>
            <a:ext cx="5486400" cy="640080"/>
          </a:xfrm>
          <a:prstGeom prst="rect">
            <a:avLst/>
          </a:prstGeom>
          <a:noFill/>
          <a:ln/>
        </p:spPr>
        <p:txBody>
          <a:bodyPr wrap="square" lIns="0" tIns="0" rIns="0" bIns="0" rtlCol="0" anchor="ctr"/>
          <a:lstStyle/>
          <a:p>
            <a:pPr indent="0" marL="0">
              <a:lnSpc>
                <a:spcPct val="110000"/>
              </a:lnSpc>
              <a:buNone/>
            </a:pPr>
            <a:r>
              <a:rPr lang="en-US" sz="1600" dirty="0">
                <a:solidFill>
                  <a:srgbClr val="0F172A"/>
                </a:solidFill>
                <a:latin typeface="Calibri" pitchFamily="34" charset="0"/>
                <a:ea typeface="Calibri" pitchFamily="34" charset="-122"/>
                <a:cs typeface="Calibri" pitchFamily="34" charset="-120"/>
              </a:rPr>
              <a:t>Mawqif never stores a fixed price. Every zone's rate is </a:t>
            </a:r>
            <a:pPr indent="0" marL="0">
              <a:lnSpc>
                <a:spcPct val="110000"/>
              </a:lnSpc>
              <a:buNone/>
            </a:pPr>
            <a:r>
              <a:rPr lang="en-US" sz="1600" b="1" dirty="0">
                <a:solidFill>
                  <a:srgbClr val="D4A017"/>
                </a:solidFill>
                <a:latin typeface="Calibri" pitchFamily="34" charset="0"/>
                <a:ea typeface="Calibri" pitchFamily="34" charset="-122"/>
                <a:cs typeface="Calibri" pitchFamily="34" charset="-120"/>
              </a:rPr>
              <a:t>pegged to the gasoline price index</a:t>
            </a:r>
            <a:pPr indent="0" marL="0">
              <a:lnSpc>
                <a:spcPct val="110000"/>
              </a:lnSpc>
              <a:buNone/>
            </a:pPr>
            <a:r>
              <a:rPr lang="en-US" sz="1600" dirty="0">
                <a:solidFill>
                  <a:srgbClr val="0F172A"/>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640080" y="2377440"/>
            <a:ext cx="5394960" cy="914400"/>
          </a:xfrm>
          <a:prstGeom prst="roundRect">
            <a:avLst>
              <a:gd name="adj" fmla="val 9000"/>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8" name="Text 6"/>
          <p:cNvSpPr/>
          <p:nvPr/>
        </p:nvSpPr>
        <p:spPr>
          <a:xfrm>
            <a:off x="822960" y="2377440"/>
            <a:ext cx="5029200" cy="914400"/>
          </a:xfrm>
          <a:prstGeom prst="rect">
            <a:avLst/>
          </a:prstGeom>
          <a:noFill/>
          <a:ln/>
        </p:spPr>
        <p:txBody>
          <a:bodyPr wrap="square" lIns="0" tIns="0" rIns="0" bIns="0" rtlCol="0" anchor="ctr"/>
          <a:lstStyle/>
          <a:p>
            <a:pPr algn="ctr" indent="0" marL="0">
              <a:buNone/>
            </a:pPr>
            <a:r>
              <a:rPr lang="en-US" sz="1500" b="1" dirty="0">
                <a:solidFill>
                  <a:srgbClr val="0B1220"/>
                </a:solidFill>
                <a:latin typeface="Consolas" pitchFamily="34" charset="0"/>
                <a:ea typeface="Consolas" pitchFamily="34" charset="-122"/>
                <a:cs typeface="Consolas" pitchFamily="34" charset="-120"/>
              </a:rPr>
              <a:t>hourly rate  =  (gas price ÷ 1000)  ×  zone ratio</a:t>
            </a:r>
            <a:endParaRPr lang="en-US" sz="1500" dirty="0"/>
          </a:p>
        </p:txBody>
      </p:sp>
      <p:sp>
        <p:nvSpPr>
          <p:cNvPr id="9" name="Shape 7"/>
          <p:cNvSpPr/>
          <p:nvPr/>
        </p:nvSpPr>
        <p:spPr>
          <a:xfrm>
            <a:off x="685800" y="3675888"/>
            <a:ext cx="146304" cy="146304"/>
          </a:xfrm>
          <a:prstGeom prst="ellipse">
            <a:avLst/>
          </a:prstGeom>
          <a:solidFill>
            <a:srgbClr val="D4A017"/>
          </a:solidFill>
          <a:ln/>
        </p:spPr>
      </p:sp>
      <p:sp>
        <p:nvSpPr>
          <p:cNvPr id="10" name="Text 8"/>
          <p:cNvSpPr/>
          <p:nvPr/>
        </p:nvSpPr>
        <p:spPr>
          <a:xfrm>
            <a:off x="960120" y="3566160"/>
            <a:ext cx="5212080" cy="4572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When fuel doubles, parking tariffs double — automatically.</a:t>
            </a:r>
            <a:endParaRPr lang="en-US" sz="1400" dirty="0"/>
          </a:p>
        </p:txBody>
      </p:sp>
      <p:sp>
        <p:nvSpPr>
          <p:cNvPr id="11" name="Shape 9"/>
          <p:cNvSpPr/>
          <p:nvPr/>
        </p:nvSpPr>
        <p:spPr>
          <a:xfrm>
            <a:off x="685800" y="4242816"/>
            <a:ext cx="146304" cy="146304"/>
          </a:xfrm>
          <a:prstGeom prst="ellipse">
            <a:avLst/>
          </a:prstGeom>
          <a:solidFill>
            <a:srgbClr val="0B1220"/>
          </a:solidFill>
          <a:ln/>
        </p:spPr>
      </p:sp>
      <p:sp>
        <p:nvSpPr>
          <p:cNvPr id="12" name="Text 10"/>
          <p:cNvSpPr/>
          <p:nvPr/>
        </p:nvSpPr>
        <p:spPr>
          <a:xfrm>
            <a:off x="960120" y="4133088"/>
            <a:ext cx="5212080" cy="4572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Admin changes ONE number; every zone re-prices instantly.</a:t>
            </a:r>
            <a:endParaRPr lang="en-US" sz="1400" dirty="0"/>
          </a:p>
        </p:txBody>
      </p:sp>
      <p:sp>
        <p:nvSpPr>
          <p:cNvPr id="13" name="Shape 11"/>
          <p:cNvSpPr/>
          <p:nvPr/>
        </p:nvSpPr>
        <p:spPr>
          <a:xfrm>
            <a:off x="685800" y="4809744"/>
            <a:ext cx="146304" cy="146304"/>
          </a:xfrm>
          <a:prstGeom prst="ellipse">
            <a:avLst/>
          </a:prstGeom>
          <a:solidFill>
            <a:srgbClr val="0B1220"/>
          </a:solidFill>
          <a:ln/>
        </p:spPr>
      </p:sp>
      <p:sp>
        <p:nvSpPr>
          <p:cNvPr id="14" name="Text 12"/>
          <p:cNvSpPr/>
          <p:nvPr/>
        </p:nvSpPr>
        <p:spPr>
          <a:xfrm>
            <a:off x="960120" y="4700016"/>
            <a:ext cx="5212080" cy="4572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Revenue tracks real value instead of eroding in SYP.</a:t>
            </a:r>
            <a:endParaRPr lang="en-US" sz="1400" dirty="0"/>
          </a:p>
        </p:txBody>
      </p:sp>
      <p:graphicFrame>
        <p:nvGraphicFramePr>
          <p:cNvPr id="15" name="Chart 0" descr=""/>
          <p:cNvGraphicFramePr/>
          <p:nvPr/>
        </p:nvGraphicFramePr>
        <p:xfrm>
          <a:off x="640080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17" name="Text 14"/>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9509760" y="3291840"/>
            <a:ext cx="5486400" cy="5486400"/>
          </a:xfrm>
          <a:prstGeom prst="ellipse">
            <a:avLst/>
          </a:prstGeom>
          <a:solidFill>
            <a:srgbClr val="14213D"/>
          </a:solidFill>
          <a:ln/>
        </p:spPr>
      </p:sp>
      <p:sp>
        <p:nvSpPr>
          <p:cNvPr id="3" name="Shape 1"/>
          <p:cNvSpPr/>
          <p:nvPr/>
        </p:nvSpPr>
        <p:spPr>
          <a:xfrm>
            <a:off x="640080" y="548640"/>
            <a:ext cx="502920" cy="502920"/>
          </a:xfrm>
          <a:prstGeom prst="ellipse">
            <a:avLst/>
          </a:prstGeom>
          <a:solidFill>
            <a:srgbClr val="D4A017"/>
          </a:solidFill>
          <a:ln/>
        </p:spPr>
      </p:sp>
      <p:sp>
        <p:nvSpPr>
          <p:cNvPr id="4" name="Text 2"/>
          <p:cNvSpPr/>
          <p:nvPr/>
        </p:nvSpPr>
        <p:spPr>
          <a:xfrm>
            <a:off x="640080" y="530352"/>
            <a:ext cx="502920" cy="502920"/>
          </a:xfrm>
          <a:prstGeom prst="rect">
            <a:avLst/>
          </a:prstGeom>
          <a:noFill/>
          <a:ln/>
        </p:spPr>
        <p:txBody>
          <a:bodyPr wrap="square" rtlCol="0" anchor="ctr"/>
          <a:lstStyle/>
          <a:p>
            <a:pPr algn="ctr" indent="0" marL="0">
              <a:buNone/>
            </a:pPr>
            <a:r>
              <a:rPr lang="en-US" sz="1430" b="1" dirty="0">
                <a:solidFill>
                  <a:srgbClr val="0B1220"/>
                </a:solidFill>
                <a:latin typeface="Cambria" pitchFamily="34" charset="0"/>
                <a:ea typeface="Cambria" pitchFamily="34" charset="-122"/>
                <a:cs typeface="Cambria" pitchFamily="34" charset="-120"/>
              </a:rPr>
              <a:t>م</a:t>
            </a:r>
            <a:endParaRPr lang="en-US" sz="1430" dirty="0"/>
          </a:p>
        </p:txBody>
      </p:sp>
      <p:sp>
        <p:nvSpPr>
          <p:cNvPr id="5" name="Text 3"/>
          <p:cNvSpPr/>
          <p:nvPr/>
        </p:nvSpPr>
        <p:spPr>
          <a:xfrm>
            <a:off x="1353312" y="566928"/>
            <a:ext cx="9144000" cy="320040"/>
          </a:xfrm>
          <a:prstGeom prst="rect">
            <a:avLst/>
          </a:prstGeom>
          <a:noFill/>
          <a:ln/>
        </p:spPr>
        <p:txBody>
          <a:bodyPr wrap="square" lIns="0" tIns="0" rIns="0" bIns="0" rtlCol="0" anchor="ctr"/>
          <a:lstStyle/>
          <a:p>
            <a:pPr indent="0" marL="0">
              <a:buNone/>
            </a:pPr>
            <a:r>
              <a:rPr lang="en-US" sz="1200" b="1" spc="300" kern="0" dirty="0">
                <a:solidFill>
                  <a:srgbClr val="D4A017"/>
                </a:solidFill>
                <a:latin typeface="Calibri" pitchFamily="34" charset="0"/>
                <a:ea typeface="Calibri" pitchFamily="34" charset="-122"/>
                <a:cs typeface="Calibri" pitchFamily="34" charset="-120"/>
              </a:rPr>
              <a:t>SOVEREIGN BY DESIGN</a:t>
            </a:r>
            <a:endParaRPr lang="en-US" sz="1200" dirty="0"/>
          </a:p>
        </p:txBody>
      </p:sp>
      <p:sp>
        <p:nvSpPr>
          <p:cNvPr id="6" name="Text 4"/>
          <p:cNvSpPr/>
          <p:nvPr/>
        </p:nvSpPr>
        <p:spPr>
          <a:xfrm>
            <a:off x="640080" y="1143000"/>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Independent of foreign rails, secure by default.</a:t>
            </a:r>
            <a:endParaRPr lang="en-US" sz="3000" dirty="0"/>
          </a:p>
        </p:txBody>
      </p:sp>
      <p:sp>
        <p:nvSpPr>
          <p:cNvPr id="7" name="Shape 5"/>
          <p:cNvSpPr/>
          <p:nvPr/>
        </p:nvSpPr>
        <p:spPr>
          <a:xfrm>
            <a:off x="640080" y="2240280"/>
            <a:ext cx="5394960" cy="1600200"/>
          </a:xfrm>
          <a:prstGeom prst="roundRect">
            <a:avLst>
              <a:gd name="adj" fmla="val 4571"/>
            </a:avLst>
          </a:prstGeom>
          <a:solidFill>
            <a:srgbClr val="14213D"/>
          </a:solidFill>
          <a:ln w="12700">
            <a:solidFill>
              <a:srgbClr val="23304D"/>
            </a:solidFill>
            <a:prstDash val="solid"/>
          </a:ln>
        </p:spPr>
      </p:sp>
      <p:sp>
        <p:nvSpPr>
          <p:cNvPr id="8" name="Shape 6"/>
          <p:cNvSpPr/>
          <p:nvPr/>
        </p:nvSpPr>
        <p:spPr>
          <a:xfrm>
            <a:off x="914400" y="2514600"/>
            <a:ext cx="502920" cy="502920"/>
          </a:xfrm>
          <a:prstGeom prst="ellipse">
            <a:avLst/>
          </a:prstGeom>
          <a:solidFill>
            <a:srgbClr val="D4A017"/>
          </a:solidFill>
          <a:ln/>
        </p:spPr>
      </p:sp>
      <p:sp>
        <p:nvSpPr>
          <p:cNvPr id="9" name="Text 7"/>
          <p:cNvSpPr/>
          <p:nvPr/>
        </p:nvSpPr>
        <p:spPr>
          <a:xfrm>
            <a:off x="914400" y="2487168"/>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600200" y="2478024"/>
            <a:ext cx="42062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Local payment rails</a:t>
            </a:r>
            <a:endParaRPr lang="en-US" sz="1700" dirty="0"/>
          </a:p>
        </p:txBody>
      </p:sp>
      <p:sp>
        <p:nvSpPr>
          <p:cNvPr id="11" name="Text 9"/>
          <p:cNvSpPr/>
          <p:nvPr/>
        </p:nvSpPr>
        <p:spPr>
          <a:xfrm>
            <a:off x="1600200" y="2898648"/>
            <a:ext cx="4251960" cy="868680"/>
          </a:xfrm>
          <a:prstGeom prst="rect">
            <a:avLst/>
          </a:prstGeom>
          <a:noFill/>
          <a:ln/>
        </p:spPr>
        <p:txBody>
          <a:bodyPr wrap="square" lIns="0" tIns="0" rIns="0" bIns="0" rtlCol="0" anchor="ctr"/>
          <a:lstStyle/>
          <a:p>
            <a:pPr indent="0" marL="0">
              <a:lnSpc>
                <a:spcPct val="103000"/>
              </a:lnSpc>
              <a:buNone/>
            </a:pPr>
            <a:r>
              <a:rPr lang="en-US" sz="1250" dirty="0">
                <a:solidFill>
                  <a:srgbClr val="AEBBD0"/>
                </a:solidFill>
                <a:latin typeface="Calibri" pitchFamily="34" charset="0"/>
                <a:ea typeface="Calibri" pitchFamily="34" charset="-122"/>
                <a:cs typeface="Calibri" pitchFamily="34" charset="-120"/>
              </a:rPr>
              <a:t>Top-ups via the national payment network and prepaid vouchers — no Visa / Mastercard dependency.</a:t>
            </a:r>
            <a:endParaRPr lang="en-US" sz="1250" dirty="0"/>
          </a:p>
        </p:txBody>
      </p:sp>
      <p:sp>
        <p:nvSpPr>
          <p:cNvPr id="12" name="Shape 10"/>
          <p:cNvSpPr/>
          <p:nvPr/>
        </p:nvSpPr>
        <p:spPr>
          <a:xfrm>
            <a:off x="6217920" y="2240280"/>
            <a:ext cx="5394960" cy="1600200"/>
          </a:xfrm>
          <a:prstGeom prst="roundRect">
            <a:avLst>
              <a:gd name="adj" fmla="val 4571"/>
            </a:avLst>
          </a:prstGeom>
          <a:solidFill>
            <a:srgbClr val="14213D"/>
          </a:solidFill>
          <a:ln w="12700">
            <a:solidFill>
              <a:srgbClr val="23304D"/>
            </a:solidFill>
            <a:prstDash val="solid"/>
          </a:ln>
        </p:spPr>
      </p:sp>
      <p:sp>
        <p:nvSpPr>
          <p:cNvPr id="13" name="Shape 11"/>
          <p:cNvSpPr/>
          <p:nvPr/>
        </p:nvSpPr>
        <p:spPr>
          <a:xfrm>
            <a:off x="6492240" y="2514600"/>
            <a:ext cx="502920" cy="502920"/>
          </a:xfrm>
          <a:prstGeom prst="ellipse">
            <a:avLst/>
          </a:prstGeom>
          <a:solidFill>
            <a:srgbClr val="D4A017"/>
          </a:solidFill>
          <a:ln/>
        </p:spPr>
      </p:sp>
      <p:sp>
        <p:nvSpPr>
          <p:cNvPr id="14" name="Text 12"/>
          <p:cNvSpPr/>
          <p:nvPr/>
        </p:nvSpPr>
        <p:spPr>
          <a:xfrm>
            <a:off x="6492240" y="2487168"/>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7178040" y="2478024"/>
            <a:ext cx="42062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Data stays in-country</a:t>
            </a:r>
            <a:endParaRPr lang="en-US" sz="1700" dirty="0"/>
          </a:p>
        </p:txBody>
      </p:sp>
      <p:sp>
        <p:nvSpPr>
          <p:cNvPr id="16" name="Text 14"/>
          <p:cNvSpPr/>
          <p:nvPr/>
        </p:nvSpPr>
        <p:spPr>
          <a:xfrm>
            <a:off x="7178040" y="2898648"/>
            <a:ext cx="4251960" cy="868680"/>
          </a:xfrm>
          <a:prstGeom prst="rect">
            <a:avLst/>
          </a:prstGeom>
          <a:noFill/>
          <a:ln/>
        </p:spPr>
        <p:txBody>
          <a:bodyPr wrap="square" lIns="0" tIns="0" rIns="0" bIns="0" rtlCol="0" anchor="ctr"/>
          <a:lstStyle/>
          <a:p>
            <a:pPr indent="0" marL="0">
              <a:lnSpc>
                <a:spcPct val="103000"/>
              </a:lnSpc>
              <a:buNone/>
            </a:pPr>
            <a:r>
              <a:rPr lang="en-US" sz="1250" dirty="0">
                <a:solidFill>
                  <a:srgbClr val="AEBBD0"/>
                </a:solidFill>
                <a:latin typeface="Calibri" pitchFamily="34" charset="0"/>
                <a:ea typeface="Calibri" pitchFamily="34" charset="-122"/>
                <a:cs typeface="Calibri" pitchFamily="34" charset="-120"/>
              </a:rPr>
              <a:t>A government-controllable database; no reliance on foreign-owned cloud identity.</a:t>
            </a:r>
            <a:endParaRPr lang="en-US" sz="1250" dirty="0"/>
          </a:p>
        </p:txBody>
      </p:sp>
      <p:sp>
        <p:nvSpPr>
          <p:cNvPr id="17" name="Shape 15"/>
          <p:cNvSpPr/>
          <p:nvPr/>
        </p:nvSpPr>
        <p:spPr>
          <a:xfrm>
            <a:off x="640080" y="4023360"/>
            <a:ext cx="5394960" cy="1600200"/>
          </a:xfrm>
          <a:prstGeom prst="roundRect">
            <a:avLst>
              <a:gd name="adj" fmla="val 4571"/>
            </a:avLst>
          </a:prstGeom>
          <a:solidFill>
            <a:srgbClr val="14213D"/>
          </a:solidFill>
          <a:ln w="12700">
            <a:solidFill>
              <a:srgbClr val="23304D"/>
            </a:solidFill>
            <a:prstDash val="solid"/>
          </a:ln>
        </p:spPr>
      </p:sp>
      <p:sp>
        <p:nvSpPr>
          <p:cNvPr id="18" name="Shape 16"/>
          <p:cNvSpPr/>
          <p:nvPr/>
        </p:nvSpPr>
        <p:spPr>
          <a:xfrm>
            <a:off x="914400" y="4297680"/>
            <a:ext cx="502920" cy="502920"/>
          </a:xfrm>
          <a:prstGeom prst="ellipse">
            <a:avLst/>
          </a:prstGeom>
          <a:solidFill>
            <a:srgbClr val="D4A017"/>
          </a:solidFill>
          <a:ln/>
        </p:spPr>
      </p:sp>
      <p:sp>
        <p:nvSpPr>
          <p:cNvPr id="19" name="Text 17"/>
          <p:cNvSpPr/>
          <p:nvPr/>
        </p:nvSpPr>
        <p:spPr>
          <a:xfrm>
            <a:off x="914400" y="4270248"/>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1600200" y="4261104"/>
            <a:ext cx="42062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Sanctions-resilient</a:t>
            </a:r>
            <a:endParaRPr lang="en-US" sz="1700" dirty="0"/>
          </a:p>
        </p:txBody>
      </p:sp>
      <p:sp>
        <p:nvSpPr>
          <p:cNvPr id="21" name="Text 19"/>
          <p:cNvSpPr/>
          <p:nvPr/>
        </p:nvSpPr>
        <p:spPr>
          <a:xfrm>
            <a:off x="1600200" y="4681728"/>
            <a:ext cx="4251960" cy="868680"/>
          </a:xfrm>
          <a:prstGeom prst="rect">
            <a:avLst/>
          </a:prstGeom>
          <a:noFill/>
          <a:ln/>
        </p:spPr>
        <p:txBody>
          <a:bodyPr wrap="square" lIns="0" tIns="0" rIns="0" bIns="0" rtlCol="0" anchor="ctr"/>
          <a:lstStyle/>
          <a:p>
            <a:pPr indent="0" marL="0">
              <a:lnSpc>
                <a:spcPct val="103000"/>
              </a:lnSpc>
              <a:buNone/>
            </a:pPr>
            <a:r>
              <a:rPr lang="en-US" sz="1250" dirty="0">
                <a:solidFill>
                  <a:srgbClr val="AEBBD0"/>
                </a:solidFill>
                <a:latin typeface="Calibri" pitchFamily="34" charset="0"/>
                <a:ea typeface="Calibri" pitchFamily="34" charset="-122"/>
                <a:cs typeface="Calibri" pitchFamily="34" charset="-120"/>
              </a:rPr>
              <a:t>Built entirely on open-source software and free OpenStreetMap tiles — nothing to license or lose.</a:t>
            </a:r>
            <a:endParaRPr lang="en-US" sz="1250" dirty="0"/>
          </a:p>
        </p:txBody>
      </p:sp>
      <p:sp>
        <p:nvSpPr>
          <p:cNvPr id="22" name="Shape 20"/>
          <p:cNvSpPr/>
          <p:nvPr/>
        </p:nvSpPr>
        <p:spPr>
          <a:xfrm>
            <a:off x="6217920" y="4023360"/>
            <a:ext cx="5394960" cy="1600200"/>
          </a:xfrm>
          <a:prstGeom prst="roundRect">
            <a:avLst>
              <a:gd name="adj" fmla="val 4571"/>
            </a:avLst>
          </a:prstGeom>
          <a:solidFill>
            <a:srgbClr val="14213D"/>
          </a:solidFill>
          <a:ln w="12700">
            <a:solidFill>
              <a:srgbClr val="23304D"/>
            </a:solidFill>
            <a:prstDash val="solid"/>
          </a:ln>
        </p:spPr>
      </p:sp>
      <p:sp>
        <p:nvSpPr>
          <p:cNvPr id="23" name="Shape 21"/>
          <p:cNvSpPr/>
          <p:nvPr/>
        </p:nvSpPr>
        <p:spPr>
          <a:xfrm>
            <a:off x="6492240" y="4297680"/>
            <a:ext cx="502920" cy="502920"/>
          </a:xfrm>
          <a:prstGeom prst="ellipse">
            <a:avLst/>
          </a:prstGeom>
          <a:solidFill>
            <a:srgbClr val="D4A017"/>
          </a:solidFill>
          <a:ln/>
        </p:spPr>
      </p:sp>
      <p:sp>
        <p:nvSpPr>
          <p:cNvPr id="24" name="Text 22"/>
          <p:cNvSpPr/>
          <p:nvPr/>
        </p:nvSpPr>
        <p:spPr>
          <a:xfrm>
            <a:off x="6492240" y="4270248"/>
            <a:ext cx="502920" cy="50292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7178040" y="4261104"/>
            <a:ext cx="42062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Bank-grade security</a:t>
            </a:r>
            <a:endParaRPr lang="en-US" sz="1700" dirty="0"/>
          </a:p>
        </p:txBody>
      </p:sp>
      <p:sp>
        <p:nvSpPr>
          <p:cNvPr id="26" name="Text 24"/>
          <p:cNvSpPr/>
          <p:nvPr/>
        </p:nvSpPr>
        <p:spPr>
          <a:xfrm>
            <a:off x="7178040" y="4681728"/>
            <a:ext cx="4251960" cy="868680"/>
          </a:xfrm>
          <a:prstGeom prst="rect">
            <a:avLst/>
          </a:prstGeom>
          <a:noFill/>
          <a:ln/>
        </p:spPr>
        <p:txBody>
          <a:bodyPr wrap="square" lIns="0" tIns="0" rIns="0" bIns="0" rtlCol="0" anchor="ctr"/>
          <a:lstStyle/>
          <a:p>
            <a:pPr indent="0" marL="0">
              <a:lnSpc>
                <a:spcPct val="103000"/>
              </a:lnSpc>
              <a:buNone/>
            </a:pPr>
            <a:r>
              <a:rPr lang="en-US" sz="1250" dirty="0">
                <a:solidFill>
                  <a:srgbClr val="AEBBD0"/>
                </a:solidFill>
                <a:latin typeface="Calibri" pitchFamily="34" charset="0"/>
                <a:ea typeface="Calibri" pitchFamily="34" charset="-122"/>
                <a:cs typeface="Calibri" pitchFamily="34" charset="-120"/>
              </a:rPr>
              <a:t>Role-based access, row-level security on every table, idempotent payments, append-only audit ledger.</a:t>
            </a:r>
            <a:endParaRPr lang="en-US" sz="1250" dirty="0"/>
          </a:p>
        </p:txBody>
      </p:sp>
      <p:sp>
        <p:nvSpPr>
          <p:cNvPr id="27" name="Text 25"/>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Mawqif · موقف   ·   Damascus Smart Parking</a:t>
            </a:r>
            <a:endParaRPr lang="en-US" sz="900" dirty="0"/>
          </a:p>
        </p:txBody>
      </p:sp>
      <p:sp>
        <p:nvSpPr>
          <p:cNvPr id="28" name="Text 26"/>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THE BUSINESS CASE</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A self-funding model — the city earns from day one.</a:t>
            </a:r>
            <a:endParaRPr lang="en-US" sz="3000" dirty="0"/>
          </a:p>
        </p:txBody>
      </p:sp>
      <p:sp>
        <p:nvSpPr>
          <p:cNvPr id="6" name="Text 4"/>
          <p:cNvSpPr/>
          <p:nvPr/>
        </p:nvSpPr>
        <p:spPr>
          <a:xfrm>
            <a:off x="640080" y="1645920"/>
            <a:ext cx="5212080" cy="640080"/>
          </a:xfrm>
          <a:prstGeom prst="rect">
            <a:avLst/>
          </a:prstGeom>
          <a:noFill/>
          <a:ln/>
        </p:spPr>
        <p:txBody>
          <a:bodyPr wrap="square" lIns="0" tIns="0" rIns="0" bIns="0" rtlCol="0" anchor="ctr"/>
          <a:lstStyle/>
          <a:p>
            <a:pPr indent="0" marL="0">
              <a:lnSpc>
                <a:spcPct val="108000"/>
              </a:lnSpc>
              <a:buNone/>
            </a:pPr>
            <a:r>
              <a:rPr lang="en-US" sz="1500" b="1" dirty="0">
                <a:solidFill>
                  <a:srgbClr val="0F172A"/>
                </a:solidFill>
                <a:latin typeface="Calibri" pitchFamily="34" charset="0"/>
                <a:ea typeface="Calibri" pitchFamily="34" charset="-122"/>
                <a:cs typeface="Calibri" pitchFamily="34" charset="-120"/>
              </a:rPr>
              <a:t>Zero upfront cost. </a:t>
            </a:r>
            <a:pPr indent="0" marL="0">
              <a:lnSpc>
                <a:spcPct val="108000"/>
              </a:lnSpc>
              <a:buNone/>
            </a:pPr>
            <a:r>
              <a:rPr lang="en-US" sz="1500" dirty="0">
                <a:solidFill>
                  <a:srgbClr val="64748B"/>
                </a:solidFill>
                <a:latin typeface="Calibri" pitchFamily="34" charset="0"/>
                <a:ea typeface="Calibri" pitchFamily="34" charset="-122"/>
                <a:cs typeface="Calibri" pitchFamily="34" charset="-120"/>
              </a:rPr>
              <a:t>Mawqif is paid only as revenue is collected — a transparent revenue share.</a:t>
            </a:r>
            <a:endParaRPr lang="en-US" sz="1500" dirty="0"/>
          </a:p>
        </p:txBody>
      </p:sp>
      <p:graphicFrame>
        <p:nvGraphicFramePr>
          <p:cNvPr id="7" name="Chart 0" descr=""/>
          <p:cNvGraphicFramePr/>
          <p:nvPr/>
        </p:nvGraphicFramePr>
        <p:xfrm>
          <a:off x="457200" y="22860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126480" y="1828800"/>
            <a:ext cx="5440680" cy="4023360"/>
          </a:xfrm>
          <a:prstGeom prst="roundRect">
            <a:avLst>
              <a:gd name="adj" fmla="val 2045"/>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9" name="Text 6"/>
          <p:cNvSpPr/>
          <p:nvPr/>
        </p:nvSpPr>
        <p:spPr>
          <a:xfrm>
            <a:off x="6355080" y="2011680"/>
            <a:ext cx="502920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Illustrative pilot economics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55080" y="2468880"/>
          <a:ext cx="4983480" cy="914400"/>
        </p:xfrm>
        <a:graphic>
          <a:graphicData uri="http://schemas.openxmlformats.org/drawingml/2006/table">
            <a:tbl>
              <a:tblPr/>
              <a:tblGrid>
                <a:gridCol w="3429000"/>
                <a:gridCol w="1554480"/>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Input</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220"/>
                    </a:solidFill>
                  </a:tcPr>
                </a:tc>
              </a:tr>
              <a:tr h="384048">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Managed spaces (3 pilot zones)</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Paid hours / space / day</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Blended rate @ gas 5,000 SYP/L</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 10,000 SYP/hr</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Operating days / month</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Gross monthly collection</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0F172A"/>
                          </a:solidFill>
                          <a:latin typeface="Calibri" pitchFamily="34" charset="0"/>
                          <a:ea typeface="Calibri" pitchFamily="34" charset="-122"/>
                          <a:cs typeface="Calibri" pitchFamily="34" charset="-120"/>
                        </a:rPr>
                        <a:t>≈ 1.5 B SYP</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250" b="1" dirty="0">
                          <a:solidFill>
                            <a:srgbClr val="7A5C00"/>
                          </a:solidFill>
                          <a:latin typeface="Calibri" pitchFamily="34" charset="0"/>
                          <a:ea typeface="Calibri" pitchFamily="34" charset="-122"/>
                          <a:cs typeface="Calibri" pitchFamily="34" charset="-120"/>
                        </a:rPr>
                        <a:t>City share (60%)</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250" b="1" dirty="0">
                          <a:solidFill>
                            <a:srgbClr val="D4A017"/>
                          </a:solidFill>
                          <a:latin typeface="Calibri" pitchFamily="34" charset="0"/>
                          <a:ea typeface="Calibri" pitchFamily="34" charset="-122"/>
                          <a:cs typeface="Calibri" pitchFamily="34" charset="-120"/>
                        </a:rPr>
                        <a:t>≈ 0.9 B SYP</a:t>
                      </a:r>
                      <a:endParaRPr lang="en-US" sz="12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Text 7"/>
          <p:cNvSpPr/>
          <p:nvPr/>
        </p:nvSpPr>
        <p:spPr>
          <a:xfrm>
            <a:off x="6355080" y="5440680"/>
            <a:ext cx="5029200" cy="548640"/>
          </a:xfrm>
          <a:prstGeom prst="rect">
            <a:avLst/>
          </a:prstGeom>
          <a:noFill/>
          <a:ln/>
        </p:spPr>
        <p:txBody>
          <a:bodyPr wrap="square" lIns="0" tIns="0" rIns="0" bIns="0" rtlCol="0" anchor="ctr"/>
          <a:lstStyle/>
          <a:p>
            <a:pPr indent="0" marL="0">
              <a:lnSpc>
                <a:spcPct val="102000"/>
              </a:lnSpc>
              <a:buNone/>
            </a:pPr>
            <a:r>
              <a:rPr lang="en-US" sz="1050" i="1" dirty="0">
                <a:solidFill>
                  <a:srgbClr val="64748B"/>
                </a:solidFill>
                <a:latin typeface="Calibri" pitchFamily="34" charset="0"/>
                <a:ea typeface="Calibri" pitchFamily="34" charset="-122"/>
                <a:cs typeface="Calibri" pitchFamily="34" charset="-120"/>
              </a:rPr>
              <a:t>Illustrative model — figures scale with verified municipal occupancy data. Even at half these assumptions, the city nets new formal revenue with no capital outlay.</a:t>
            </a:r>
            <a:endParaRPr lang="en-US" sz="1050" dirty="0"/>
          </a:p>
        </p:txBody>
      </p:sp>
      <p:sp>
        <p:nvSpPr>
          <p:cNvPr id="12" name="Text 8"/>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13" name="Text 9"/>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VALUE TO THE MUNICIPALITY</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What the city gains.</a:t>
            </a:r>
            <a:endParaRPr lang="en-US" sz="3000" dirty="0"/>
          </a:p>
        </p:txBody>
      </p:sp>
      <p:sp>
        <p:nvSpPr>
          <p:cNvPr id="6" name="Shape 4"/>
          <p:cNvSpPr/>
          <p:nvPr/>
        </p:nvSpPr>
        <p:spPr>
          <a:xfrm>
            <a:off x="640080" y="187452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7" name="Shape 5"/>
          <p:cNvSpPr/>
          <p:nvPr/>
        </p:nvSpPr>
        <p:spPr>
          <a:xfrm>
            <a:off x="914400" y="2167128"/>
            <a:ext cx="457200" cy="457200"/>
          </a:xfrm>
          <a:prstGeom prst="ellipse">
            <a:avLst/>
          </a:prstGeom>
          <a:solidFill>
            <a:srgbClr val="FBEFC9"/>
          </a:solidFill>
          <a:ln/>
        </p:spPr>
      </p:sp>
      <p:sp>
        <p:nvSpPr>
          <p:cNvPr id="8" name="Text 6"/>
          <p:cNvSpPr/>
          <p:nvPr/>
        </p:nvSpPr>
        <p:spPr>
          <a:xfrm>
            <a:off x="914400" y="2148840"/>
            <a:ext cx="457200" cy="457200"/>
          </a:xfrm>
          <a:prstGeom prst="rect">
            <a:avLst/>
          </a:prstGeom>
          <a:noFill/>
          <a:ln/>
        </p:spPr>
        <p:txBody>
          <a:bodyPr wrap="square" lIns="0" tIns="0" rIns="0" bIns="0" rtlCol="0" anchor="ctr"/>
          <a:lstStyle/>
          <a:p>
            <a:pPr algn="ctr" indent="0" marL="0">
              <a:buNone/>
            </a:pPr>
            <a:r>
              <a:rPr lang="en-US" sz="1700" b="1" dirty="0">
                <a:solidFill>
                  <a:srgbClr val="D4A017"/>
                </a:solidFill>
                <a:latin typeface="Cambria" pitchFamily="34" charset="0"/>
                <a:ea typeface="Cambria" pitchFamily="34" charset="-122"/>
                <a:cs typeface="Cambria" pitchFamily="34" charset="-120"/>
              </a:rPr>
              <a:t>1</a:t>
            </a:r>
            <a:endParaRPr lang="en-US" sz="1700" dirty="0"/>
          </a:p>
        </p:txBody>
      </p:sp>
      <p:sp>
        <p:nvSpPr>
          <p:cNvPr id="9" name="Text 7"/>
          <p:cNvSpPr/>
          <p:nvPr/>
        </p:nvSpPr>
        <p:spPr>
          <a:xfrm>
            <a:off x="914400" y="2715768"/>
            <a:ext cx="301752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New formal revenue</a:t>
            </a:r>
            <a:endParaRPr lang="en-US" sz="1600" dirty="0"/>
          </a:p>
        </p:txBody>
      </p:sp>
      <p:sp>
        <p:nvSpPr>
          <p:cNvPr id="10" name="Text 8"/>
          <p:cNvSpPr/>
          <p:nvPr/>
        </p:nvSpPr>
        <p:spPr>
          <a:xfrm>
            <a:off x="914400" y="3099816"/>
            <a:ext cx="3063240" cy="457200"/>
          </a:xfrm>
          <a:prstGeom prst="rect">
            <a:avLst/>
          </a:prstGeom>
          <a:noFill/>
          <a:ln/>
        </p:spPr>
        <p:txBody>
          <a:bodyPr wrap="square" lIns="0" tIns="0" rIns="0" bIns="0" rtlCol="0" anchor="ctr"/>
          <a:lstStyle/>
          <a:p>
            <a:pPr indent="0" marL="0">
              <a:lnSpc>
                <a:spcPct val="100000"/>
              </a:lnSpc>
              <a:buNone/>
            </a:pPr>
            <a:r>
              <a:rPr lang="en-US" sz="1200" dirty="0">
                <a:solidFill>
                  <a:srgbClr val="64748B"/>
                </a:solidFill>
                <a:latin typeface="Calibri" pitchFamily="34" charset="0"/>
                <a:ea typeface="Calibri" pitchFamily="34" charset="-122"/>
                <a:cs typeface="Calibri" pitchFamily="34" charset="-120"/>
              </a:rPr>
              <a:t>Convert an informal, cash asset into auditable income — majority share to the city.</a:t>
            </a:r>
            <a:endParaRPr lang="en-US" sz="1200" dirty="0"/>
          </a:p>
        </p:txBody>
      </p:sp>
      <p:sp>
        <p:nvSpPr>
          <p:cNvPr id="11" name="Shape 9"/>
          <p:cNvSpPr/>
          <p:nvPr/>
        </p:nvSpPr>
        <p:spPr>
          <a:xfrm>
            <a:off x="4389120" y="187452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2" name="Shape 10"/>
          <p:cNvSpPr/>
          <p:nvPr/>
        </p:nvSpPr>
        <p:spPr>
          <a:xfrm>
            <a:off x="4663440" y="2167128"/>
            <a:ext cx="457200" cy="457200"/>
          </a:xfrm>
          <a:prstGeom prst="ellipse">
            <a:avLst/>
          </a:prstGeom>
          <a:solidFill>
            <a:srgbClr val="FBEFC9"/>
          </a:solidFill>
          <a:ln/>
        </p:spPr>
      </p:sp>
      <p:sp>
        <p:nvSpPr>
          <p:cNvPr id="13" name="Text 11"/>
          <p:cNvSpPr/>
          <p:nvPr/>
        </p:nvSpPr>
        <p:spPr>
          <a:xfrm>
            <a:off x="4663440" y="2148840"/>
            <a:ext cx="457200" cy="457200"/>
          </a:xfrm>
          <a:prstGeom prst="rect">
            <a:avLst/>
          </a:prstGeom>
          <a:noFill/>
          <a:ln/>
        </p:spPr>
        <p:txBody>
          <a:bodyPr wrap="square" lIns="0" tIns="0" rIns="0" bIns="0" rtlCol="0" anchor="ctr"/>
          <a:lstStyle/>
          <a:p>
            <a:pPr algn="ctr" indent="0" marL="0">
              <a:buNone/>
            </a:pPr>
            <a:r>
              <a:rPr lang="en-US" sz="1700" b="1" dirty="0">
                <a:solidFill>
                  <a:srgbClr val="D4A017"/>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4663440" y="2715768"/>
            <a:ext cx="301752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Transparency &amp; anti-leakage</a:t>
            </a:r>
            <a:endParaRPr lang="en-US" sz="1600" dirty="0"/>
          </a:p>
        </p:txBody>
      </p:sp>
      <p:sp>
        <p:nvSpPr>
          <p:cNvPr id="15" name="Text 13"/>
          <p:cNvSpPr/>
          <p:nvPr/>
        </p:nvSpPr>
        <p:spPr>
          <a:xfrm>
            <a:off x="4663440" y="3099816"/>
            <a:ext cx="3063240" cy="457200"/>
          </a:xfrm>
          <a:prstGeom prst="rect">
            <a:avLst/>
          </a:prstGeom>
          <a:noFill/>
          <a:ln/>
        </p:spPr>
        <p:txBody>
          <a:bodyPr wrap="square" lIns="0" tIns="0" rIns="0" bIns="0" rtlCol="0" anchor="ctr"/>
          <a:lstStyle/>
          <a:p>
            <a:pPr indent="0" marL="0">
              <a:lnSpc>
                <a:spcPct val="100000"/>
              </a:lnSpc>
              <a:buNone/>
            </a:pPr>
            <a:r>
              <a:rPr lang="en-US" sz="1200" dirty="0">
                <a:solidFill>
                  <a:srgbClr val="64748B"/>
                </a:solidFill>
                <a:latin typeface="Calibri" pitchFamily="34" charset="0"/>
                <a:ea typeface="Calibri" pitchFamily="34" charset="-122"/>
                <a:cs typeface="Calibri" pitchFamily="34" charset="-120"/>
              </a:rPr>
              <a:t>Every session and dinar is logged; the cash-skim problem disappears.</a:t>
            </a:r>
            <a:endParaRPr lang="en-US" sz="1200" dirty="0"/>
          </a:p>
        </p:txBody>
      </p:sp>
      <p:sp>
        <p:nvSpPr>
          <p:cNvPr id="16" name="Shape 14"/>
          <p:cNvSpPr/>
          <p:nvPr/>
        </p:nvSpPr>
        <p:spPr>
          <a:xfrm>
            <a:off x="8138160" y="187452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7" name="Shape 15"/>
          <p:cNvSpPr/>
          <p:nvPr/>
        </p:nvSpPr>
        <p:spPr>
          <a:xfrm>
            <a:off x="8412480" y="2167128"/>
            <a:ext cx="457200" cy="457200"/>
          </a:xfrm>
          <a:prstGeom prst="ellipse">
            <a:avLst/>
          </a:prstGeom>
          <a:solidFill>
            <a:srgbClr val="FBEFC9"/>
          </a:solidFill>
          <a:ln/>
        </p:spPr>
      </p:sp>
      <p:sp>
        <p:nvSpPr>
          <p:cNvPr id="18" name="Text 16"/>
          <p:cNvSpPr/>
          <p:nvPr/>
        </p:nvSpPr>
        <p:spPr>
          <a:xfrm>
            <a:off x="8412480" y="2148840"/>
            <a:ext cx="457200" cy="457200"/>
          </a:xfrm>
          <a:prstGeom prst="rect">
            <a:avLst/>
          </a:prstGeom>
          <a:noFill/>
          <a:ln/>
        </p:spPr>
        <p:txBody>
          <a:bodyPr wrap="square" lIns="0" tIns="0" rIns="0" bIns="0" rtlCol="0" anchor="ctr"/>
          <a:lstStyle/>
          <a:p>
            <a:pPr algn="ctr" indent="0" marL="0">
              <a:buNone/>
            </a:pPr>
            <a:r>
              <a:rPr lang="en-US" sz="1700" b="1" dirty="0">
                <a:solidFill>
                  <a:srgbClr val="D4A017"/>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8412480" y="2715768"/>
            <a:ext cx="301752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Real enforcement data</a:t>
            </a:r>
            <a:endParaRPr lang="en-US" sz="1600" dirty="0"/>
          </a:p>
        </p:txBody>
      </p:sp>
      <p:sp>
        <p:nvSpPr>
          <p:cNvPr id="20" name="Text 18"/>
          <p:cNvSpPr/>
          <p:nvPr/>
        </p:nvSpPr>
        <p:spPr>
          <a:xfrm>
            <a:off x="8412480" y="3099816"/>
            <a:ext cx="3063240" cy="457200"/>
          </a:xfrm>
          <a:prstGeom prst="rect">
            <a:avLst/>
          </a:prstGeom>
          <a:noFill/>
          <a:ln/>
        </p:spPr>
        <p:txBody>
          <a:bodyPr wrap="square" lIns="0" tIns="0" rIns="0" bIns="0" rtlCol="0" anchor="ctr"/>
          <a:lstStyle/>
          <a:p>
            <a:pPr indent="0" marL="0">
              <a:lnSpc>
                <a:spcPct val="100000"/>
              </a:lnSpc>
              <a:buNone/>
            </a:pPr>
            <a:r>
              <a:rPr lang="en-US" sz="1200" dirty="0">
                <a:solidFill>
                  <a:srgbClr val="64748B"/>
                </a:solidFill>
                <a:latin typeface="Calibri" pitchFamily="34" charset="0"/>
                <a:ea typeface="Calibri" pitchFamily="34" charset="-122"/>
                <a:cs typeface="Calibri" pitchFamily="34" charset="-120"/>
              </a:rPr>
              <a:t>Live occupancy and compliance by zone — deploy wardens where they're needed.</a:t>
            </a:r>
            <a:endParaRPr lang="en-US" sz="1200" dirty="0"/>
          </a:p>
        </p:txBody>
      </p:sp>
      <p:sp>
        <p:nvSpPr>
          <p:cNvPr id="21" name="Shape 19"/>
          <p:cNvSpPr/>
          <p:nvPr/>
        </p:nvSpPr>
        <p:spPr>
          <a:xfrm>
            <a:off x="640080" y="374904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Shape 20"/>
          <p:cNvSpPr/>
          <p:nvPr/>
        </p:nvSpPr>
        <p:spPr>
          <a:xfrm>
            <a:off x="914400" y="4041648"/>
            <a:ext cx="457200" cy="457200"/>
          </a:xfrm>
          <a:prstGeom prst="ellipse">
            <a:avLst/>
          </a:prstGeom>
          <a:solidFill>
            <a:srgbClr val="FBEFC9"/>
          </a:solidFill>
          <a:ln/>
        </p:spPr>
      </p:sp>
      <p:sp>
        <p:nvSpPr>
          <p:cNvPr id="23" name="Text 21"/>
          <p:cNvSpPr/>
          <p:nvPr/>
        </p:nvSpPr>
        <p:spPr>
          <a:xfrm>
            <a:off x="914400" y="4023360"/>
            <a:ext cx="457200" cy="457200"/>
          </a:xfrm>
          <a:prstGeom prst="rect">
            <a:avLst/>
          </a:prstGeom>
          <a:noFill/>
          <a:ln/>
        </p:spPr>
        <p:txBody>
          <a:bodyPr wrap="square" lIns="0" tIns="0" rIns="0" bIns="0" rtlCol="0" anchor="ctr"/>
          <a:lstStyle/>
          <a:p>
            <a:pPr algn="ctr" indent="0" marL="0">
              <a:buNone/>
            </a:pPr>
            <a:r>
              <a:rPr lang="en-US" sz="1700" b="1" dirty="0">
                <a:solidFill>
                  <a:srgbClr val="D4A017"/>
                </a:solidFill>
                <a:latin typeface="Cambria" pitchFamily="34" charset="0"/>
                <a:ea typeface="Cambria" pitchFamily="34" charset="-122"/>
                <a:cs typeface="Cambria" pitchFamily="34" charset="-120"/>
              </a:rPr>
              <a:t>4</a:t>
            </a:r>
            <a:endParaRPr lang="en-US" sz="1700" dirty="0"/>
          </a:p>
        </p:txBody>
      </p:sp>
      <p:sp>
        <p:nvSpPr>
          <p:cNvPr id="24" name="Text 22"/>
          <p:cNvSpPr/>
          <p:nvPr/>
        </p:nvSpPr>
        <p:spPr>
          <a:xfrm>
            <a:off x="914400" y="4590288"/>
            <a:ext cx="301752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Better citizen experience</a:t>
            </a:r>
            <a:endParaRPr lang="en-US" sz="1600" dirty="0"/>
          </a:p>
        </p:txBody>
      </p:sp>
      <p:sp>
        <p:nvSpPr>
          <p:cNvPr id="25" name="Text 23"/>
          <p:cNvSpPr/>
          <p:nvPr/>
        </p:nvSpPr>
        <p:spPr>
          <a:xfrm>
            <a:off x="914400" y="4974336"/>
            <a:ext cx="3063240" cy="457200"/>
          </a:xfrm>
          <a:prstGeom prst="rect">
            <a:avLst/>
          </a:prstGeom>
          <a:noFill/>
          <a:ln/>
        </p:spPr>
        <p:txBody>
          <a:bodyPr wrap="square" lIns="0" tIns="0" rIns="0" bIns="0" rtlCol="0" anchor="ctr"/>
          <a:lstStyle/>
          <a:p>
            <a:pPr indent="0" marL="0">
              <a:lnSpc>
                <a:spcPct val="100000"/>
              </a:lnSpc>
              <a:buNone/>
            </a:pPr>
            <a:r>
              <a:rPr lang="en-US" sz="1200" dirty="0">
                <a:solidFill>
                  <a:srgbClr val="64748B"/>
                </a:solidFill>
                <a:latin typeface="Calibri" pitchFamily="34" charset="0"/>
                <a:ea typeface="Calibri" pitchFamily="34" charset="-122"/>
                <a:cs typeface="Calibri" pitchFamily="34" charset="-120"/>
              </a:rPr>
              <a:t>No coins, no disputes; a modern, Arabic-first service citizens are proud of.</a:t>
            </a:r>
            <a:endParaRPr lang="en-US" sz="1200" dirty="0"/>
          </a:p>
        </p:txBody>
      </p:sp>
      <p:sp>
        <p:nvSpPr>
          <p:cNvPr id="26" name="Shape 24"/>
          <p:cNvSpPr/>
          <p:nvPr/>
        </p:nvSpPr>
        <p:spPr>
          <a:xfrm>
            <a:off x="4389120" y="374904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7" name="Shape 25"/>
          <p:cNvSpPr/>
          <p:nvPr/>
        </p:nvSpPr>
        <p:spPr>
          <a:xfrm>
            <a:off x="4663440" y="4041648"/>
            <a:ext cx="457200" cy="457200"/>
          </a:xfrm>
          <a:prstGeom prst="ellipse">
            <a:avLst/>
          </a:prstGeom>
          <a:solidFill>
            <a:srgbClr val="FBEFC9"/>
          </a:solidFill>
          <a:ln/>
        </p:spPr>
      </p:sp>
      <p:sp>
        <p:nvSpPr>
          <p:cNvPr id="28" name="Text 26"/>
          <p:cNvSpPr/>
          <p:nvPr/>
        </p:nvSpPr>
        <p:spPr>
          <a:xfrm>
            <a:off x="4663440" y="4023360"/>
            <a:ext cx="457200" cy="457200"/>
          </a:xfrm>
          <a:prstGeom prst="rect">
            <a:avLst/>
          </a:prstGeom>
          <a:noFill/>
          <a:ln/>
        </p:spPr>
        <p:txBody>
          <a:bodyPr wrap="square" lIns="0" tIns="0" rIns="0" bIns="0" rtlCol="0" anchor="ctr"/>
          <a:lstStyle/>
          <a:p>
            <a:pPr algn="ctr" indent="0" marL="0">
              <a:buNone/>
            </a:pPr>
            <a:r>
              <a:rPr lang="en-US" sz="1700" b="1" dirty="0">
                <a:solidFill>
                  <a:srgbClr val="D4A017"/>
                </a:solidFill>
                <a:latin typeface="Cambria" pitchFamily="34" charset="0"/>
                <a:ea typeface="Cambria" pitchFamily="34" charset="-122"/>
                <a:cs typeface="Cambria" pitchFamily="34" charset="-120"/>
              </a:rPr>
              <a:t>5</a:t>
            </a:r>
            <a:endParaRPr lang="en-US" sz="1700" dirty="0"/>
          </a:p>
        </p:txBody>
      </p:sp>
      <p:sp>
        <p:nvSpPr>
          <p:cNvPr id="29" name="Text 27"/>
          <p:cNvSpPr/>
          <p:nvPr/>
        </p:nvSpPr>
        <p:spPr>
          <a:xfrm>
            <a:off x="4663440" y="4590288"/>
            <a:ext cx="301752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Digital jobs</a:t>
            </a:r>
            <a:endParaRPr lang="en-US" sz="1600" dirty="0"/>
          </a:p>
        </p:txBody>
      </p:sp>
      <p:sp>
        <p:nvSpPr>
          <p:cNvPr id="30" name="Text 28"/>
          <p:cNvSpPr/>
          <p:nvPr/>
        </p:nvSpPr>
        <p:spPr>
          <a:xfrm>
            <a:off x="4663440" y="4974336"/>
            <a:ext cx="3063240" cy="457200"/>
          </a:xfrm>
          <a:prstGeom prst="rect">
            <a:avLst/>
          </a:prstGeom>
          <a:noFill/>
          <a:ln/>
        </p:spPr>
        <p:txBody>
          <a:bodyPr wrap="square" lIns="0" tIns="0" rIns="0" bIns="0" rtlCol="0" anchor="ctr"/>
          <a:lstStyle/>
          <a:p>
            <a:pPr indent="0" marL="0">
              <a:lnSpc>
                <a:spcPct val="100000"/>
              </a:lnSpc>
              <a:buNone/>
            </a:pPr>
            <a:r>
              <a:rPr lang="en-US" sz="1200" dirty="0">
                <a:solidFill>
                  <a:srgbClr val="64748B"/>
                </a:solidFill>
                <a:latin typeface="Calibri" pitchFamily="34" charset="0"/>
                <a:ea typeface="Calibri" pitchFamily="34" charset="-122"/>
                <a:cs typeface="Calibri" pitchFamily="34" charset="-120"/>
              </a:rPr>
              <a:t>Wardens become equipped digital field officers; new roles in operations.</a:t>
            </a:r>
            <a:endParaRPr lang="en-US" sz="1200" dirty="0"/>
          </a:p>
        </p:txBody>
      </p:sp>
      <p:sp>
        <p:nvSpPr>
          <p:cNvPr id="31" name="Shape 29"/>
          <p:cNvSpPr/>
          <p:nvPr/>
        </p:nvSpPr>
        <p:spPr>
          <a:xfrm>
            <a:off x="8138160" y="3749040"/>
            <a:ext cx="3566160" cy="1691640"/>
          </a:xfrm>
          <a:prstGeom prst="roundRect">
            <a:avLst>
              <a:gd name="adj" fmla="val 4865"/>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32" name="Shape 30"/>
          <p:cNvSpPr/>
          <p:nvPr/>
        </p:nvSpPr>
        <p:spPr>
          <a:xfrm>
            <a:off x="8412480" y="4041648"/>
            <a:ext cx="457200" cy="457200"/>
          </a:xfrm>
          <a:prstGeom prst="ellipse">
            <a:avLst/>
          </a:prstGeom>
          <a:solidFill>
            <a:srgbClr val="FBEFC9"/>
          </a:solidFill>
          <a:ln/>
        </p:spPr>
      </p:sp>
      <p:sp>
        <p:nvSpPr>
          <p:cNvPr id="33" name="Text 31"/>
          <p:cNvSpPr/>
          <p:nvPr/>
        </p:nvSpPr>
        <p:spPr>
          <a:xfrm>
            <a:off x="8412480" y="4023360"/>
            <a:ext cx="457200" cy="457200"/>
          </a:xfrm>
          <a:prstGeom prst="rect">
            <a:avLst/>
          </a:prstGeom>
          <a:noFill/>
          <a:ln/>
        </p:spPr>
        <p:txBody>
          <a:bodyPr wrap="square" lIns="0" tIns="0" rIns="0" bIns="0" rtlCol="0" anchor="ctr"/>
          <a:lstStyle/>
          <a:p>
            <a:pPr algn="ctr" indent="0" marL="0">
              <a:buNone/>
            </a:pPr>
            <a:r>
              <a:rPr lang="en-US" sz="1700" b="1" dirty="0">
                <a:solidFill>
                  <a:srgbClr val="D4A017"/>
                </a:solidFill>
                <a:latin typeface="Cambria" pitchFamily="34" charset="0"/>
                <a:ea typeface="Cambria" pitchFamily="34" charset="-122"/>
                <a:cs typeface="Cambria" pitchFamily="34" charset="-120"/>
              </a:rPr>
              <a:t>6</a:t>
            </a:r>
            <a:endParaRPr lang="en-US" sz="1700" dirty="0"/>
          </a:p>
        </p:txBody>
      </p:sp>
      <p:sp>
        <p:nvSpPr>
          <p:cNvPr id="34" name="Text 32"/>
          <p:cNvSpPr/>
          <p:nvPr/>
        </p:nvSpPr>
        <p:spPr>
          <a:xfrm>
            <a:off x="8412480" y="4590288"/>
            <a:ext cx="3017520" cy="41148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Smart-city foundation</a:t>
            </a:r>
            <a:endParaRPr lang="en-US" sz="1600" dirty="0"/>
          </a:p>
        </p:txBody>
      </p:sp>
      <p:sp>
        <p:nvSpPr>
          <p:cNvPr id="35" name="Text 33"/>
          <p:cNvSpPr/>
          <p:nvPr/>
        </p:nvSpPr>
        <p:spPr>
          <a:xfrm>
            <a:off x="8412480" y="4974336"/>
            <a:ext cx="3063240" cy="457200"/>
          </a:xfrm>
          <a:prstGeom prst="rect">
            <a:avLst/>
          </a:prstGeom>
          <a:noFill/>
          <a:ln/>
        </p:spPr>
        <p:txBody>
          <a:bodyPr wrap="square" lIns="0" tIns="0" rIns="0" bIns="0" rtlCol="0" anchor="ctr"/>
          <a:lstStyle/>
          <a:p>
            <a:pPr indent="0" marL="0">
              <a:lnSpc>
                <a:spcPct val="100000"/>
              </a:lnSpc>
              <a:buNone/>
            </a:pPr>
            <a:r>
              <a:rPr lang="en-US" sz="1200" dirty="0">
                <a:solidFill>
                  <a:srgbClr val="64748B"/>
                </a:solidFill>
                <a:latin typeface="Calibri" pitchFamily="34" charset="0"/>
                <a:ea typeface="Calibri" pitchFamily="34" charset="-122"/>
                <a:cs typeface="Calibri" pitchFamily="34" charset="-120"/>
              </a:rPr>
              <a:t>A clean data layer to extend into permits, congestion, and mobility planning.</a:t>
            </a:r>
            <a:endParaRPr lang="en-US" sz="1200" dirty="0"/>
          </a:p>
        </p:txBody>
      </p:sp>
      <p:sp>
        <p:nvSpPr>
          <p:cNvPr id="36" name="Text 34"/>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37" name="Text 35"/>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BUILD VS. BUY</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Why this platform, and why now.</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72800" cy="914400"/>
        </p:xfrm>
        <a:graphic>
          <a:graphicData uri="http://schemas.openxmlformats.org/drawingml/2006/table">
            <a:tbl>
              <a:tblPr/>
              <a:tblGrid>
                <a:gridCol w="3017520"/>
                <a:gridCol w="2743200"/>
                <a:gridCol w="2606040"/>
                <a:gridCol w="2606040"/>
              </a:tblGrid>
              <a:tr h="5486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Mawqif</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01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Build in-house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Foreign vendor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4213D"/>
                    </a:solidFill>
                  </a:tcPr>
                </a:tc>
              </a:tr>
              <a:tr h="548640">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Time to launch</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90 days (live now)</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12–18 months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6–12 months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Upfront cost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None — revenue share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High capex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License + FX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Arabic-first / RTL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Build it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Rarely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Sovereign data &amp; payments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Yes — in-country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Maybe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Inflation-pegged tariffs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Built-in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Build it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Sanctions-resilient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7A5C00"/>
                          </a:solidFill>
                          <a:latin typeface="Calibri" pitchFamily="34" charset="0"/>
                          <a:ea typeface="Calibri" pitchFamily="34" charset="-122"/>
                          <a:cs typeface="Calibri" pitchFamily="34" charset="-120"/>
                        </a:rPr>
                        <a:t>Yes — open-source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BEFC9"/>
                    </a:solidFill>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Depends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Exposed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Text 4"/>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8" name="Text 5"/>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D4A017"/>
          </a:solidFill>
          <a:ln/>
        </p:spPr>
      </p:sp>
      <p:sp>
        <p:nvSpPr>
          <p:cNvPr id="3" name="Text 1"/>
          <p:cNvSpPr/>
          <p:nvPr/>
        </p:nvSpPr>
        <p:spPr>
          <a:xfrm>
            <a:off x="640080" y="484632"/>
            <a:ext cx="457200" cy="457200"/>
          </a:xfrm>
          <a:prstGeom prst="rect">
            <a:avLst/>
          </a:prstGeom>
          <a:noFill/>
          <a:ln/>
        </p:spPr>
        <p:txBody>
          <a:bodyPr wrap="square" rtlCol="0" anchor="ctr"/>
          <a:lstStyle/>
          <a:p>
            <a:pPr algn="ctr" indent="0" marL="0">
              <a:buNone/>
            </a:pPr>
            <a:r>
              <a:rPr lang="en-US" sz="1300" b="1" dirty="0">
                <a:solidFill>
                  <a:srgbClr val="0B1220"/>
                </a:solidFill>
                <a:latin typeface="Cambria" pitchFamily="34" charset="0"/>
                <a:ea typeface="Cambria" pitchFamily="34" charset="-122"/>
                <a:cs typeface="Cambria" pitchFamily="34" charset="-120"/>
              </a:rPr>
              <a:t>م</a:t>
            </a:r>
            <a:endParaRPr lang="en-US" sz="1300" dirty="0"/>
          </a:p>
        </p:txBody>
      </p:sp>
      <p:sp>
        <p:nvSpPr>
          <p:cNvPr id="4" name="Text 2"/>
          <p:cNvSpPr/>
          <p:nvPr/>
        </p:nvSpPr>
        <p:spPr>
          <a:xfrm>
            <a:off x="1298448" y="457200"/>
            <a:ext cx="10058400" cy="274320"/>
          </a:xfrm>
          <a:prstGeom prst="rect">
            <a:avLst/>
          </a:prstGeom>
          <a:noFill/>
          <a:ln/>
        </p:spPr>
        <p:txBody>
          <a:bodyPr wrap="square" lIns="0" tIns="0" rIns="0" bIns="0"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ROLLOUT</a:t>
            </a:r>
            <a:endParaRPr lang="en-US" sz="1100" dirty="0"/>
          </a:p>
        </p:txBody>
      </p:sp>
      <p:sp>
        <p:nvSpPr>
          <p:cNvPr id="5" name="Text 3"/>
          <p:cNvSpPr/>
          <p:nvPr/>
        </p:nvSpPr>
        <p:spPr>
          <a:xfrm>
            <a:off x="1298448" y="713232"/>
            <a:ext cx="10607040" cy="73152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A phased path from pilot to national.</a:t>
            </a:r>
            <a:endParaRPr lang="en-US" sz="3000" dirty="0"/>
          </a:p>
        </p:txBody>
      </p:sp>
      <p:sp>
        <p:nvSpPr>
          <p:cNvPr id="6" name="Shape 4"/>
          <p:cNvSpPr/>
          <p:nvPr/>
        </p:nvSpPr>
        <p:spPr>
          <a:xfrm>
            <a:off x="1554480" y="3063240"/>
            <a:ext cx="9326880" cy="0"/>
          </a:xfrm>
          <a:prstGeom prst="line">
            <a:avLst/>
          </a:prstGeom>
          <a:noFill/>
          <a:ln w="25400">
            <a:solidFill>
              <a:srgbClr val="E2E8F0"/>
            </a:solidFill>
            <a:prstDash val="solid"/>
          </a:ln>
        </p:spPr>
      </p:sp>
      <p:sp>
        <p:nvSpPr>
          <p:cNvPr id="7" name="Shape 5"/>
          <p:cNvSpPr/>
          <p:nvPr/>
        </p:nvSpPr>
        <p:spPr>
          <a:xfrm>
            <a:off x="1143000" y="2697480"/>
            <a:ext cx="731520" cy="731520"/>
          </a:xfrm>
          <a:prstGeom prst="ellipse">
            <a:avLst/>
          </a:prstGeom>
          <a:solidFill>
            <a:srgbClr val="D4A017"/>
          </a:solidFill>
          <a:ln/>
        </p:spPr>
      </p:sp>
      <p:sp>
        <p:nvSpPr>
          <p:cNvPr id="8" name="Text 6"/>
          <p:cNvSpPr/>
          <p:nvPr/>
        </p:nvSpPr>
        <p:spPr>
          <a:xfrm>
            <a:off x="1143000" y="2697480"/>
            <a:ext cx="731520" cy="731520"/>
          </a:xfrm>
          <a:prstGeom prst="rect">
            <a:avLst/>
          </a:prstGeom>
          <a:noFill/>
          <a:ln/>
        </p:spPr>
        <p:txBody>
          <a:bodyPr wrap="square" lIns="0" tIns="0" rIns="0" bIns="0" rtlCol="0" anchor="ctr"/>
          <a:lstStyle/>
          <a:p>
            <a:pPr algn="ctr" indent="0" marL="0">
              <a:buNone/>
            </a:pPr>
            <a:r>
              <a:rPr lang="en-US" sz="2400" b="1" dirty="0">
                <a:solidFill>
                  <a:srgbClr val="0B1220"/>
                </a:solidFill>
                <a:latin typeface="Cambria" pitchFamily="34" charset="0"/>
                <a:ea typeface="Cambria" pitchFamily="34" charset="-122"/>
                <a:cs typeface="Cambria" pitchFamily="34" charset="-120"/>
              </a:rPr>
              <a:t>1</a:t>
            </a:r>
            <a:endParaRPr lang="en-US" sz="2400" dirty="0"/>
          </a:p>
        </p:txBody>
      </p:sp>
      <p:sp>
        <p:nvSpPr>
          <p:cNvPr id="9" name="Shape 7"/>
          <p:cNvSpPr/>
          <p:nvPr/>
        </p:nvSpPr>
        <p:spPr>
          <a:xfrm>
            <a:off x="640080" y="3657600"/>
            <a:ext cx="3429000" cy="2011680"/>
          </a:xfrm>
          <a:prstGeom prst="roundRect">
            <a:avLst>
              <a:gd name="adj" fmla="val 4091"/>
            </a:avLst>
          </a:prstGeom>
          <a:solidFill>
            <a:srgbClr val="F4F7FB"/>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0" name="Text 8"/>
          <p:cNvSpPr/>
          <p:nvPr/>
        </p:nvSpPr>
        <p:spPr>
          <a:xfrm>
            <a:off x="914400" y="3840480"/>
            <a:ext cx="2926080" cy="274320"/>
          </a:xfrm>
          <a:prstGeom prst="rect">
            <a:avLst/>
          </a:prstGeom>
          <a:noFill/>
          <a:ln/>
        </p:spPr>
        <p:txBody>
          <a:bodyPr wrap="square" lIns="0" tIns="0" rIns="0" bIns="0" rtlCol="0" anchor="ctr"/>
          <a:lstStyle/>
          <a:p>
            <a:pPr indent="0" marL="0">
              <a:buNone/>
            </a:pPr>
            <a:r>
              <a:rPr lang="en-US" sz="1100" b="1" spc="200" kern="0" dirty="0">
                <a:solidFill>
                  <a:srgbClr val="D4A017"/>
                </a:solidFill>
                <a:latin typeface="Calibri" pitchFamily="34" charset="0"/>
                <a:ea typeface="Calibri" pitchFamily="34" charset="-122"/>
                <a:cs typeface="Calibri" pitchFamily="34" charset="-120"/>
              </a:rPr>
              <a:t>PHASE 1</a:t>
            </a:r>
            <a:endParaRPr lang="en-US" sz="1100" dirty="0"/>
          </a:p>
        </p:txBody>
      </p:sp>
      <p:sp>
        <p:nvSpPr>
          <p:cNvPr id="11" name="Text 9"/>
          <p:cNvSpPr/>
          <p:nvPr/>
        </p:nvSpPr>
        <p:spPr>
          <a:xfrm>
            <a:off x="914400" y="4096512"/>
            <a:ext cx="2926080" cy="457200"/>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90-day pilot</a:t>
            </a:r>
            <a:endParaRPr lang="en-US" sz="1900" dirty="0"/>
          </a:p>
        </p:txBody>
      </p:sp>
      <p:sp>
        <p:nvSpPr>
          <p:cNvPr id="12" name="Text 10"/>
          <p:cNvSpPr/>
          <p:nvPr/>
        </p:nvSpPr>
        <p:spPr>
          <a:xfrm>
            <a:off x="914400" y="4572000"/>
            <a:ext cx="2971800" cy="1005840"/>
          </a:xfrm>
          <a:prstGeom prst="rect">
            <a:avLst/>
          </a:prstGeom>
          <a:noFill/>
          <a:ln/>
        </p:spPr>
        <p:txBody>
          <a:bodyPr wrap="square" lIns="0" tIns="0" rIns="0" bIns="0" rtlCol="0" anchor="ctr"/>
          <a:lstStyle/>
          <a:p>
            <a:pPr indent="0" marL="0">
              <a:lnSpc>
                <a:spcPct val="104000"/>
              </a:lnSpc>
              <a:buNone/>
            </a:pPr>
            <a:r>
              <a:rPr lang="en-US" sz="1250" dirty="0">
                <a:solidFill>
                  <a:srgbClr val="64748B"/>
                </a:solidFill>
                <a:latin typeface="Calibri" pitchFamily="34" charset="0"/>
                <a:ea typeface="Calibri" pitchFamily="34" charset="-122"/>
                <a:cs typeface="Calibri" pitchFamily="34" charset="-120"/>
              </a:rPr>
              <a:t>Shaalan, Mezzeh &amp; Kafarsouseh. Prove revenue, enforcement, and citizen uptake on a live dashboard.</a:t>
            </a:r>
            <a:endParaRPr lang="en-US" sz="1250" dirty="0"/>
          </a:p>
        </p:txBody>
      </p:sp>
      <p:sp>
        <p:nvSpPr>
          <p:cNvPr id="13" name="Shape 11"/>
          <p:cNvSpPr/>
          <p:nvPr/>
        </p:nvSpPr>
        <p:spPr>
          <a:xfrm>
            <a:off x="4892040" y="2697480"/>
            <a:ext cx="731520" cy="731520"/>
          </a:xfrm>
          <a:prstGeom prst="ellipse">
            <a:avLst/>
          </a:prstGeom>
          <a:solidFill>
            <a:srgbClr val="0B1220"/>
          </a:solidFill>
          <a:ln/>
        </p:spPr>
      </p:sp>
      <p:sp>
        <p:nvSpPr>
          <p:cNvPr id="14" name="Text 12"/>
          <p:cNvSpPr/>
          <p:nvPr/>
        </p:nvSpPr>
        <p:spPr>
          <a:xfrm>
            <a:off x="4892040" y="2697480"/>
            <a:ext cx="731520" cy="731520"/>
          </a:xfrm>
          <a:prstGeom prst="rect">
            <a:avLst/>
          </a:prstGeom>
          <a:noFill/>
          <a:ln/>
        </p:spPr>
        <p:txBody>
          <a:bodyPr wrap="square" lIns="0" tIns="0" rIns="0" bIns="0" rtlCol="0" anchor="ctr"/>
          <a:lstStyle/>
          <a:p>
            <a:pPr algn="ctr" indent="0" marL="0">
              <a:buNone/>
            </a:pPr>
            <a:r>
              <a:rPr lang="en-US" sz="2400" b="1" dirty="0">
                <a:solidFill>
                  <a:srgbClr val="D4A017"/>
                </a:solidFill>
                <a:latin typeface="Cambria" pitchFamily="34" charset="0"/>
                <a:ea typeface="Cambria" pitchFamily="34" charset="-122"/>
                <a:cs typeface="Cambria" pitchFamily="34" charset="-120"/>
              </a:rPr>
              <a:t>2</a:t>
            </a:r>
            <a:endParaRPr lang="en-US" sz="2400" dirty="0"/>
          </a:p>
        </p:txBody>
      </p:sp>
      <p:sp>
        <p:nvSpPr>
          <p:cNvPr id="15" name="Shape 13"/>
          <p:cNvSpPr/>
          <p:nvPr/>
        </p:nvSpPr>
        <p:spPr>
          <a:xfrm>
            <a:off x="4389120" y="3657600"/>
            <a:ext cx="3429000" cy="2011680"/>
          </a:xfrm>
          <a:prstGeom prst="roundRect">
            <a:avLst>
              <a:gd name="adj" fmla="val 4091"/>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16" name="Text 14"/>
          <p:cNvSpPr/>
          <p:nvPr/>
        </p:nvSpPr>
        <p:spPr>
          <a:xfrm>
            <a:off x="4663440" y="3840480"/>
            <a:ext cx="2926080" cy="274320"/>
          </a:xfrm>
          <a:prstGeom prst="rect">
            <a:avLst/>
          </a:prstGeom>
          <a:noFill/>
          <a:ln/>
        </p:spPr>
        <p:txBody>
          <a:bodyPr wrap="square" lIns="0" tIns="0" rIns="0" bIns="0" rtlCol="0" anchor="ctr"/>
          <a:lstStyle/>
          <a:p>
            <a:pPr indent="0" marL="0">
              <a:buNone/>
            </a:pPr>
            <a:r>
              <a:rPr lang="en-US" sz="1100" b="1" spc="200" kern="0" dirty="0">
                <a:solidFill>
                  <a:srgbClr val="D4A017"/>
                </a:solidFill>
                <a:latin typeface="Calibri" pitchFamily="34" charset="0"/>
                <a:ea typeface="Calibri" pitchFamily="34" charset="-122"/>
                <a:cs typeface="Calibri" pitchFamily="34" charset="-120"/>
              </a:rPr>
              <a:t>PHASE 2</a:t>
            </a:r>
            <a:endParaRPr lang="en-US" sz="1100" dirty="0"/>
          </a:p>
        </p:txBody>
      </p:sp>
      <p:sp>
        <p:nvSpPr>
          <p:cNvPr id="17" name="Text 15"/>
          <p:cNvSpPr/>
          <p:nvPr/>
        </p:nvSpPr>
        <p:spPr>
          <a:xfrm>
            <a:off x="4663440" y="4096512"/>
            <a:ext cx="2926080" cy="457200"/>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Damascus-wide</a:t>
            </a:r>
            <a:endParaRPr lang="en-US" sz="1900" dirty="0"/>
          </a:p>
        </p:txBody>
      </p:sp>
      <p:sp>
        <p:nvSpPr>
          <p:cNvPr id="18" name="Text 16"/>
          <p:cNvSpPr/>
          <p:nvPr/>
        </p:nvSpPr>
        <p:spPr>
          <a:xfrm>
            <a:off x="4663440" y="4572000"/>
            <a:ext cx="2971800" cy="1005840"/>
          </a:xfrm>
          <a:prstGeom prst="rect">
            <a:avLst/>
          </a:prstGeom>
          <a:noFill/>
          <a:ln/>
        </p:spPr>
        <p:txBody>
          <a:bodyPr wrap="square" lIns="0" tIns="0" rIns="0" bIns="0" rtlCol="0" anchor="ctr"/>
          <a:lstStyle/>
          <a:p>
            <a:pPr indent="0" marL="0">
              <a:lnSpc>
                <a:spcPct val="104000"/>
              </a:lnSpc>
              <a:buNone/>
            </a:pPr>
            <a:r>
              <a:rPr lang="en-US" sz="1250" dirty="0">
                <a:solidFill>
                  <a:srgbClr val="64748B"/>
                </a:solidFill>
                <a:latin typeface="Calibri" pitchFamily="34" charset="0"/>
                <a:ea typeface="Calibri" pitchFamily="34" charset="-122"/>
                <a:cs typeface="Calibri" pitchFamily="34" charset="-120"/>
              </a:rPr>
              <a:t>Scale zones across the capital; integrate the national payment network and onboard the warden corps.</a:t>
            </a:r>
            <a:endParaRPr lang="en-US" sz="1250" dirty="0"/>
          </a:p>
        </p:txBody>
      </p:sp>
      <p:sp>
        <p:nvSpPr>
          <p:cNvPr id="19" name="Shape 17"/>
          <p:cNvSpPr/>
          <p:nvPr/>
        </p:nvSpPr>
        <p:spPr>
          <a:xfrm>
            <a:off x="8641080" y="2697480"/>
            <a:ext cx="731520" cy="731520"/>
          </a:xfrm>
          <a:prstGeom prst="ellipse">
            <a:avLst/>
          </a:prstGeom>
          <a:solidFill>
            <a:srgbClr val="0B1220"/>
          </a:solidFill>
          <a:ln/>
        </p:spPr>
      </p:sp>
      <p:sp>
        <p:nvSpPr>
          <p:cNvPr id="20" name="Text 18"/>
          <p:cNvSpPr/>
          <p:nvPr/>
        </p:nvSpPr>
        <p:spPr>
          <a:xfrm>
            <a:off x="8641080" y="2697480"/>
            <a:ext cx="731520" cy="731520"/>
          </a:xfrm>
          <a:prstGeom prst="rect">
            <a:avLst/>
          </a:prstGeom>
          <a:noFill/>
          <a:ln/>
        </p:spPr>
        <p:txBody>
          <a:bodyPr wrap="square" lIns="0" tIns="0" rIns="0" bIns="0" rtlCol="0" anchor="ctr"/>
          <a:lstStyle/>
          <a:p>
            <a:pPr algn="ctr" indent="0" marL="0">
              <a:buNone/>
            </a:pPr>
            <a:r>
              <a:rPr lang="en-US" sz="2400" b="1" dirty="0">
                <a:solidFill>
                  <a:srgbClr val="D4A017"/>
                </a:solidFill>
                <a:latin typeface="Cambria" pitchFamily="34" charset="0"/>
                <a:ea typeface="Cambria" pitchFamily="34" charset="-122"/>
                <a:cs typeface="Cambria" pitchFamily="34" charset="-120"/>
              </a:rPr>
              <a:t>3</a:t>
            </a:r>
            <a:endParaRPr lang="en-US" sz="2400" dirty="0"/>
          </a:p>
        </p:txBody>
      </p:sp>
      <p:sp>
        <p:nvSpPr>
          <p:cNvPr id="21" name="Shape 19"/>
          <p:cNvSpPr/>
          <p:nvPr/>
        </p:nvSpPr>
        <p:spPr>
          <a:xfrm>
            <a:off x="8138160" y="3657600"/>
            <a:ext cx="3429000" cy="2011680"/>
          </a:xfrm>
          <a:prstGeom prst="roundRect">
            <a:avLst>
              <a:gd name="adj" fmla="val 4091"/>
            </a:avLst>
          </a:prstGeom>
          <a:solidFill>
            <a:srgbClr val="FFFFFF"/>
          </a:solidFill>
          <a:ln w="12700">
            <a:solidFill>
              <a:srgbClr val="E2E8F0"/>
            </a:solidFill>
            <a:prstDash val="solid"/>
          </a:ln>
          <a:effectLst>
            <a:outerShdw sx="100000" sy="100000" kx="0" ky="0" algn="bl" rotWithShape="0" blurRad="114300" dist="38100" dir="5400000">
              <a:srgbClr val="0B1220">
                <a:alpha val="16000"/>
              </a:srgbClr>
            </a:outerShdw>
          </a:effectLst>
        </p:spPr>
      </p:sp>
      <p:sp>
        <p:nvSpPr>
          <p:cNvPr id="22" name="Text 20"/>
          <p:cNvSpPr/>
          <p:nvPr/>
        </p:nvSpPr>
        <p:spPr>
          <a:xfrm>
            <a:off x="8412480" y="3840480"/>
            <a:ext cx="2926080" cy="274320"/>
          </a:xfrm>
          <a:prstGeom prst="rect">
            <a:avLst/>
          </a:prstGeom>
          <a:noFill/>
          <a:ln/>
        </p:spPr>
        <p:txBody>
          <a:bodyPr wrap="square" lIns="0" tIns="0" rIns="0" bIns="0" rtlCol="0" anchor="ctr"/>
          <a:lstStyle/>
          <a:p>
            <a:pPr indent="0" marL="0">
              <a:buNone/>
            </a:pPr>
            <a:r>
              <a:rPr lang="en-US" sz="1100" b="1" spc="200" kern="0" dirty="0">
                <a:solidFill>
                  <a:srgbClr val="D4A017"/>
                </a:solidFill>
                <a:latin typeface="Calibri" pitchFamily="34" charset="0"/>
                <a:ea typeface="Calibri" pitchFamily="34" charset="-122"/>
                <a:cs typeface="Calibri" pitchFamily="34" charset="-120"/>
              </a:rPr>
              <a:t>PHASE 3</a:t>
            </a:r>
            <a:endParaRPr lang="en-US" sz="1100" dirty="0"/>
          </a:p>
        </p:txBody>
      </p:sp>
      <p:sp>
        <p:nvSpPr>
          <p:cNvPr id="23" name="Text 21"/>
          <p:cNvSpPr/>
          <p:nvPr/>
        </p:nvSpPr>
        <p:spPr>
          <a:xfrm>
            <a:off x="8412480" y="4096512"/>
            <a:ext cx="2926080" cy="457200"/>
          </a:xfrm>
          <a:prstGeom prst="rect">
            <a:avLst/>
          </a:prstGeom>
          <a:noFill/>
          <a:ln/>
        </p:spPr>
        <p:txBody>
          <a:bodyPr wrap="square" lIns="0" tIns="0" rIns="0" bIns="0" rtlCol="0" anchor="ctr"/>
          <a:lstStyle/>
          <a:p>
            <a:pPr indent="0" marL="0">
              <a:buNone/>
            </a:pPr>
            <a:r>
              <a:rPr lang="en-US" sz="1900" b="1" dirty="0">
                <a:solidFill>
                  <a:srgbClr val="0F172A"/>
                </a:solidFill>
                <a:latin typeface="Cambria" pitchFamily="34" charset="0"/>
                <a:ea typeface="Cambria" pitchFamily="34" charset="-122"/>
                <a:cs typeface="Cambria" pitchFamily="34" charset="-120"/>
              </a:rPr>
              <a:t>National + registry</a:t>
            </a:r>
            <a:endParaRPr lang="en-US" sz="1900" dirty="0"/>
          </a:p>
        </p:txBody>
      </p:sp>
      <p:sp>
        <p:nvSpPr>
          <p:cNvPr id="24" name="Text 22"/>
          <p:cNvSpPr/>
          <p:nvPr/>
        </p:nvSpPr>
        <p:spPr>
          <a:xfrm>
            <a:off x="8412480" y="4572000"/>
            <a:ext cx="2971800" cy="1005840"/>
          </a:xfrm>
          <a:prstGeom prst="rect">
            <a:avLst/>
          </a:prstGeom>
          <a:noFill/>
          <a:ln/>
        </p:spPr>
        <p:txBody>
          <a:bodyPr wrap="square" lIns="0" tIns="0" rIns="0" bIns="0" rtlCol="0" anchor="ctr"/>
          <a:lstStyle/>
          <a:p>
            <a:pPr indent="0" marL="0">
              <a:lnSpc>
                <a:spcPct val="104000"/>
              </a:lnSpc>
              <a:buNone/>
            </a:pPr>
            <a:r>
              <a:rPr lang="en-US" sz="1250" dirty="0">
                <a:solidFill>
                  <a:srgbClr val="64748B"/>
                </a:solidFill>
                <a:latin typeface="Calibri" pitchFamily="34" charset="0"/>
                <a:ea typeface="Calibri" pitchFamily="34" charset="-122"/>
                <a:cs typeface="Calibri" pitchFamily="34" charset="-120"/>
              </a:rPr>
              <a:t>Extend to other governorates and wire the live Ministry of Transport vehicle registry.</a:t>
            </a:r>
            <a:endParaRPr lang="en-US" sz="1250" dirty="0"/>
          </a:p>
        </p:txBody>
      </p:sp>
      <p:sp>
        <p:nvSpPr>
          <p:cNvPr id="25" name="Text 23"/>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Mawqif · موقف   ·   Damascus Smart Parking</a:t>
            </a:r>
            <a:endParaRPr lang="en-US" sz="900" dirty="0"/>
          </a:p>
        </p:txBody>
      </p:sp>
      <p:sp>
        <p:nvSpPr>
          <p:cNvPr id="26" name="Text 24"/>
          <p:cNvSpPr/>
          <p:nvPr/>
        </p:nvSpPr>
        <p:spPr>
          <a:xfrm>
            <a:off x="11000232" y="6473952"/>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94560"/>
            <a:ext cx="6400800" cy="6400800"/>
          </a:xfrm>
          <a:prstGeom prst="ellipse">
            <a:avLst/>
          </a:prstGeom>
          <a:solidFill>
            <a:srgbClr val="14213D"/>
          </a:solidFill>
          <a:ln/>
        </p:spPr>
      </p:sp>
      <p:sp>
        <p:nvSpPr>
          <p:cNvPr id="3" name="Shape 1"/>
          <p:cNvSpPr/>
          <p:nvPr/>
        </p:nvSpPr>
        <p:spPr>
          <a:xfrm>
            <a:off x="640080" y="594360"/>
            <a:ext cx="640080" cy="640080"/>
          </a:xfrm>
          <a:prstGeom prst="ellipse">
            <a:avLst/>
          </a:prstGeom>
          <a:solidFill>
            <a:srgbClr val="D4A017"/>
          </a:solidFill>
          <a:ln/>
        </p:spPr>
      </p:sp>
      <p:sp>
        <p:nvSpPr>
          <p:cNvPr id="4" name="Text 2"/>
          <p:cNvSpPr/>
          <p:nvPr/>
        </p:nvSpPr>
        <p:spPr>
          <a:xfrm>
            <a:off x="640080" y="576072"/>
            <a:ext cx="640080" cy="640080"/>
          </a:xfrm>
          <a:prstGeom prst="rect">
            <a:avLst/>
          </a:prstGeom>
          <a:noFill/>
          <a:ln/>
        </p:spPr>
        <p:txBody>
          <a:bodyPr wrap="square" rtlCol="0" anchor="ctr"/>
          <a:lstStyle/>
          <a:p>
            <a:pPr algn="ctr" indent="0" marL="0">
              <a:buNone/>
            </a:pPr>
            <a:r>
              <a:rPr lang="en-US" sz="1820" b="1" dirty="0">
                <a:solidFill>
                  <a:srgbClr val="0B1220"/>
                </a:solidFill>
                <a:latin typeface="Cambria" pitchFamily="34" charset="0"/>
                <a:ea typeface="Cambria" pitchFamily="34" charset="-122"/>
                <a:cs typeface="Cambria" pitchFamily="34" charset="-120"/>
              </a:rPr>
              <a:t>م</a:t>
            </a:r>
            <a:endParaRPr lang="en-US" sz="1820" dirty="0"/>
          </a:p>
        </p:txBody>
      </p:sp>
      <p:sp>
        <p:nvSpPr>
          <p:cNvPr id="5" name="Text 3"/>
          <p:cNvSpPr/>
          <p:nvPr/>
        </p:nvSpPr>
        <p:spPr>
          <a:xfrm>
            <a:off x="1508760" y="713232"/>
            <a:ext cx="7315200" cy="365760"/>
          </a:xfrm>
          <a:prstGeom prst="rect">
            <a:avLst/>
          </a:prstGeom>
          <a:noFill/>
          <a:ln/>
        </p:spPr>
        <p:txBody>
          <a:bodyPr wrap="square" lIns="0" tIns="0" rIns="0" bIns="0" rtlCol="0" anchor="ctr"/>
          <a:lstStyle/>
          <a:p>
            <a:pPr indent="0" marL="0">
              <a:buNone/>
            </a:pPr>
            <a:r>
              <a:rPr lang="en-US" sz="1300" b="1" spc="300" kern="0" dirty="0">
                <a:solidFill>
                  <a:srgbClr val="D4A017"/>
                </a:solidFill>
                <a:latin typeface="Calibri" pitchFamily="34" charset="0"/>
                <a:ea typeface="Calibri" pitchFamily="34" charset="-122"/>
                <a:cs typeface="Calibri" pitchFamily="34" charset="-120"/>
              </a:rPr>
              <a:t>THE ASK</a:t>
            </a:r>
            <a:endParaRPr lang="en-US" sz="1300" dirty="0"/>
          </a:p>
        </p:txBody>
      </p:sp>
      <p:sp>
        <p:nvSpPr>
          <p:cNvPr id="6" name="Text 4"/>
          <p:cNvSpPr/>
          <p:nvPr/>
        </p:nvSpPr>
        <p:spPr>
          <a:xfrm>
            <a:off x="640080" y="1554480"/>
            <a:ext cx="10789920" cy="1280160"/>
          </a:xfrm>
          <a:prstGeom prst="rect">
            <a:avLst/>
          </a:prstGeom>
          <a:noFill/>
          <a:ln/>
        </p:spPr>
        <p:txBody>
          <a:bodyPr wrap="square" lIns="0" tIns="0" rIns="0" bIns="0" rtlCol="0" anchor="ctr"/>
          <a:lstStyle/>
          <a:p>
            <a:pPr indent="0" marL="0">
              <a:lnSpc>
                <a:spcPct val="100000"/>
              </a:lnSpc>
              <a:buNone/>
            </a:pPr>
            <a:r>
              <a:rPr lang="en-US" sz="3300" b="1" dirty="0">
                <a:solidFill>
                  <a:srgbClr val="FFFFFF"/>
                </a:solidFill>
                <a:latin typeface="Cambria" pitchFamily="34" charset="0"/>
                <a:ea typeface="Cambria" pitchFamily="34" charset="-122"/>
                <a:cs typeface="Cambria" pitchFamily="34" charset="-120"/>
              </a:rPr>
              <a:t>Approve a 90-day pilot in three Damascus zones.</a:t>
            </a:r>
            <a:endParaRPr lang="en-US" sz="3300" dirty="0"/>
          </a:p>
        </p:txBody>
      </p:sp>
      <p:sp>
        <p:nvSpPr>
          <p:cNvPr id="7" name="Text 5"/>
          <p:cNvSpPr/>
          <p:nvPr/>
        </p:nvSpPr>
        <p:spPr>
          <a:xfrm>
            <a:off x="640080" y="2971800"/>
            <a:ext cx="5120640" cy="27432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WHAT WE NEED FROM YOU</a:t>
            </a:r>
            <a:endParaRPr lang="en-US" sz="1200" dirty="0"/>
          </a:p>
        </p:txBody>
      </p:sp>
      <p:sp>
        <p:nvSpPr>
          <p:cNvPr id="8" name="Text 6"/>
          <p:cNvSpPr/>
          <p:nvPr/>
        </p:nvSpPr>
        <p:spPr>
          <a:xfrm>
            <a:off x="640080" y="3291840"/>
            <a:ext cx="5120640" cy="18288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Authorization for 3 pilot zones</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Enforcement coordination (wardens)</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Intro to the national payment network</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A path to the MoT vehicle registry</a:t>
            </a:r>
            <a:endParaRPr lang="en-US" sz="1450" dirty="0"/>
          </a:p>
        </p:txBody>
      </p:sp>
      <p:sp>
        <p:nvSpPr>
          <p:cNvPr id="9" name="Text 7"/>
          <p:cNvSpPr/>
          <p:nvPr/>
        </p:nvSpPr>
        <p:spPr>
          <a:xfrm>
            <a:off x="6492240" y="2971800"/>
            <a:ext cx="5120640" cy="27432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WHAT YOU GET</a:t>
            </a:r>
            <a:endParaRPr lang="en-US" sz="1200" dirty="0"/>
          </a:p>
        </p:txBody>
      </p:sp>
      <p:sp>
        <p:nvSpPr>
          <p:cNvPr id="10" name="Text 8"/>
          <p:cNvSpPr/>
          <p:nvPr/>
        </p:nvSpPr>
        <p:spPr>
          <a:xfrm>
            <a:off x="6492240" y="3291840"/>
            <a:ext cx="5120640" cy="18288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Live revenue + dashboard in 90 days</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Zero upfront cost — pay as you collect</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60% of every dinar, fully audited</a:t>
            </a:r>
            <a:endParaRPr lang="en-US" sz="1450" dirty="0"/>
          </a:p>
          <a:p>
            <a:pPr marL="342900" indent="-342900">
              <a:spcAft>
                <a:spcPts val="600"/>
              </a:spcAft>
              <a:buSzPct val="100000"/>
              <a:buChar char="•"/>
            </a:pPr>
            <a:r>
              <a:rPr lang="en-US" sz="1450" dirty="0">
                <a:solidFill>
                  <a:srgbClr val="E2E8F0"/>
                </a:solidFill>
                <a:latin typeface="Calibri" pitchFamily="34" charset="0"/>
                <a:ea typeface="Calibri" pitchFamily="34" charset="-122"/>
                <a:cs typeface="Calibri" pitchFamily="34" charset="-120"/>
              </a:rPr>
              <a:t>A sovereign asset the city owns</a:t>
            </a:r>
            <a:endParaRPr lang="en-US" sz="1450" dirty="0"/>
          </a:p>
        </p:txBody>
      </p:sp>
      <p:sp>
        <p:nvSpPr>
          <p:cNvPr id="11" name="Shape 9"/>
          <p:cNvSpPr/>
          <p:nvPr/>
        </p:nvSpPr>
        <p:spPr>
          <a:xfrm>
            <a:off x="640080" y="5532120"/>
            <a:ext cx="10881360" cy="0"/>
          </a:xfrm>
          <a:prstGeom prst="line">
            <a:avLst/>
          </a:prstGeom>
          <a:noFill/>
          <a:ln w="12700">
            <a:solidFill>
              <a:srgbClr val="23304D"/>
            </a:solidFill>
            <a:prstDash val="solid"/>
          </a:ln>
        </p:spPr>
      </p:sp>
      <p:sp>
        <p:nvSpPr>
          <p:cNvPr id="12" name="Text 10"/>
          <p:cNvSpPr/>
          <p:nvPr/>
        </p:nvSpPr>
        <p:spPr>
          <a:xfrm>
            <a:off x="640080" y="5715000"/>
            <a:ext cx="1088136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See it live today:  </a:t>
            </a:r>
            <a:pPr indent="0" marL="0">
              <a:buNone/>
            </a:pPr>
            <a:r>
              <a:rPr lang="en-US" sz="1600" b="1" dirty="0">
                <a:solidFill>
                  <a:srgbClr val="F59E0B"/>
                </a:solidFill>
                <a:latin typeface="Calibri" pitchFamily="34" charset="0"/>
                <a:ea typeface="Calibri" pitchFamily="34" charset="-122"/>
                <a:cs typeface="Calibri" pitchFamily="34" charset="-120"/>
              </a:rPr>
              <a:t>damascus-park.vercel.app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Mawqif — Damascus Smart Parking · Phase-1 Pitch</dc:title>
  <dc:subject>PptxGenJS Presentation</dc:subject>
  <dc:creator>Mawqif</dc:creator>
  <cp:lastModifiedBy>Mawqif</cp:lastModifiedBy>
  <cp:revision>1</cp:revision>
  <dcterms:created xsi:type="dcterms:W3CDTF">2026-06-28T19:40:49Z</dcterms:created>
  <dcterms:modified xsi:type="dcterms:W3CDTF">2026-06-28T19:40:49Z</dcterms:modified>
</cp:coreProperties>
</file>