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سعر الساعة (نقاط) حسب المنطقة</a:t>
            </a:r>
          </a:p>
        </c:rich>
      </c:tx>
      <c:layout/>
      <c:overlay val="0"/>
    </c:title>
    <c:autoTitleDeleted val="0"/>
    <c:plotArea>
      <c:layout/>
      <c:barChart>
        <c:barDir val="col"/>
        <c:grouping val="clustered"/>
        <c:varyColors val="0"/>
        <c:ser>
          <c:idx val="0"/>
          <c:order val="0"/>
          <c:tx>
            <c:strRef>
              <c:f>Sheet1!$B$1</c:f>
              <c:strCache>
                <c:ptCount val="1"/>
                <c:pt idx="0">
                  <c:v>بنزين 5,000 ل.س/ل</c:v>
                </c:pt>
              </c:strCache>
            </c:strRef>
          </c:tx>
          <c:spPr>
            <a:solidFill>
              <a:srgbClr val="94A3B8"/>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حمراء</c:v>
                  </c:pt>
                  <c:pt idx="1">
                    <c:v>صفراء</c:v>
                  </c:pt>
                  <c:pt idx="2">
                    <c:v>خضراء</c:v>
                  </c:pt>
                </c:lvl>
              </c:multiLvlStrCache>
            </c:multiLvlStrRef>
          </c:cat>
          <c:val>
            <c:numRef>
              <c:f>Sheet1!$B$2:$B$4</c:f>
              <c:numCache>
                <c:formatCode>General</c:formatCode>
                <c:ptCount val="3"/>
                <c:pt idx="0">
                  <c:v>15</c:v>
                </c:pt>
                <c:pt idx="1">
                  <c:v>10</c:v>
                </c:pt>
                <c:pt idx="2">
                  <c:v>5</c:v>
                </c:pt>
              </c:numCache>
            </c:numRef>
          </c:val>
        </c:ser>
        <c:ser>
          <c:idx val="1"/>
          <c:order val="1"/>
          <c:tx>
            <c:strRef>
              <c:f>Sheet1!$C$1</c:f>
              <c:strCache>
                <c:ptCount val="1"/>
                <c:pt idx="0">
                  <c:v>بنزين 10,000 ل.س/ل</c:v>
                </c:pt>
              </c:strCache>
            </c:strRef>
          </c:tx>
          <c:spPr>
            <a:solidFill>
              <a:srgbClr val="D4A017"/>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حمراء</c:v>
                  </c:pt>
                  <c:pt idx="1">
                    <c:v>صفراء</c:v>
                  </c:pt>
                  <c:pt idx="2">
                    <c:v>خضراء</c:v>
                  </c:pt>
                </c:lvl>
              </c:multiLvlStrCache>
            </c:multiLvlStrRef>
          </c:cat>
          <c:val>
            <c:numRef>
              <c:f>Sheet1!$C$2:$C$4</c:f>
              <c:numCache>
                <c:formatCode>General</c:formatCode>
                <c:ptCount val="3"/>
                <c:pt idx="0">
                  <c:v>30</c:v>
                </c:pt>
                <c:pt idx="1">
                  <c:v>20</c:v>
                </c:pt>
                <c:pt idx="2">
                  <c:v>10</c:v>
                </c:pt>
              </c:numCache>
            </c:numRef>
          </c:val>
        </c:ser>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4748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تقاسم الإيراد</a:t>
            </a:r>
          </a:p>
        </c:rich>
      </c:tx>
      <c:layout/>
      <c:overlay val="0"/>
    </c:title>
    <c:autoTitleDeleted val="0"/>
    <c:plotArea>
      <c:layout/>
      <c:doughnutChart>
        <c:varyColors val="1"/>
        <c:ser>
          <c:idx val="0"/>
          <c:order val="0"/>
          <c:tx>
            <c:strRef>
              <c:f>Sheet1!$B$1</c:f>
              <c:strCache>
                <c:ptCount val="1"/>
                <c:pt idx="0">
                  <c:v>التقاسم</c:v>
                </c:pt>
              </c:strCache>
            </c:strRef>
          </c:tx>
          <c:spPr>
            <a:solidFill>
              <a:schemeClr val="accent1"/>
            </a:solidFill>
            <a:ln w="9525" cap="flat">
              <a:solidFill>
                <a:srgbClr val="F9F9F9"/>
              </a:solidFill>
              <a:prstDash val="solid"/>
              <a:round/>
            </a:ln>
            <a:effectLst/>
          </c:spPr>
          <c:dPt>
            <c:idx val="0"/>
            <c:bubble3D val="0"/>
            <c:spPr>
              <a:solidFill>
                <a:srgbClr val="D4A017"/>
              </a:solidFill>
              <a:effectLst/>
            </c:spPr>
          </c:dPt>
          <c:dPt>
            <c:idx val="1"/>
            <c:bubble3D val="0"/>
            <c:spPr>
              <a:solidFill>
                <a:srgbClr val="0B1220"/>
              </a:solidFill>
              <a:effectLst/>
            </c:spPr>
          </c:dPt>
          <c:dLbls>
            <c:dLbl>
              <c:idx val="0"/>
              <c:numFmt formatCode="0%" sourceLinked="0"/>
              <c:spPr/>
              <c:txPr>
                <a:bodyPr/>
                <a:lstStyle/>
                <a:p>
                  <a:pPr>
                    <a:defRPr sz="1300" b="0"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المدينة (60%)</c:v>
                </c:pt>
                <c:pt idx="1">
                  <c:v>المنصّة (40%)</c:v>
                </c:pt>
              </c:strCache>
            </c:strRef>
          </c:cat>
          <c:val>
            <c:numRef>
              <c:f>Sheet1!$B$2:$B$3</c:f>
              <c:numCache>
                <c:ptCount val="2"/>
                <c:pt idx="0">
                  <c:v>60</c:v>
                </c:pt>
                <c:pt idx="1">
                  <c:v>40</c:v>
                </c:pt>
              </c:numCache>
            </c:numRef>
          </c:val>
        </c:ser>
        <c:firstSliceAng val="0"/>
        <c:holeSize val="62"/>
      </c:doughnutChart>
      <c:spPr>
        <a:noFill/>
        <a:ln>
          <a:noFill/>
        </a:ln>
        <a:effectLst/>
      </c:spPr>
    </c:plotArea>
    <c:legend>
      <c:legendPos val="b"/>
      <c:overlay val="0"/>
      <c:txPr>
        <a:bodyPr/>
        <a:lstStyle/>
        <a:p>
          <a:pPr>
            <a:defRPr sz="1200">
              <a:solidFill>
                <a:srgbClr val="64748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بثقة ومباشرة: موقف منصّة عاملة ومنشورة فعلاً — لا مجرد شرائح. الكلمات الثلاث على الشاشة هي الأطروحة كاملة: إيراد يصمد أمام التضخم، وإنفاذ تراه المدينة آنياً، وبنية تبقى سيادية. ادعُ الحضور لفتح الرابط على هواتفهم.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قدّم المواقف بوصفها أصلاً عاماً غير مستثمَر، لا مجرد إزعاج. البطاقات الأربع هي الوضع الراهن. اختم بالخلاصة: اليوم تملك المدينة الرصيف لكنها لا تلتقط قيمته ولا تحصل منه على أي بيانات.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تجيب عن سؤال «لماذا ليس بعد سنتين». ثلاثة عوامل دافعة حقيقية: إعادة بناء المؤسسات، أجندة رقمنة وطنية نشطة، وشبكة المركبات المركزية الجديدة مع طرح اللوحات. موقف يتّصل بزخم قائم بدل أن يطلب من المدينة البدء من الصفر.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الجملة المحورية: نظام تشغيل المواقف للمدينة. «ادفع / أنفِذ / احكم» تقابل التطبيقات الثلاثة في العرض الحيّ. أبقِها موجزة — فهي تمهّد للجولة المباشرة.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اسرد الخطوات الخمس كقصة سائق واحد. شدّد على أن المسار نفسه الذي يخدم السائق يُنتج سجلّ التدقيق الذي لم تملكه المدينة من قبل. هنا تنتقل إلى العرض الحيّ إن سمح الوقت.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قلّل المخاطرة عن القرار: المنصّة موجودة وتعمل. سلّمهم بيانات الدخول ودعهم يجرّبون التحكّم بالسعر في تطبيق المدير مباشرة. سطر البنية الصفرية مفتوحة المصدر مهمّ للميزانية ولمناعة العقوبات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تكسب القاعة. قُل المعنى بوضوح: في اقتصاد تضخّمي، التعرفة الثابتة خسارة إيراد بطيئة. الربط يعني أن المدينة لن تحتاج أبداً لإصدار جدول رسوم جديد — يتتبّع الوقود تلقائياً. الرسم يُظهر تضاعف الأسعار مع الوقود.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السيادة هي الحجّة التي لا يستطيع المورّد الأجنبي تقديمها. المال يتحرّك على قنوات محلية، والبيانات تبقى تحت سيطرة الحكومة، ولأن البنية كلها مفتوحة المصدر فلا شيء تستطيع عقوبة إيقافه. ثم اختم بالأمان: صُمّم بمعايير مصرفية لا مُلحقاً لاحقاً.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بعكس المخاطرة: لا كلفة مسبقة، والمدينة هي الشريك الأكبر بنسبة 60%. كن صريحاً بأن الجدول إرشادي وأن الرقم الحقيقي يعتمد على بيانات إشغالهم — واعرض إعادة احتسابه بأرقامهم. الفكرة في البنية: المدينة تربح من اليوم الأول والمنصّة لا تربح إلا حين تربح المدينة.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خاطب تفويض صنّاع القرار: الإيراد، والشفافية ومكافحة الفساد، وتحسين الخدمة الملموس للمواطن. البطاقتان الأخيرتان — الوظائف وأساس بيانات المدينة الذكية — تحوّلان تطبيق مواقف إلى منصّة استراتيجية.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استبق البديلين. البناء الداخلي بطيء ويجمّد رأس مال تفضّل المدينة عدم إنفاقه؛ والمورّد الأجنبي يسقط في السيادة وكلفة الصرف والتعرّض للعقوبات. موقف هو العمود الوحيد الأخضر بالكامل — وهو يعمل بالفعل.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اجعل الطلب يبدو صغيراً وآمناً: نطلب المرحلة الأولى فقط. المرحلتان 2 و3 تُظهران مساراً موثوقاً للتوسّع ولربط السجل الحقيقي، لكن القرار اليوم مجرّد تجربة محصورة 90 يوماً في ثلاث مناطق مسمّاة.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بطلب صغير ملموس ومنخفض المخاطر: تجربة محصورة 90 يوماً. اقرأ العمودين كصفقة — أربعة أمور خفيفة منهم، وأربعة أمور جوهرية مقابلها، والمدينة لا تحمل أي مخاطرة مالية. أنهِ بوضع الرابط على الشاشة ودعوتهم لفتحه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560320" y="-2011680"/>
            <a:ext cx="5943600" cy="5943600"/>
          </a:xfrm>
          <a:prstGeom prst="ellipse">
            <a:avLst/>
          </a:prstGeom>
          <a:solidFill>
            <a:srgbClr val="14213D"/>
          </a:solidFill>
          <a:ln/>
        </p:spPr>
      </p:sp>
      <p:sp>
        <p:nvSpPr>
          <p:cNvPr id="3" name="Shape 1"/>
          <p:cNvSpPr/>
          <p:nvPr/>
        </p:nvSpPr>
        <p:spPr>
          <a:xfrm>
            <a:off x="-2103120" y="3840480"/>
            <a:ext cx="3840480" cy="3840480"/>
          </a:xfrm>
          <a:prstGeom prst="ellipse">
            <a:avLst/>
          </a:prstGeom>
          <a:solidFill>
            <a:srgbClr val="0E1A33"/>
          </a:solidFill>
          <a:ln/>
        </p:spPr>
      </p:sp>
      <p:sp>
        <p:nvSpPr>
          <p:cNvPr id="4" name="Shape 2"/>
          <p:cNvSpPr/>
          <p:nvPr/>
        </p:nvSpPr>
        <p:spPr>
          <a:xfrm>
            <a:off x="10680192" y="640080"/>
            <a:ext cx="868680" cy="868680"/>
          </a:xfrm>
          <a:prstGeom prst="ellipse">
            <a:avLst/>
          </a:prstGeom>
          <a:solidFill>
            <a:srgbClr val="D4A017"/>
          </a:solidFill>
          <a:ln/>
        </p:spPr>
      </p:sp>
      <p:sp>
        <p:nvSpPr>
          <p:cNvPr id="5" name="Text 3"/>
          <p:cNvSpPr/>
          <p:nvPr/>
        </p:nvSpPr>
        <p:spPr>
          <a:xfrm>
            <a:off x="10680192" y="621792"/>
            <a:ext cx="868680" cy="868680"/>
          </a:xfrm>
          <a:prstGeom prst="rect">
            <a:avLst/>
          </a:prstGeom>
          <a:noFill/>
          <a:ln/>
        </p:spPr>
        <p:txBody>
          <a:bodyPr wrap="square" rtlCol="0" anchor="ctr"/>
          <a:lstStyle/>
          <a:p>
            <a:pPr algn="ctr" indent="0" marL="0">
              <a:buNone/>
            </a:pPr>
            <a:r>
              <a:rPr lang="en-US" sz="2470" b="1" dirty="0">
                <a:solidFill>
                  <a:srgbClr val="0B1220"/>
                </a:solidFill>
                <a:latin typeface="Cambria" pitchFamily="34" charset="0"/>
                <a:ea typeface="Cambria" pitchFamily="34" charset="-122"/>
                <a:cs typeface="Cambria" pitchFamily="34" charset="-120"/>
              </a:rPr>
              <a:t>م</a:t>
            </a:r>
            <a:endParaRPr lang="en-US" sz="2470" dirty="0"/>
          </a:p>
        </p:txBody>
      </p:sp>
      <p:sp>
        <p:nvSpPr>
          <p:cNvPr id="6" name="Text 4"/>
          <p:cNvSpPr/>
          <p:nvPr/>
        </p:nvSpPr>
        <p:spPr>
          <a:xfrm>
            <a:off x="1490472" y="2240280"/>
            <a:ext cx="10058400" cy="457200"/>
          </a:xfrm>
          <a:prstGeom prst="rect">
            <a:avLst/>
          </a:prstGeom>
          <a:noFill/>
          <a:ln/>
        </p:spPr>
        <p:txBody>
          <a:bodyPr wrap="square" lIns="0" tIns="0" rIns="0" bIns="0" rtlCol="0" anchor="ctr"/>
          <a:lstStyle/>
          <a:p>
            <a:pPr rtl="1" algn="r" indent="0" marL="0">
              <a:buNone/>
            </a:pPr>
            <a:r>
              <a:rPr lang="en-US" sz="1500" b="1" dirty="0">
                <a:solidFill>
                  <a:srgbClr val="D4A017"/>
                </a:solidFill>
                <a:latin typeface="Calibri" pitchFamily="34" charset="0"/>
                <a:ea typeface="Calibri" pitchFamily="34" charset="-122"/>
                <a:cs typeface="Calibri" pitchFamily="34" charset="-120"/>
              </a:rPr>
              <a:t>موقف · MAWQIF</a:t>
            </a:r>
            <a:endParaRPr lang="en-US" sz="1500" dirty="0"/>
          </a:p>
        </p:txBody>
      </p:sp>
      <p:sp>
        <p:nvSpPr>
          <p:cNvPr id="7" name="Text 5"/>
          <p:cNvSpPr/>
          <p:nvPr/>
        </p:nvSpPr>
        <p:spPr>
          <a:xfrm>
            <a:off x="1124712" y="2697480"/>
            <a:ext cx="10424160" cy="1005840"/>
          </a:xfrm>
          <a:prstGeom prst="rect">
            <a:avLst/>
          </a:prstGeom>
          <a:noFill/>
          <a:ln/>
        </p:spPr>
        <p:txBody>
          <a:bodyPr wrap="square" lIns="0" tIns="0" rIns="0" bIns="0" rtlCol="0" anchor="ctr"/>
          <a:lstStyle/>
          <a:p>
            <a:pPr rtl="1" algn="r" indent="0" marL="0">
              <a:buNone/>
            </a:pPr>
            <a:r>
              <a:rPr lang="en-US" sz="4600" b="1" dirty="0">
                <a:solidFill>
                  <a:srgbClr val="FFFFFF"/>
                </a:solidFill>
                <a:latin typeface="Cambria" pitchFamily="34" charset="0"/>
                <a:ea typeface="Cambria" pitchFamily="34" charset="-122"/>
                <a:cs typeface="Cambria" pitchFamily="34" charset="-120"/>
              </a:rPr>
              <a:t>مواقف ذكية لمدينة دمشق</a:t>
            </a:r>
            <a:endParaRPr lang="en-US" sz="4600" dirty="0"/>
          </a:p>
        </p:txBody>
      </p:sp>
      <p:sp>
        <p:nvSpPr>
          <p:cNvPr id="8" name="Text 6"/>
          <p:cNvSpPr/>
          <p:nvPr/>
        </p:nvSpPr>
        <p:spPr>
          <a:xfrm>
            <a:off x="1124712" y="3840480"/>
            <a:ext cx="10424160" cy="457200"/>
          </a:xfrm>
          <a:prstGeom prst="rect">
            <a:avLst/>
          </a:prstGeom>
          <a:noFill/>
          <a:ln/>
        </p:spPr>
        <p:txBody>
          <a:bodyPr wrap="square" lIns="0" tIns="0" rIns="0" bIns="0" rtlCol="0" anchor="ctr"/>
          <a:lstStyle/>
          <a:p>
            <a:pPr rtl="1" algn="r" indent="0" marL="0">
              <a:buNone/>
            </a:pPr>
            <a:r>
              <a:rPr lang="en-US" sz="1900" dirty="0">
                <a:solidFill>
                  <a:srgbClr val="CBD5E1"/>
                </a:solidFill>
                <a:latin typeface="Calibri" pitchFamily="34" charset="0"/>
                <a:ea typeface="Calibri" pitchFamily="34" charset="-122"/>
                <a:cs typeface="Calibri" pitchFamily="34" charset="-120"/>
              </a:rPr>
              <a:t>إيرادات محصّنة من التضخم · إنفاذ فوري · بنية سيادية</a:t>
            </a:r>
            <a:endParaRPr lang="en-US" sz="1900" dirty="0"/>
          </a:p>
        </p:txBody>
      </p:sp>
      <p:sp>
        <p:nvSpPr>
          <p:cNvPr id="9" name="Shape 7"/>
          <p:cNvSpPr/>
          <p:nvPr/>
        </p:nvSpPr>
        <p:spPr>
          <a:xfrm>
            <a:off x="8622792" y="4800600"/>
            <a:ext cx="2926080" cy="0"/>
          </a:xfrm>
          <a:prstGeom prst="line">
            <a:avLst/>
          </a:prstGeom>
          <a:noFill/>
          <a:ln w="25400">
            <a:solidFill>
              <a:srgbClr val="D4A017"/>
            </a:solidFill>
            <a:prstDash val="solid"/>
          </a:ln>
        </p:spPr>
      </p:sp>
      <p:sp>
        <p:nvSpPr>
          <p:cNvPr id="10" name="Text 8"/>
          <p:cNvSpPr/>
          <p:nvPr/>
        </p:nvSpPr>
        <p:spPr>
          <a:xfrm>
            <a:off x="941832" y="4983480"/>
            <a:ext cx="10607040" cy="365760"/>
          </a:xfrm>
          <a:prstGeom prst="rect">
            <a:avLst/>
          </a:prstGeom>
          <a:noFill/>
          <a:ln/>
        </p:spPr>
        <p:txBody>
          <a:bodyPr wrap="square" lIns="0" tIns="0" rIns="0" bIns="0" rtlCol="0" anchor="ctr"/>
          <a:lstStyle/>
          <a:p>
            <a:pPr rtl="1" algn="r" indent="0" marL="0">
              <a:buNone/>
            </a:pPr>
            <a:r>
              <a:rPr lang="en-US" sz="1300" dirty="0">
                <a:solidFill>
                  <a:srgbClr val="94A3B8"/>
                </a:solidFill>
                <a:latin typeface="Calibri" pitchFamily="34" charset="0"/>
                <a:ea typeface="Calibri" pitchFamily="34" charset="-122"/>
                <a:cs typeface="Calibri" pitchFamily="34" charset="-120"/>
              </a:rPr>
              <a:t>عرض المرحلة الأولى  ·  مجلس مدينة دمشق ووزارة النقل  ·  2026</a:t>
            </a:r>
            <a:endParaRPr lang="en-US" sz="1300" dirty="0"/>
          </a:p>
        </p:txBody>
      </p:sp>
      <p:sp>
        <p:nvSpPr>
          <p:cNvPr id="11" name="Text 9"/>
          <p:cNvSpPr/>
          <p:nvPr/>
        </p:nvSpPr>
        <p:spPr>
          <a:xfrm>
            <a:off x="1490472" y="6035040"/>
            <a:ext cx="10058400" cy="365760"/>
          </a:xfrm>
          <a:prstGeom prst="rect">
            <a:avLst/>
          </a:prstGeom>
          <a:noFill/>
          <a:ln/>
        </p:spPr>
        <p:txBody>
          <a:bodyPr wrap="square" lIns="0" tIns="0" rIns="0" bIns="0" rtlCol="0" anchor="ctr"/>
          <a:lstStyle/>
          <a:p>
            <a:pPr rtl="1" algn="r" indent="0" marL="0">
              <a:buNone/>
            </a:pPr>
            <a:r>
              <a:rPr lang="en-US" sz="1300" b="1" dirty="0">
                <a:solidFill>
                  <a:srgbClr val="F59E0B"/>
                </a:solidFill>
                <a:latin typeface="Calibri" pitchFamily="34" charset="0"/>
                <a:ea typeface="Calibri" pitchFamily="34" charset="-122"/>
                <a:cs typeface="Calibri" pitchFamily="34" charset="-120"/>
              </a:rPr>
              <a:t>العرض المباشر:  damascus-park.vercel.app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الفرصة</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دمشق تترك المال على الرصيف.</a:t>
            </a:r>
            <a:endParaRPr lang="en-US" sz="3000" dirty="0"/>
          </a:p>
        </p:txBody>
      </p:sp>
      <p:sp>
        <p:nvSpPr>
          <p:cNvPr id="6" name="Shape 4"/>
          <p:cNvSpPr/>
          <p:nvPr/>
        </p:nvSpPr>
        <p:spPr>
          <a:xfrm>
            <a:off x="8933688"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0817352" y="2121408"/>
            <a:ext cx="457200" cy="457200"/>
          </a:xfrm>
          <a:prstGeom prst="ellipse">
            <a:avLst/>
          </a:prstGeom>
          <a:solidFill>
            <a:srgbClr val="FBEFC9"/>
          </a:solidFill>
          <a:ln/>
        </p:spPr>
      </p:sp>
      <p:sp>
        <p:nvSpPr>
          <p:cNvPr id="8" name="Text 6"/>
          <p:cNvSpPr/>
          <p:nvPr/>
        </p:nvSpPr>
        <p:spPr>
          <a:xfrm>
            <a:off x="10817352" y="212140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9189720" y="2743200"/>
            <a:ext cx="2103120" cy="73152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نقدي بالكامل</a:t>
            </a:r>
            <a:endParaRPr lang="en-US" sz="1800" dirty="0"/>
          </a:p>
        </p:txBody>
      </p:sp>
      <p:sp>
        <p:nvSpPr>
          <p:cNvPr id="10" name="Text 8"/>
          <p:cNvSpPr/>
          <p:nvPr/>
        </p:nvSpPr>
        <p:spPr>
          <a:xfrm>
            <a:off x="9189720" y="3383280"/>
            <a:ext cx="2103120" cy="1645920"/>
          </a:xfrm>
          <a:prstGeom prst="rect">
            <a:avLst/>
          </a:prstGeom>
          <a:noFill/>
          <a:ln/>
        </p:spPr>
        <p:txBody>
          <a:bodyPr wrap="square" lIns="0" tIns="0" rIns="0" bIns="0" rtlCol="0" anchor="ctr"/>
          <a:lstStyle/>
          <a:p>
            <a:pPr rtl="1" algn="r" indent="0" marL="0">
              <a:lnSpc>
                <a:spcPct val="106000"/>
              </a:lnSpc>
              <a:buNone/>
            </a:pPr>
            <a:r>
              <a:rPr lang="en-US" sz="1350" dirty="0">
                <a:solidFill>
                  <a:srgbClr val="64748B"/>
                </a:solidFill>
                <a:latin typeface="Calibri" pitchFamily="34" charset="0"/>
                <a:ea typeface="Calibri" pitchFamily="34" charset="-122"/>
                <a:cs typeface="Calibri" pitchFamily="34" charset="-120"/>
              </a:rPr>
              <a:t>إدارة المواقف تعتمد على النقد والورق — تحصيل غير رسمي يستحيل تدقيقه.</a:t>
            </a:r>
            <a:endParaRPr lang="en-US" sz="1350" dirty="0"/>
          </a:p>
        </p:txBody>
      </p:sp>
      <p:sp>
        <p:nvSpPr>
          <p:cNvPr id="11" name="Shape 9"/>
          <p:cNvSpPr/>
          <p:nvPr/>
        </p:nvSpPr>
        <p:spPr>
          <a:xfrm>
            <a:off x="6117336"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8001000" y="2121408"/>
            <a:ext cx="457200" cy="457200"/>
          </a:xfrm>
          <a:prstGeom prst="ellipse">
            <a:avLst/>
          </a:prstGeom>
          <a:solidFill>
            <a:srgbClr val="FBEFC9"/>
          </a:solidFill>
          <a:ln/>
        </p:spPr>
      </p:sp>
      <p:sp>
        <p:nvSpPr>
          <p:cNvPr id="13" name="Text 11"/>
          <p:cNvSpPr/>
          <p:nvPr/>
        </p:nvSpPr>
        <p:spPr>
          <a:xfrm>
            <a:off x="8001000" y="212140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6373368" y="2743200"/>
            <a:ext cx="2103120" cy="73152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غياب الرؤية</a:t>
            </a:r>
            <a:endParaRPr lang="en-US" sz="1800" dirty="0"/>
          </a:p>
        </p:txBody>
      </p:sp>
      <p:sp>
        <p:nvSpPr>
          <p:cNvPr id="15" name="Text 13"/>
          <p:cNvSpPr/>
          <p:nvPr/>
        </p:nvSpPr>
        <p:spPr>
          <a:xfrm>
            <a:off x="6373368" y="3383280"/>
            <a:ext cx="2103120" cy="1645920"/>
          </a:xfrm>
          <a:prstGeom prst="rect">
            <a:avLst/>
          </a:prstGeom>
          <a:noFill/>
          <a:ln/>
        </p:spPr>
        <p:txBody>
          <a:bodyPr wrap="square" lIns="0" tIns="0" rIns="0" bIns="0" rtlCol="0" anchor="ctr"/>
          <a:lstStyle/>
          <a:p>
            <a:pPr rtl="1" algn="r" indent="0" marL="0">
              <a:lnSpc>
                <a:spcPct val="106000"/>
              </a:lnSpc>
              <a:buNone/>
            </a:pPr>
            <a:r>
              <a:rPr lang="en-US" sz="1350" dirty="0">
                <a:solidFill>
                  <a:srgbClr val="64748B"/>
                </a:solidFill>
                <a:latin typeface="Calibri" pitchFamily="34" charset="0"/>
                <a:ea typeface="Calibri" pitchFamily="34" charset="-122"/>
                <a:cs typeface="Calibri" pitchFamily="34" charset="-120"/>
              </a:rPr>
              <a:t>لا تملك المدينة رؤية آنية للإشغال أو الإيرادات أو مواضع الحاجة للإنفاذ.</a:t>
            </a:r>
            <a:endParaRPr lang="en-US" sz="1350" dirty="0"/>
          </a:p>
        </p:txBody>
      </p:sp>
      <p:sp>
        <p:nvSpPr>
          <p:cNvPr id="16" name="Shape 14"/>
          <p:cNvSpPr/>
          <p:nvPr/>
        </p:nvSpPr>
        <p:spPr>
          <a:xfrm>
            <a:off x="3300984"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5184648" y="2121408"/>
            <a:ext cx="457200" cy="457200"/>
          </a:xfrm>
          <a:prstGeom prst="ellipse">
            <a:avLst/>
          </a:prstGeom>
          <a:solidFill>
            <a:srgbClr val="FBEFC9"/>
          </a:solidFill>
          <a:ln/>
        </p:spPr>
      </p:sp>
      <p:sp>
        <p:nvSpPr>
          <p:cNvPr id="18" name="Text 16"/>
          <p:cNvSpPr/>
          <p:nvPr/>
        </p:nvSpPr>
        <p:spPr>
          <a:xfrm>
            <a:off x="5184648" y="212140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3557016" y="2743200"/>
            <a:ext cx="2103120" cy="73152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التضخم يأكل التعرفة</a:t>
            </a:r>
            <a:endParaRPr lang="en-US" sz="1800" dirty="0"/>
          </a:p>
        </p:txBody>
      </p:sp>
      <p:sp>
        <p:nvSpPr>
          <p:cNvPr id="20" name="Text 18"/>
          <p:cNvSpPr/>
          <p:nvPr/>
        </p:nvSpPr>
        <p:spPr>
          <a:xfrm>
            <a:off x="3557016" y="3383280"/>
            <a:ext cx="2103120" cy="1645920"/>
          </a:xfrm>
          <a:prstGeom prst="rect">
            <a:avLst/>
          </a:prstGeom>
          <a:noFill/>
          <a:ln/>
        </p:spPr>
        <p:txBody>
          <a:bodyPr wrap="square" lIns="0" tIns="0" rIns="0" bIns="0" rtlCol="0" anchor="ctr"/>
          <a:lstStyle/>
          <a:p>
            <a:pPr rtl="1" algn="r" indent="0" marL="0">
              <a:lnSpc>
                <a:spcPct val="106000"/>
              </a:lnSpc>
              <a:buNone/>
            </a:pPr>
            <a:r>
              <a:rPr lang="en-US" sz="1350" dirty="0">
                <a:solidFill>
                  <a:srgbClr val="64748B"/>
                </a:solidFill>
                <a:latin typeface="Calibri" pitchFamily="34" charset="0"/>
                <a:ea typeface="Calibri" pitchFamily="34" charset="-122"/>
                <a:cs typeface="Calibri" pitchFamily="34" charset="-120"/>
              </a:rPr>
              <a:t>السعر الثابت بالليرة يفقد معناه خلال أشهر — تتآكل الإيرادات فعلياً بصمت.</a:t>
            </a:r>
            <a:endParaRPr lang="en-US" sz="1350" dirty="0"/>
          </a:p>
        </p:txBody>
      </p:sp>
      <p:sp>
        <p:nvSpPr>
          <p:cNvPr id="21" name="Shape 19"/>
          <p:cNvSpPr/>
          <p:nvPr/>
        </p:nvSpPr>
        <p:spPr>
          <a:xfrm>
            <a:off x="484632"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2368296" y="2121408"/>
            <a:ext cx="457200" cy="457200"/>
          </a:xfrm>
          <a:prstGeom prst="ellipse">
            <a:avLst/>
          </a:prstGeom>
          <a:solidFill>
            <a:srgbClr val="FBEFC9"/>
          </a:solidFill>
          <a:ln/>
        </p:spPr>
      </p:sp>
      <p:sp>
        <p:nvSpPr>
          <p:cNvPr id="23" name="Text 21"/>
          <p:cNvSpPr/>
          <p:nvPr/>
        </p:nvSpPr>
        <p:spPr>
          <a:xfrm>
            <a:off x="2368296" y="212140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740664" y="2743200"/>
            <a:ext cx="2103120" cy="73152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تسرّب ونزاعات</a:t>
            </a:r>
            <a:endParaRPr lang="en-US" sz="1800" dirty="0"/>
          </a:p>
        </p:txBody>
      </p:sp>
      <p:sp>
        <p:nvSpPr>
          <p:cNvPr id="25" name="Text 23"/>
          <p:cNvSpPr/>
          <p:nvPr/>
        </p:nvSpPr>
        <p:spPr>
          <a:xfrm>
            <a:off x="740664" y="3383280"/>
            <a:ext cx="2103120" cy="1645920"/>
          </a:xfrm>
          <a:prstGeom prst="rect">
            <a:avLst/>
          </a:prstGeom>
          <a:noFill/>
          <a:ln/>
        </p:spPr>
        <p:txBody>
          <a:bodyPr wrap="square" lIns="0" tIns="0" rIns="0" bIns="0" rtlCol="0" anchor="ctr"/>
          <a:lstStyle/>
          <a:p>
            <a:pPr rtl="1" algn="r" indent="0" marL="0">
              <a:lnSpc>
                <a:spcPct val="106000"/>
              </a:lnSpc>
              <a:buNone/>
            </a:pPr>
            <a:r>
              <a:rPr lang="en-US" sz="1350" dirty="0">
                <a:solidFill>
                  <a:srgbClr val="64748B"/>
                </a:solidFill>
                <a:latin typeface="Calibri" pitchFamily="34" charset="0"/>
                <a:ea typeface="Calibri" pitchFamily="34" charset="-122"/>
                <a:cs typeface="Calibri" pitchFamily="34" charset="-120"/>
              </a:rPr>
              <a:t>النقد غير المتعقَّب يفتح باب التسرّب ونزاعات السائقين دون سجلّ لحسمها.</a:t>
            </a:r>
            <a:endParaRPr lang="en-US" sz="1350" dirty="0"/>
          </a:p>
        </p:txBody>
      </p:sp>
      <p:sp>
        <p:nvSpPr>
          <p:cNvPr id="26" name="Text 24"/>
          <p:cNvSpPr/>
          <p:nvPr/>
        </p:nvSpPr>
        <p:spPr>
          <a:xfrm>
            <a:off x="576072" y="5532120"/>
            <a:ext cx="10972800" cy="457200"/>
          </a:xfrm>
          <a:prstGeom prst="rect">
            <a:avLst/>
          </a:prstGeom>
          <a:noFill/>
          <a:ln/>
        </p:spPr>
        <p:txBody>
          <a:bodyPr wrap="square" lIns="0" tIns="0" rIns="0" bIns="0" rtlCol="0" anchor="ctr"/>
          <a:lstStyle/>
          <a:p>
            <a:pPr algn="r" indent="0" marL="0">
              <a:buNone/>
            </a:pPr>
            <a:r>
              <a:rPr lang="en-US" sz="1500" b="1" dirty="0">
                <a:solidFill>
                  <a:srgbClr val="0F172A"/>
                </a:solidFill>
                <a:latin typeface="Calibri" pitchFamily="34" charset="0"/>
                <a:ea typeface="Calibri" pitchFamily="34" charset="-122"/>
                <a:cs typeface="Calibri" pitchFamily="34" charset="-120"/>
              </a:rPr>
              <a:t>النتيجة: </a:t>
            </a:r>
            <a:pPr algn="r" indent="0" marL="0">
              <a:buNone/>
            </a:pPr>
            <a:r>
              <a:rPr lang="en-US" sz="1500" dirty="0">
                <a:solidFill>
                  <a:srgbClr val="64748B"/>
                </a:solidFill>
                <a:latin typeface="Calibri" pitchFamily="34" charset="0"/>
                <a:ea typeface="Calibri" pitchFamily="34" charset="-122"/>
                <a:cs typeface="Calibri" pitchFamily="34" charset="-120"/>
              </a:rPr>
              <a:t>أصل عام حقيقي يدرّ إيراداً رسمياً ضئيلاً — وبلا بيانات لإدارته.</a:t>
            </a:r>
            <a:endParaRPr lang="en-US" sz="1500" dirty="0"/>
          </a:p>
        </p:txBody>
      </p:sp>
      <p:sp>
        <p:nvSpPr>
          <p:cNvPr id="27" name="Text 25"/>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28" name="Text 26"/>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لماذا الآن</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لحظة الرقمنة هي الآن.</a:t>
            </a:r>
            <a:endParaRPr lang="en-US" sz="3000" dirty="0"/>
          </a:p>
        </p:txBody>
      </p:sp>
      <p:sp>
        <p:nvSpPr>
          <p:cNvPr id="6" name="Shape 4"/>
          <p:cNvSpPr/>
          <p:nvPr/>
        </p:nvSpPr>
        <p:spPr>
          <a:xfrm>
            <a:off x="576072" y="18745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0680192" y="2212848"/>
            <a:ext cx="548640" cy="548640"/>
          </a:xfrm>
          <a:prstGeom prst="ellipse">
            <a:avLst/>
          </a:prstGeom>
          <a:solidFill>
            <a:srgbClr val="0B1220"/>
          </a:solidFill>
          <a:ln/>
        </p:spPr>
      </p:sp>
      <p:sp>
        <p:nvSpPr>
          <p:cNvPr id="8" name="Text 6"/>
          <p:cNvSpPr/>
          <p:nvPr/>
        </p:nvSpPr>
        <p:spPr>
          <a:xfrm>
            <a:off x="10680192" y="22128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764792" y="2057400"/>
            <a:ext cx="9509760" cy="45720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إعادة بناء المؤسسات</a:t>
            </a:r>
            <a:endParaRPr lang="en-US" sz="1800" dirty="0"/>
          </a:p>
        </p:txBody>
      </p:sp>
      <p:sp>
        <p:nvSpPr>
          <p:cNvPr id="10" name="Text 8"/>
          <p:cNvSpPr/>
          <p:nvPr/>
        </p:nvSpPr>
        <p:spPr>
          <a:xfrm>
            <a:off x="1764792" y="2478024"/>
            <a:ext cx="9509760" cy="548640"/>
          </a:xfrm>
          <a:prstGeom prst="rect">
            <a:avLst/>
          </a:prstGeom>
          <a:noFill/>
          <a:ln/>
        </p:spPr>
        <p:txBody>
          <a:bodyPr wrap="square" lIns="0" tIns="0" rIns="0" bIns="0" rtlCol="0" anchor="ctr"/>
          <a:lstStyle/>
          <a:p>
            <a:pPr rtl="1" algn="r" indent="0" marL="0">
              <a:buNone/>
            </a:pPr>
            <a:r>
              <a:rPr lang="en-US" sz="1350" dirty="0">
                <a:solidFill>
                  <a:srgbClr val="64748B"/>
                </a:solidFill>
                <a:latin typeface="Calibri" pitchFamily="34" charset="0"/>
                <a:ea typeface="Calibri" pitchFamily="34" charset="-122"/>
                <a:cs typeface="Calibri" pitchFamily="34" charset="-120"/>
              </a:rPr>
              <a:t>تشهد المرحلة الانتقالية بعد 2024 تحديثاً فعلياً للإدارة العامة — نافذة نادرة لإرساء المعيار الرقمي من البداية.</a:t>
            </a:r>
            <a:endParaRPr lang="en-US" sz="1350" dirty="0"/>
          </a:p>
        </p:txBody>
      </p:sp>
      <p:sp>
        <p:nvSpPr>
          <p:cNvPr id="11" name="Shape 9"/>
          <p:cNvSpPr/>
          <p:nvPr/>
        </p:nvSpPr>
        <p:spPr>
          <a:xfrm>
            <a:off x="576072" y="32461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10680192" y="3584448"/>
            <a:ext cx="548640" cy="548640"/>
          </a:xfrm>
          <a:prstGeom prst="ellipse">
            <a:avLst/>
          </a:prstGeom>
          <a:solidFill>
            <a:srgbClr val="0B1220"/>
          </a:solidFill>
          <a:ln/>
        </p:spPr>
      </p:sp>
      <p:sp>
        <p:nvSpPr>
          <p:cNvPr id="13" name="Text 11"/>
          <p:cNvSpPr/>
          <p:nvPr/>
        </p:nvSpPr>
        <p:spPr>
          <a:xfrm>
            <a:off x="10680192" y="35844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764792" y="3429000"/>
            <a:ext cx="9509760" cy="45720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دفعة رقمية وطنية</a:t>
            </a:r>
            <a:endParaRPr lang="en-US" sz="1800" dirty="0"/>
          </a:p>
        </p:txBody>
      </p:sp>
      <p:sp>
        <p:nvSpPr>
          <p:cNvPr id="15" name="Text 13"/>
          <p:cNvSpPr/>
          <p:nvPr/>
        </p:nvSpPr>
        <p:spPr>
          <a:xfrm>
            <a:off x="1764792" y="3849624"/>
            <a:ext cx="9509760" cy="548640"/>
          </a:xfrm>
          <a:prstGeom prst="rect">
            <a:avLst/>
          </a:prstGeom>
          <a:noFill/>
          <a:ln/>
        </p:spPr>
        <p:txBody>
          <a:bodyPr wrap="square" lIns="0" tIns="0" rIns="0" bIns="0" rtlCol="0" anchor="ctr"/>
          <a:lstStyle/>
          <a:p>
            <a:pPr rtl="1" algn="r" indent="0" marL="0">
              <a:buNone/>
            </a:pPr>
            <a:r>
              <a:rPr lang="en-US" sz="1350" dirty="0">
                <a:solidFill>
                  <a:srgbClr val="64748B"/>
                </a:solidFill>
                <a:latin typeface="Calibri" pitchFamily="34" charset="0"/>
                <a:ea typeface="Calibri" pitchFamily="34" charset="-122"/>
                <a:cs typeface="Calibri" pitchFamily="34" charset="-120"/>
              </a:rPr>
              <a:t>بوابة الحكومة الإلكترونية (egov.sy) وبرنامج الخدمات الرقمية لوزارة النقل قيد التنفيذ بالفعل.</a:t>
            </a:r>
            <a:endParaRPr lang="en-US" sz="1350" dirty="0"/>
          </a:p>
        </p:txBody>
      </p:sp>
      <p:sp>
        <p:nvSpPr>
          <p:cNvPr id="16" name="Shape 14"/>
          <p:cNvSpPr/>
          <p:nvPr/>
        </p:nvSpPr>
        <p:spPr>
          <a:xfrm>
            <a:off x="576072" y="46177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10680192" y="4956048"/>
            <a:ext cx="548640" cy="548640"/>
          </a:xfrm>
          <a:prstGeom prst="ellipse">
            <a:avLst/>
          </a:prstGeom>
          <a:solidFill>
            <a:srgbClr val="0B1220"/>
          </a:solidFill>
          <a:ln/>
        </p:spPr>
      </p:sp>
      <p:sp>
        <p:nvSpPr>
          <p:cNvPr id="18" name="Text 16"/>
          <p:cNvSpPr/>
          <p:nvPr/>
        </p:nvSpPr>
        <p:spPr>
          <a:xfrm>
            <a:off x="10680192" y="49560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1764792" y="4800600"/>
            <a:ext cx="9509760" cy="457200"/>
          </a:xfrm>
          <a:prstGeom prst="rect">
            <a:avLst/>
          </a:prstGeom>
          <a:noFill/>
          <a:ln/>
        </p:spPr>
        <p:txBody>
          <a:bodyPr wrap="square" lIns="0" tIns="0" rIns="0" bIns="0" rtlCol="0" anchor="ctr"/>
          <a:lstStyle/>
          <a:p>
            <a:pPr rtl="1" algn="r" indent="0" marL="0">
              <a:buNone/>
            </a:pPr>
            <a:r>
              <a:rPr lang="en-US" sz="1800" b="1" dirty="0">
                <a:solidFill>
                  <a:srgbClr val="0F172A"/>
                </a:solidFill>
                <a:latin typeface="Cambria" pitchFamily="34" charset="0"/>
                <a:ea typeface="Cambria" pitchFamily="34" charset="-122"/>
                <a:cs typeface="Cambria" pitchFamily="34" charset="-120"/>
              </a:rPr>
              <a:t>شبكة مركبات موحّدة ولوحات جديدة</a:t>
            </a:r>
            <a:endParaRPr lang="en-US" sz="1800" dirty="0"/>
          </a:p>
        </p:txBody>
      </p:sp>
      <p:sp>
        <p:nvSpPr>
          <p:cNvPr id="20" name="Text 18"/>
          <p:cNvSpPr/>
          <p:nvPr/>
        </p:nvSpPr>
        <p:spPr>
          <a:xfrm>
            <a:off x="1764792" y="5221224"/>
            <a:ext cx="9509760" cy="548640"/>
          </a:xfrm>
          <a:prstGeom prst="rect">
            <a:avLst/>
          </a:prstGeom>
          <a:noFill/>
          <a:ln/>
        </p:spPr>
        <p:txBody>
          <a:bodyPr wrap="square" lIns="0" tIns="0" rIns="0" bIns="0" rtlCol="0" anchor="ctr"/>
          <a:lstStyle/>
          <a:p>
            <a:pPr rtl="1" algn="r" indent="0" marL="0">
              <a:buNone/>
            </a:pPr>
            <a:r>
              <a:rPr lang="en-US" sz="1350" dirty="0">
                <a:solidFill>
                  <a:srgbClr val="64748B"/>
                </a:solidFill>
                <a:latin typeface="Calibri" pitchFamily="34" charset="0"/>
                <a:ea typeface="Calibri" pitchFamily="34" charset="-122"/>
                <a:cs typeface="Calibri" pitchFamily="34" charset="-120"/>
              </a:rPr>
              <a:t>تتشارك مديريات النقل شبكة مركزية، ويجري طرح نموذج لوحات جديد في دمشق أولاً — بنية الإنفاذ موجودة.</a:t>
            </a:r>
            <a:endParaRPr lang="en-US" sz="1350" dirty="0"/>
          </a:p>
        </p:txBody>
      </p:sp>
      <p:sp>
        <p:nvSpPr>
          <p:cNvPr id="21" name="Text 19"/>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22" name="Text 20"/>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714232" y="4023360"/>
            <a:ext cx="5486400" cy="5486400"/>
          </a:xfrm>
          <a:prstGeom prst="ellipse">
            <a:avLst/>
          </a:prstGeom>
          <a:solidFill>
            <a:srgbClr val="14213D"/>
          </a:solidFill>
          <a:ln/>
        </p:spPr>
      </p:sp>
      <p:sp>
        <p:nvSpPr>
          <p:cNvPr id="3" name="Shape 1"/>
          <p:cNvSpPr/>
          <p:nvPr/>
        </p:nvSpPr>
        <p:spPr>
          <a:xfrm>
            <a:off x="11045952" y="548640"/>
            <a:ext cx="502920" cy="502920"/>
          </a:xfrm>
          <a:prstGeom prst="ellipse">
            <a:avLst/>
          </a:prstGeom>
          <a:solidFill>
            <a:srgbClr val="D4A017"/>
          </a:solidFill>
          <a:ln/>
        </p:spPr>
      </p:sp>
      <p:sp>
        <p:nvSpPr>
          <p:cNvPr id="4" name="Text 2"/>
          <p:cNvSpPr/>
          <p:nvPr/>
        </p:nvSpPr>
        <p:spPr>
          <a:xfrm>
            <a:off x="11045952" y="530352"/>
            <a:ext cx="502920" cy="502920"/>
          </a:xfrm>
          <a:prstGeom prst="rect">
            <a:avLst/>
          </a:prstGeom>
          <a:noFill/>
          <a:ln/>
        </p:spPr>
        <p:txBody>
          <a:bodyPr wrap="square" rtlCol="0" anchor="ctr"/>
          <a:lstStyle/>
          <a:p>
            <a:pPr algn="ctr" indent="0" marL="0">
              <a:buNone/>
            </a:pPr>
            <a:r>
              <a:rPr lang="en-US" sz="1430" b="1" dirty="0">
                <a:solidFill>
                  <a:srgbClr val="0B1220"/>
                </a:solidFill>
                <a:latin typeface="Cambria" pitchFamily="34" charset="0"/>
                <a:ea typeface="Cambria" pitchFamily="34" charset="-122"/>
                <a:cs typeface="Cambria" pitchFamily="34" charset="-120"/>
              </a:rPr>
              <a:t>م</a:t>
            </a:r>
            <a:endParaRPr lang="en-US" sz="1430" dirty="0"/>
          </a:p>
        </p:txBody>
      </p:sp>
      <p:sp>
        <p:nvSpPr>
          <p:cNvPr id="5" name="Text 3"/>
          <p:cNvSpPr/>
          <p:nvPr/>
        </p:nvSpPr>
        <p:spPr>
          <a:xfrm>
            <a:off x="1691640" y="566928"/>
            <a:ext cx="9144000" cy="320040"/>
          </a:xfrm>
          <a:prstGeom prst="rect">
            <a:avLst/>
          </a:prstGeom>
          <a:noFill/>
          <a:ln/>
        </p:spPr>
        <p:txBody>
          <a:bodyPr wrap="square" lIns="0" tIns="0" rIns="0" bIns="0" rtlCol="0" anchor="ctr"/>
          <a:lstStyle/>
          <a:p>
            <a:pPr rtl="1" algn="r" indent="0" marL="0">
              <a:buNone/>
            </a:pPr>
            <a:r>
              <a:rPr lang="en-US" sz="1300" b="1" dirty="0">
                <a:solidFill>
                  <a:srgbClr val="D4A017"/>
                </a:solidFill>
                <a:latin typeface="Calibri" pitchFamily="34" charset="0"/>
                <a:ea typeface="Calibri" pitchFamily="34" charset="-122"/>
                <a:cs typeface="Calibri" pitchFamily="34" charset="-120"/>
              </a:rPr>
              <a:t>الحل</a:t>
            </a:r>
            <a:endParaRPr lang="en-US" sz="1300" dirty="0"/>
          </a:p>
        </p:txBody>
      </p:sp>
      <p:sp>
        <p:nvSpPr>
          <p:cNvPr id="6" name="Text 4"/>
          <p:cNvSpPr/>
          <p:nvPr/>
        </p:nvSpPr>
        <p:spPr>
          <a:xfrm>
            <a:off x="758952" y="1234440"/>
            <a:ext cx="10789920" cy="914400"/>
          </a:xfrm>
          <a:prstGeom prst="rect">
            <a:avLst/>
          </a:prstGeom>
          <a:noFill/>
          <a:ln/>
        </p:spPr>
        <p:txBody>
          <a:bodyPr wrap="square" lIns="0" tIns="0" rIns="0" bIns="0" rtlCol="0" anchor="ctr"/>
          <a:lstStyle/>
          <a:p>
            <a:pPr rtl="1" algn="r" indent="0" marL="0">
              <a:buNone/>
            </a:pPr>
            <a:r>
              <a:rPr lang="en-US" sz="3200" b="1" dirty="0">
                <a:solidFill>
                  <a:srgbClr val="FFFFFF"/>
                </a:solidFill>
                <a:latin typeface="Cambria" pitchFamily="34" charset="0"/>
                <a:ea typeface="Cambria" pitchFamily="34" charset="-122"/>
                <a:cs typeface="Cambria" pitchFamily="34" charset="-120"/>
              </a:rPr>
              <a:t>موقف هو نظام تشغيل المواقف للمدينة.</a:t>
            </a:r>
            <a:endParaRPr lang="en-US" sz="3200" dirty="0"/>
          </a:p>
        </p:txBody>
      </p:sp>
      <p:sp>
        <p:nvSpPr>
          <p:cNvPr id="7" name="Text 5"/>
          <p:cNvSpPr/>
          <p:nvPr/>
        </p:nvSpPr>
        <p:spPr>
          <a:xfrm>
            <a:off x="941832" y="2240280"/>
            <a:ext cx="10607040" cy="640080"/>
          </a:xfrm>
          <a:prstGeom prst="rect">
            <a:avLst/>
          </a:prstGeom>
          <a:noFill/>
          <a:ln/>
        </p:spPr>
        <p:txBody>
          <a:bodyPr wrap="square" lIns="0" tIns="0" rIns="0" bIns="0" rtlCol="0" anchor="ctr"/>
          <a:lstStyle/>
          <a:p>
            <a:pPr rtl="1" algn="r" indent="0" marL="0">
              <a:buNone/>
            </a:pPr>
            <a:r>
              <a:rPr lang="en-US" sz="1600" dirty="0">
                <a:solidFill>
                  <a:srgbClr val="CBD5E1"/>
                </a:solidFill>
                <a:latin typeface="Calibri" pitchFamily="34" charset="0"/>
                <a:ea typeface="Calibri" pitchFamily="34" charset="-122"/>
                <a:cs typeface="Calibri" pitchFamily="34" charset="-120"/>
              </a:rPr>
              <a:t>منصّة واحدة تربط السائقين والحرّاس والبلدية — وتحوّل كل موقف على الرصيف إلى إيراد قابل للتدقيق ومحصَّن من التضخم.</a:t>
            </a:r>
            <a:endParaRPr lang="en-US" sz="1600" dirty="0"/>
          </a:p>
        </p:txBody>
      </p:sp>
      <p:sp>
        <p:nvSpPr>
          <p:cNvPr id="8" name="Shape 6"/>
          <p:cNvSpPr/>
          <p:nvPr/>
        </p:nvSpPr>
        <p:spPr>
          <a:xfrm>
            <a:off x="7936992" y="3291840"/>
            <a:ext cx="3611880" cy="2651760"/>
          </a:xfrm>
          <a:prstGeom prst="roundRect">
            <a:avLst>
              <a:gd name="adj" fmla="val 3103"/>
            </a:avLst>
          </a:prstGeom>
          <a:solidFill>
            <a:srgbClr val="14213D"/>
          </a:solidFill>
          <a:ln w="12700">
            <a:solidFill>
              <a:srgbClr val="23304D"/>
            </a:solidFill>
            <a:prstDash val="solid"/>
          </a:ln>
        </p:spPr>
      </p:sp>
      <p:sp>
        <p:nvSpPr>
          <p:cNvPr id="9" name="Shape 7"/>
          <p:cNvSpPr/>
          <p:nvPr/>
        </p:nvSpPr>
        <p:spPr>
          <a:xfrm>
            <a:off x="10588752" y="3611880"/>
            <a:ext cx="640080" cy="640080"/>
          </a:xfrm>
          <a:prstGeom prst="ellipse">
            <a:avLst/>
          </a:prstGeom>
          <a:solidFill>
            <a:srgbClr val="D4A017"/>
          </a:solidFill>
          <a:ln/>
        </p:spPr>
      </p:sp>
      <p:sp>
        <p:nvSpPr>
          <p:cNvPr id="10" name="Text 8"/>
          <p:cNvSpPr/>
          <p:nvPr/>
        </p:nvSpPr>
        <p:spPr>
          <a:xfrm>
            <a:off x="10588752" y="3611880"/>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1</a:t>
            </a:r>
            <a:endParaRPr lang="en-US" sz="2400" dirty="0"/>
          </a:p>
        </p:txBody>
      </p:sp>
      <p:sp>
        <p:nvSpPr>
          <p:cNvPr id="11" name="Text 9"/>
          <p:cNvSpPr/>
          <p:nvPr/>
        </p:nvSpPr>
        <p:spPr>
          <a:xfrm>
            <a:off x="8257032" y="4389120"/>
            <a:ext cx="2971800" cy="457200"/>
          </a:xfrm>
          <a:prstGeom prst="rect">
            <a:avLst/>
          </a:prstGeom>
          <a:noFill/>
          <a:ln/>
        </p:spPr>
        <p:txBody>
          <a:bodyPr wrap="square" lIns="0" tIns="0" rIns="0" bIns="0" rtlCol="0" anchor="ctr"/>
          <a:lstStyle/>
          <a:p>
            <a:pPr rtl="1" algn="r" indent="0" marL="0">
              <a:buNone/>
            </a:pPr>
            <a:r>
              <a:rPr lang="en-US" sz="2100" b="1" dirty="0">
                <a:solidFill>
                  <a:srgbClr val="FFFFFF"/>
                </a:solidFill>
                <a:latin typeface="Cambria" pitchFamily="34" charset="0"/>
                <a:ea typeface="Cambria" pitchFamily="34" charset="-122"/>
                <a:cs typeface="Cambria" pitchFamily="34" charset="-120"/>
              </a:rPr>
              <a:t>ادفع</a:t>
            </a:r>
            <a:endParaRPr lang="en-US" sz="2100" dirty="0"/>
          </a:p>
        </p:txBody>
      </p:sp>
      <p:sp>
        <p:nvSpPr>
          <p:cNvPr id="12" name="Text 10"/>
          <p:cNvSpPr/>
          <p:nvPr/>
        </p:nvSpPr>
        <p:spPr>
          <a:xfrm>
            <a:off x="8257032" y="4864608"/>
            <a:ext cx="2971800" cy="1005840"/>
          </a:xfrm>
          <a:prstGeom prst="rect">
            <a:avLst/>
          </a:prstGeom>
          <a:noFill/>
          <a:ln/>
        </p:spPr>
        <p:txBody>
          <a:bodyPr wrap="square" lIns="0" tIns="0" rIns="0" bIns="0" rtlCol="0" anchor="ctr"/>
          <a:lstStyle/>
          <a:p>
            <a:pPr rtl="1" algn="r" indent="0" marL="0">
              <a:lnSpc>
                <a:spcPct val="105000"/>
              </a:lnSpc>
              <a:buNone/>
            </a:pPr>
            <a:r>
              <a:rPr lang="en-US" sz="1300" dirty="0">
                <a:solidFill>
                  <a:srgbClr val="AEBBD0"/>
                </a:solidFill>
                <a:latin typeface="Calibri" pitchFamily="34" charset="0"/>
                <a:ea typeface="Calibri" pitchFamily="34" charset="-122"/>
                <a:cs typeface="Calibri" pitchFamily="34" charset="-120"/>
              </a:rPr>
              <a:t>يركن السائق ويدفع من محفظة مسبقة الدفع — تُشحن بالقسائم وقنوات الدفع المحلية، دون بطاقات أجنبية.</a:t>
            </a:r>
            <a:endParaRPr lang="en-US" sz="1300" dirty="0"/>
          </a:p>
        </p:txBody>
      </p:sp>
      <p:sp>
        <p:nvSpPr>
          <p:cNvPr id="13" name="Shape 11"/>
          <p:cNvSpPr/>
          <p:nvPr/>
        </p:nvSpPr>
        <p:spPr>
          <a:xfrm>
            <a:off x="4142232" y="3291840"/>
            <a:ext cx="3611880" cy="2651760"/>
          </a:xfrm>
          <a:prstGeom prst="roundRect">
            <a:avLst>
              <a:gd name="adj" fmla="val 3103"/>
            </a:avLst>
          </a:prstGeom>
          <a:solidFill>
            <a:srgbClr val="14213D"/>
          </a:solidFill>
          <a:ln w="12700">
            <a:solidFill>
              <a:srgbClr val="23304D"/>
            </a:solidFill>
            <a:prstDash val="solid"/>
          </a:ln>
        </p:spPr>
      </p:sp>
      <p:sp>
        <p:nvSpPr>
          <p:cNvPr id="14" name="Shape 12"/>
          <p:cNvSpPr/>
          <p:nvPr/>
        </p:nvSpPr>
        <p:spPr>
          <a:xfrm>
            <a:off x="6793992" y="3611880"/>
            <a:ext cx="640080" cy="640080"/>
          </a:xfrm>
          <a:prstGeom prst="ellipse">
            <a:avLst/>
          </a:prstGeom>
          <a:solidFill>
            <a:srgbClr val="D4A017"/>
          </a:solidFill>
          <a:ln/>
        </p:spPr>
      </p:sp>
      <p:sp>
        <p:nvSpPr>
          <p:cNvPr id="15" name="Text 13"/>
          <p:cNvSpPr/>
          <p:nvPr/>
        </p:nvSpPr>
        <p:spPr>
          <a:xfrm>
            <a:off x="6793992" y="3611880"/>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2</a:t>
            </a:r>
            <a:endParaRPr lang="en-US" sz="2400" dirty="0"/>
          </a:p>
        </p:txBody>
      </p:sp>
      <p:sp>
        <p:nvSpPr>
          <p:cNvPr id="16" name="Text 14"/>
          <p:cNvSpPr/>
          <p:nvPr/>
        </p:nvSpPr>
        <p:spPr>
          <a:xfrm>
            <a:off x="4462272" y="4389120"/>
            <a:ext cx="2971800" cy="457200"/>
          </a:xfrm>
          <a:prstGeom prst="rect">
            <a:avLst/>
          </a:prstGeom>
          <a:noFill/>
          <a:ln/>
        </p:spPr>
        <p:txBody>
          <a:bodyPr wrap="square" lIns="0" tIns="0" rIns="0" bIns="0" rtlCol="0" anchor="ctr"/>
          <a:lstStyle/>
          <a:p>
            <a:pPr rtl="1" algn="r" indent="0" marL="0">
              <a:buNone/>
            </a:pPr>
            <a:r>
              <a:rPr lang="en-US" sz="2100" b="1" dirty="0">
                <a:solidFill>
                  <a:srgbClr val="FFFFFF"/>
                </a:solidFill>
                <a:latin typeface="Cambria" pitchFamily="34" charset="0"/>
                <a:ea typeface="Cambria" pitchFamily="34" charset="-122"/>
                <a:cs typeface="Cambria" pitchFamily="34" charset="-120"/>
              </a:rPr>
              <a:t>أنفِذ</a:t>
            </a:r>
            <a:endParaRPr lang="en-US" sz="2100" dirty="0"/>
          </a:p>
        </p:txBody>
      </p:sp>
      <p:sp>
        <p:nvSpPr>
          <p:cNvPr id="17" name="Text 15"/>
          <p:cNvSpPr/>
          <p:nvPr/>
        </p:nvSpPr>
        <p:spPr>
          <a:xfrm>
            <a:off x="4462272" y="4864608"/>
            <a:ext cx="2971800" cy="1005840"/>
          </a:xfrm>
          <a:prstGeom prst="rect">
            <a:avLst/>
          </a:prstGeom>
          <a:noFill/>
          <a:ln/>
        </p:spPr>
        <p:txBody>
          <a:bodyPr wrap="square" lIns="0" tIns="0" rIns="0" bIns="0" rtlCol="0" anchor="ctr"/>
          <a:lstStyle/>
          <a:p>
            <a:pPr rtl="1" algn="r" indent="0" marL="0">
              <a:lnSpc>
                <a:spcPct val="105000"/>
              </a:lnSpc>
              <a:buNone/>
            </a:pPr>
            <a:r>
              <a:rPr lang="en-US" sz="1300" dirty="0">
                <a:solidFill>
                  <a:srgbClr val="AEBBD0"/>
                </a:solidFill>
                <a:latin typeface="Calibri" pitchFamily="34" charset="0"/>
                <a:ea typeface="Calibri" pitchFamily="34" charset="-122"/>
                <a:cs typeface="Calibri" pitchFamily="34" charset="-120"/>
              </a:rPr>
              <a:t>يفحص الحارس أي لوحة خلال ثوانٍ مقابل سجلّ المركبات ويصدر المخالفة فوراً.</a:t>
            </a:r>
            <a:endParaRPr lang="en-US" sz="1300" dirty="0"/>
          </a:p>
        </p:txBody>
      </p:sp>
      <p:sp>
        <p:nvSpPr>
          <p:cNvPr id="18" name="Shape 16"/>
          <p:cNvSpPr/>
          <p:nvPr/>
        </p:nvSpPr>
        <p:spPr>
          <a:xfrm>
            <a:off x="347472" y="3291840"/>
            <a:ext cx="3611880" cy="2651760"/>
          </a:xfrm>
          <a:prstGeom prst="roundRect">
            <a:avLst>
              <a:gd name="adj" fmla="val 3103"/>
            </a:avLst>
          </a:prstGeom>
          <a:solidFill>
            <a:srgbClr val="14213D"/>
          </a:solidFill>
          <a:ln w="12700">
            <a:solidFill>
              <a:srgbClr val="23304D"/>
            </a:solidFill>
            <a:prstDash val="solid"/>
          </a:ln>
        </p:spPr>
      </p:sp>
      <p:sp>
        <p:nvSpPr>
          <p:cNvPr id="19" name="Shape 17"/>
          <p:cNvSpPr/>
          <p:nvPr/>
        </p:nvSpPr>
        <p:spPr>
          <a:xfrm>
            <a:off x="2999232" y="3611880"/>
            <a:ext cx="640080" cy="640080"/>
          </a:xfrm>
          <a:prstGeom prst="ellipse">
            <a:avLst/>
          </a:prstGeom>
          <a:solidFill>
            <a:srgbClr val="D4A017"/>
          </a:solidFill>
          <a:ln/>
        </p:spPr>
      </p:sp>
      <p:sp>
        <p:nvSpPr>
          <p:cNvPr id="20" name="Text 18"/>
          <p:cNvSpPr/>
          <p:nvPr/>
        </p:nvSpPr>
        <p:spPr>
          <a:xfrm>
            <a:off x="2999232" y="3611880"/>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3</a:t>
            </a:r>
            <a:endParaRPr lang="en-US" sz="2400" dirty="0"/>
          </a:p>
        </p:txBody>
      </p:sp>
      <p:sp>
        <p:nvSpPr>
          <p:cNvPr id="21" name="Text 19"/>
          <p:cNvSpPr/>
          <p:nvPr/>
        </p:nvSpPr>
        <p:spPr>
          <a:xfrm>
            <a:off x="667512" y="4389120"/>
            <a:ext cx="2971800" cy="457200"/>
          </a:xfrm>
          <a:prstGeom prst="rect">
            <a:avLst/>
          </a:prstGeom>
          <a:noFill/>
          <a:ln/>
        </p:spPr>
        <p:txBody>
          <a:bodyPr wrap="square" lIns="0" tIns="0" rIns="0" bIns="0" rtlCol="0" anchor="ctr"/>
          <a:lstStyle/>
          <a:p>
            <a:pPr rtl="1" algn="r" indent="0" marL="0">
              <a:buNone/>
            </a:pPr>
            <a:r>
              <a:rPr lang="en-US" sz="2100" b="1" dirty="0">
                <a:solidFill>
                  <a:srgbClr val="FFFFFF"/>
                </a:solidFill>
                <a:latin typeface="Cambria" pitchFamily="34" charset="0"/>
                <a:ea typeface="Cambria" pitchFamily="34" charset="-122"/>
                <a:cs typeface="Cambria" pitchFamily="34" charset="-120"/>
              </a:rPr>
              <a:t>احكم</a:t>
            </a:r>
            <a:endParaRPr lang="en-US" sz="2100" dirty="0"/>
          </a:p>
        </p:txBody>
      </p:sp>
      <p:sp>
        <p:nvSpPr>
          <p:cNvPr id="22" name="Text 20"/>
          <p:cNvSpPr/>
          <p:nvPr/>
        </p:nvSpPr>
        <p:spPr>
          <a:xfrm>
            <a:off x="667512" y="4864608"/>
            <a:ext cx="2971800" cy="1005840"/>
          </a:xfrm>
          <a:prstGeom prst="rect">
            <a:avLst/>
          </a:prstGeom>
          <a:noFill/>
          <a:ln/>
        </p:spPr>
        <p:txBody>
          <a:bodyPr wrap="square" lIns="0" tIns="0" rIns="0" bIns="0" rtlCol="0" anchor="ctr"/>
          <a:lstStyle/>
          <a:p>
            <a:pPr rtl="1" algn="r" indent="0" marL="0">
              <a:lnSpc>
                <a:spcPct val="105000"/>
              </a:lnSpc>
              <a:buNone/>
            </a:pPr>
            <a:r>
              <a:rPr lang="en-US" sz="1300" dirty="0">
                <a:solidFill>
                  <a:srgbClr val="AEBBD0"/>
                </a:solidFill>
                <a:latin typeface="Calibri" pitchFamily="34" charset="0"/>
                <a:ea typeface="Calibri" pitchFamily="34" charset="-122"/>
                <a:cs typeface="Calibri" pitchFamily="34" charset="-120"/>
              </a:rPr>
              <a:t>يضبط المدير سعراً واحداً مرتبطاً بالوقود ويراقب الإيراد والإشغال وحصة المدينة آنياً.</a:t>
            </a:r>
            <a:endParaRPr lang="en-US" sz="1300" dirty="0"/>
          </a:p>
        </p:txBody>
      </p:sp>
      <p:sp>
        <p:nvSpPr>
          <p:cNvPr id="23" name="Text 21"/>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94A3B8"/>
                </a:solidFill>
                <a:latin typeface="Calibri" pitchFamily="34" charset="0"/>
                <a:ea typeface="Calibri" pitchFamily="34" charset="-122"/>
                <a:cs typeface="Calibri" pitchFamily="34" charset="-120"/>
              </a:rPr>
              <a:t>موقف · مواقف دمشق الذكية</a:t>
            </a:r>
            <a:endParaRPr lang="en-US" sz="1000" dirty="0"/>
          </a:p>
        </p:txBody>
      </p:sp>
      <p:sp>
        <p:nvSpPr>
          <p:cNvPr id="24" name="Text 22"/>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كيف يعمل</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من الرصيف إلى خزينة المدينة في مسار واحد.</a:t>
            </a:r>
            <a:endParaRPr lang="en-US" sz="3000" dirty="0"/>
          </a:p>
        </p:txBody>
      </p:sp>
      <p:sp>
        <p:nvSpPr>
          <p:cNvPr id="6" name="Shape 4"/>
          <p:cNvSpPr/>
          <p:nvPr/>
        </p:nvSpPr>
        <p:spPr>
          <a:xfrm>
            <a:off x="9445752"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0131552" y="2788920"/>
            <a:ext cx="731520" cy="731520"/>
          </a:xfrm>
          <a:prstGeom prst="ellipse">
            <a:avLst/>
          </a:prstGeom>
          <a:solidFill>
            <a:srgbClr val="0B1220"/>
          </a:solidFill>
          <a:ln/>
        </p:spPr>
      </p:sp>
      <p:sp>
        <p:nvSpPr>
          <p:cNvPr id="8" name="Text 6"/>
          <p:cNvSpPr/>
          <p:nvPr/>
        </p:nvSpPr>
        <p:spPr>
          <a:xfrm>
            <a:off x="10131552"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1</a:t>
            </a:r>
            <a:endParaRPr lang="en-US" sz="2600" dirty="0"/>
          </a:p>
        </p:txBody>
      </p:sp>
      <p:sp>
        <p:nvSpPr>
          <p:cNvPr id="9" name="Text 7"/>
          <p:cNvSpPr/>
          <p:nvPr/>
        </p:nvSpPr>
        <p:spPr>
          <a:xfrm>
            <a:off x="9582912" y="3657600"/>
            <a:ext cx="1828800" cy="411480"/>
          </a:xfrm>
          <a:prstGeom prst="rect">
            <a:avLst/>
          </a:prstGeom>
          <a:noFill/>
          <a:ln/>
        </p:spPr>
        <p:txBody>
          <a:bodyPr wrap="square" lIns="0" tIns="0" rIns="0" bIns="0" rtlCol="0" anchor="ctr"/>
          <a:lstStyle/>
          <a:p>
            <a:pPr rtl="1" algn="ctr" indent="0" marL="0">
              <a:buNone/>
            </a:pPr>
            <a:r>
              <a:rPr lang="en-US" sz="1800" b="1" dirty="0">
                <a:solidFill>
                  <a:srgbClr val="0F172A"/>
                </a:solidFill>
                <a:latin typeface="Cambria" pitchFamily="34" charset="0"/>
                <a:ea typeface="Cambria" pitchFamily="34" charset="-122"/>
                <a:cs typeface="Cambria" pitchFamily="34" charset="-120"/>
              </a:rPr>
              <a:t>اركن</a:t>
            </a:r>
            <a:endParaRPr lang="en-US" sz="1800" dirty="0"/>
          </a:p>
        </p:txBody>
      </p:sp>
      <p:sp>
        <p:nvSpPr>
          <p:cNvPr id="10" name="Text 8"/>
          <p:cNvSpPr/>
          <p:nvPr/>
        </p:nvSpPr>
        <p:spPr>
          <a:xfrm>
            <a:off x="9610344" y="4059936"/>
            <a:ext cx="1773936" cy="640080"/>
          </a:xfrm>
          <a:prstGeom prst="rect">
            <a:avLst/>
          </a:prstGeom>
          <a:noFill/>
          <a:ln/>
        </p:spPr>
        <p:txBody>
          <a:bodyPr wrap="square" lIns="0" tIns="0" rIns="0" bIns="0" rtlCol="0" anchor="ctr"/>
          <a:lstStyle/>
          <a:p>
            <a:pPr rtl="1" algn="ctr" indent="0" marL="0">
              <a:lnSpc>
                <a:spcPct val="105000"/>
              </a:lnSpc>
              <a:buNone/>
            </a:pPr>
            <a:r>
              <a:rPr lang="en-US" sz="1250" dirty="0">
                <a:solidFill>
                  <a:srgbClr val="64748B"/>
                </a:solidFill>
                <a:latin typeface="Calibri" pitchFamily="34" charset="0"/>
                <a:ea typeface="Calibri" pitchFamily="34" charset="-122"/>
                <a:cs typeface="Calibri" pitchFamily="34" charset="-120"/>
              </a:rPr>
              <a:t>يتوقّف السائق ويفتح تطبيق موقف.</a:t>
            </a:r>
            <a:endParaRPr lang="en-US" sz="1250" dirty="0"/>
          </a:p>
        </p:txBody>
      </p:sp>
      <p:sp>
        <p:nvSpPr>
          <p:cNvPr id="11" name="Text 9"/>
          <p:cNvSpPr/>
          <p:nvPr/>
        </p:nvSpPr>
        <p:spPr>
          <a:xfrm>
            <a:off x="9208008"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7159752"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3" name="Shape 11"/>
          <p:cNvSpPr/>
          <p:nvPr/>
        </p:nvSpPr>
        <p:spPr>
          <a:xfrm>
            <a:off x="7845552" y="2788920"/>
            <a:ext cx="731520" cy="731520"/>
          </a:xfrm>
          <a:prstGeom prst="ellipse">
            <a:avLst/>
          </a:prstGeom>
          <a:solidFill>
            <a:srgbClr val="0B1220"/>
          </a:solidFill>
          <a:ln/>
        </p:spPr>
      </p:sp>
      <p:sp>
        <p:nvSpPr>
          <p:cNvPr id="14" name="Text 12"/>
          <p:cNvSpPr/>
          <p:nvPr/>
        </p:nvSpPr>
        <p:spPr>
          <a:xfrm>
            <a:off x="7845552"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2</a:t>
            </a:r>
            <a:endParaRPr lang="en-US" sz="2600" dirty="0"/>
          </a:p>
        </p:txBody>
      </p:sp>
      <p:sp>
        <p:nvSpPr>
          <p:cNvPr id="15" name="Text 13"/>
          <p:cNvSpPr/>
          <p:nvPr/>
        </p:nvSpPr>
        <p:spPr>
          <a:xfrm>
            <a:off x="7296912" y="3657600"/>
            <a:ext cx="1828800" cy="411480"/>
          </a:xfrm>
          <a:prstGeom prst="rect">
            <a:avLst/>
          </a:prstGeom>
          <a:noFill/>
          <a:ln/>
        </p:spPr>
        <p:txBody>
          <a:bodyPr wrap="square" lIns="0" tIns="0" rIns="0" bIns="0" rtlCol="0" anchor="ctr"/>
          <a:lstStyle/>
          <a:p>
            <a:pPr rtl="1" algn="ctr" indent="0" marL="0">
              <a:buNone/>
            </a:pPr>
            <a:r>
              <a:rPr lang="en-US" sz="1800" b="1" dirty="0">
                <a:solidFill>
                  <a:srgbClr val="0F172A"/>
                </a:solidFill>
                <a:latin typeface="Cambria" pitchFamily="34" charset="0"/>
                <a:ea typeface="Cambria" pitchFamily="34" charset="-122"/>
                <a:cs typeface="Cambria" pitchFamily="34" charset="-120"/>
              </a:rPr>
              <a:t>ابدأ</a:t>
            </a:r>
            <a:endParaRPr lang="en-US" sz="1800" dirty="0"/>
          </a:p>
        </p:txBody>
      </p:sp>
      <p:sp>
        <p:nvSpPr>
          <p:cNvPr id="16" name="Text 14"/>
          <p:cNvSpPr/>
          <p:nvPr/>
        </p:nvSpPr>
        <p:spPr>
          <a:xfrm>
            <a:off x="7324344" y="4059936"/>
            <a:ext cx="1773936" cy="640080"/>
          </a:xfrm>
          <a:prstGeom prst="rect">
            <a:avLst/>
          </a:prstGeom>
          <a:noFill/>
          <a:ln/>
        </p:spPr>
        <p:txBody>
          <a:bodyPr wrap="square" lIns="0" tIns="0" rIns="0" bIns="0" rtlCol="0" anchor="ctr"/>
          <a:lstStyle/>
          <a:p>
            <a:pPr rtl="1" algn="ctr" indent="0" marL="0">
              <a:lnSpc>
                <a:spcPct val="105000"/>
              </a:lnSpc>
              <a:buNone/>
            </a:pPr>
            <a:r>
              <a:rPr lang="en-US" sz="1250" dirty="0">
                <a:solidFill>
                  <a:srgbClr val="64748B"/>
                </a:solidFill>
                <a:latin typeface="Calibri" pitchFamily="34" charset="0"/>
                <a:ea typeface="Calibri" pitchFamily="34" charset="-122"/>
                <a:cs typeface="Calibri" pitchFamily="34" charset="-120"/>
              </a:rPr>
              <a:t>يختار المنطقة (باقتراح من GPS)؛ ويُحدَّد السعر بمؤشر الوقود الحيّ.</a:t>
            </a:r>
            <a:endParaRPr lang="en-US" sz="1250" dirty="0"/>
          </a:p>
        </p:txBody>
      </p:sp>
      <p:sp>
        <p:nvSpPr>
          <p:cNvPr id="17" name="Text 15"/>
          <p:cNvSpPr/>
          <p:nvPr/>
        </p:nvSpPr>
        <p:spPr>
          <a:xfrm>
            <a:off x="6922008"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4873752"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9" name="Shape 17"/>
          <p:cNvSpPr/>
          <p:nvPr/>
        </p:nvSpPr>
        <p:spPr>
          <a:xfrm>
            <a:off x="5559552" y="2788920"/>
            <a:ext cx="731520" cy="731520"/>
          </a:xfrm>
          <a:prstGeom prst="ellipse">
            <a:avLst/>
          </a:prstGeom>
          <a:solidFill>
            <a:srgbClr val="0B1220"/>
          </a:solidFill>
          <a:ln/>
        </p:spPr>
      </p:sp>
      <p:sp>
        <p:nvSpPr>
          <p:cNvPr id="20" name="Text 18"/>
          <p:cNvSpPr/>
          <p:nvPr/>
        </p:nvSpPr>
        <p:spPr>
          <a:xfrm>
            <a:off x="5559552"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3</a:t>
            </a:r>
            <a:endParaRPr lang="en-US" sz="2600" dirty="0"/>
          </a:p>
        </p:txBody>
      </p:sp>
      <p:sp>
        <p:nvSpPr>
          <p:cNvPr id="21" name="Text 19"/>
          <p:cNvSpPr/>
          <p:nvPr/>
        </p:nvSpPr>
        <p:spPr>
          <a:xfrm>
            <a:off x="5010912" y="3657600"/>
            <a:ext cx="1828800" cy="411480"/>
          </a:xfrm>
          <a:prstGeom prst="rect">
            <a:avLst/>
          </a:prstGeom>
          <a:noFill/>
          <a:ln/>
        </p:spPr>
        <p:txBody>
          <a:bodyPr wrap="square" lIns="0" tIns="0" rIns="0" bIns="0" rtlCol="0" anchor="ctr"/>
          <a:lstStyle/>
          <a:p>
            <a:pPr rtl="1" algn="ctr" indent="0" marL="0">
              <a:buNone/>
            </a:pPr>
            <a:r>
              <a:rPr lang="en-US" sz="1800" b="1" dirty="0">
                <a:solidFill>
                  <a:srgbClr val="0F172A"/>
                </a:solidFill>
                <a:latin typeface="Cambria" pitchFamily="34" charset="0"/>
                <a:ea typeface="Cambria" pitchFamily="34" charset="-122"/>
                <a:cs typeface="Cambria" pitchFamily="34" charset="-120"/>
              </a:rPr>
              <a:t>ادفع</a:t>
            </a:r>
            <a:endParaRPr lang="en-US" sz="1800" dirty="0"/>
          </a:p>
        </p:txBody>
      </p:sp>
      <p:sp>
        <p:nvSpPr>
          <p:cNvPr id="22" name="Text 20"/>
          <p:cNvSpPr/>
          <p:nvPr/>
        </p:nvSpPr>
        <p:spPr>
          <a:xfrm>
            <a:off x="5038344" y="4059936"/>
            <a:ext cx="1773936" cy="640080"/>
          </a:xfrm>
          <a:prstGeom prst="rect">
            <a:avLst/>
          </a:prstGeom>
          <a:noFill/>
          <a:ln/>
        </p:spPr>
        <p:txBody>
          <a:bodyPr wrap="square" lIns="0" tIns="0" rIns="0" bIns="0" rtlCol="0" anchor="ctr"/>
          <a:lstStyle/>
          <a:p>
            <a:pPr rtl="1" algn="ctr" indent="0" marL="0">
              <a:lnSpc>
                <a:spcPct val="105000"/>
              </a:lnSpc>
              <a:buNone/>
            </a:pPr>
            <a:r>
              <a:rPr lang="en-US" sz="1250" dirty="0">
                <a:solidFill>
                  <a:srgbClr val="64748B"/>
                </a:solidFill>
                <a:latin typeface="Calibri" pitchFamily="34" charset="0"/>
                <a:ea typeface="Calibri" pitchFamily="34" charset="-122"/>
                <a:cs typeface="Calibri" pitchFamily="34" charset="-120"/>
              </a:rPr>
              <a:t>تُحتسب المدة من المحفظة المسبقة — بلا نقد وبلا عدّاد.</a:t>
            </a:r>
            <a:endParaRPr lang="en-US" sz="1250" dirty="0"/>
          </a:p>
        </p:txBody>
      </p:sp>
      <p:sp>
        <p:nvSpPr>
          <p:cNvPr id="23" name="Text 21"/>
          <p:cNvSpPr/>
          <p:nvPr/>
        </p:nvSpPr>
        <p:spPr>
          <a:xfrm>
            <a:off x="4636008"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24" name="Shape 22"/>
          <p:cNvSpPr/>
          <p:nvPr/>
        </p:nvSpPr>
        <p:spPr>
          <a:xfrm>
            <a:off x="2587752"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5" name="Shape 23"/>
          <p:cNvSpPr/>
          <p:nvPr/>
        </p:nvSpPr>
        <p:spPr>
          <a:xfrm>
            <a:off x="3273552" y="2788920"/>
            <a:ext cx="731520" cy="731520"/>
          </a:xfrm>
          <a:prstGeom prst="ellipse">
            <a:avLst/>
          </a:prstGeom>
          <a:solidFill>
            <a:srgbClr val="0B1220"/>
          </a:solidFill>
          <a:ln/>
        </p:spPr>
      </p:sp>
      <p:sp>
        <p:nvSpPr>
          <p:cNvPr id="26" name="Text 24"/>
          <p:cNvSpPr/>
          <p:nvPr/>
        </p:nvSpPr>
        <p:spPr>
          <a:xfrm>
            <a:off x="3273552"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4</a:t>
            </a:r>
            <a:endParaRPr lang="en-US" sz="2600" dirty="0"/>
          </a:p>
        </p:txBody>
      </p:sp>
      <p:sp>
        <p:nvSpPr>
          <p:cNvPr id="27" name="Text 25"/>
          <p:cNvSpPr/>
          <p:nvPr/>
        </p:nvSpPr>
        <p:spPr>
          <a:xfrm>
            <a:off x="2724912" y="3657600"/>
            <a:ext cx="1828800" cy="411480"/>
          </a:xfrm>
          <a:prstGeom prst="rect">
            <a:avLst/>
          </a:prstGeom>
          <a:noFill/>
          <a:ln/>
        </p:spPr>
        <p:txBody>
          <a:bodyPr wrap="square" lIns="0" tIns="0" rIns="0" bIns="0" rtlCol="0" anchor="ctr"/>
          <a:lstStyle/>
          <a:p>
            <a:pPr rtl="1" algn="ctr" indent="0" marL="0">
              <a:buNone/>
            </a:pPr>
            <a:r>
              <a:rPr lang="en-US" sz="1800" b="1" dirty="0">
                <a:solidFill>
                  <a:srgbClr val="0F172A"/>
                </a:solidFill>
                <a:latin typeface="Cambria" pitchFamily="34" charset="0"/>
                <a:ea typeface="Cambria" pitchFamily="34" charset="-122"/>
                <a:cs typeface="Cambria" pitchFamily="34" charset="-120"/>
              </a:rPr>
              <a:t>أنفِذ</a:t>
            </a:r>
            <a:endParaRPr lang="en-US" sz="1800" dirty="0"/>
          </a:p>
        </p:txBody>
      </p:sp>
      <p:sp>
        <p:nvSpPr>
          <p:cNvPr id="28" name="Text 26"/>
          <p:cNvSpPr/>
          <p:nvPr/>
        </p:nvSpPr>
        <p:spPr>
          <a:xfrm>
            <a:off x="2752344" y="4059936"/>
            <a:ext cx="1773936" cy="640080"/>
          </a:xfrm>
          <a:prstGeom prst="rect">
            <a:avLst/>
          </a:prstGeom>
          <a:noFill/>
          <a:ln/>
        </p:spPr>
        <p:txBody>
          <a:bodyPr wrap="square" lIns="0" tIns="0" rIns="0" bIns="0" rtlCol="0" anchor="ctr"/>
          <a:lstStyle/>
          <a:p>
            <a:pPr rtl="1" algn="ctr" indent="0" marL="0">
              <a:lnSpc>
                <a:spcPct val="105000"/>
              </a:lnSpc>
              <a:buNone/>
            </a:pPr>
            <a:r>
              <a:rPr lang="en-US" sz="1250" dirty="0">
                <a:solidFill>
                  <a:srgbClr val="64748B"/>
                </a:solidFill>
                <a:latin typeface="Calibri" pitchFamily="34" charset="0"/>
                <a:ea typeface="Calibri" pitchFamily="34" charset="-122"/>
                <a:cs typeface="Calibri" pitchFamily="34" charset="-120"/>
              </a:rPr>
              <a:t>يمسح الحارس اللوحة؛ لا جلسة فعّالة = مخالفة فورية.</a:t>
            </a:r>
            <a:endParaRPr lang="en-US" sz="1250" dirty="0"/>
          </a:p>
        </p:txBody>
      </p:sp>
      <p:sp>
        <p:nvSpPr>
          <p:cNvPr id="29" name="Text 27"/>
          <p:cNvSpPr/>
          <p:nvPr/>
        </p:nvSpPr>
        <p:spPr>
          <a:xfrm>
            <a:off x="2350008"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30" name="Shape 28"/>
          <p:cNvSpPr/>
          <p:nvPr/>
        </p:nvSpPr>
        <p:spPr>
          <a:xfrm>
            <a:off x="301752"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1" name="Shape 29"/>
          <p:cNvSpPr/>
          <p:nvPr/>
        </p:nvSpPr>
        <p:spPr>
          <a:xfrm>
            <a:off x="987552" y="2788920"/>
            <a:ext cx="731520" cy="731520"/>
          </a:xfrm>
          <a:prstGeom prst="ellipse">
            <a:avLst/>
          </a:prstGeom>
          <a:solidFill>
            <a:srgbClr val="0B1220"/>
          </a:solidFill>
          <a:ln/>
        </p:spPr>
      </p:sp>
      <p:sp>
        <p:nvSpPr>
          <p:cNvPr id="32" name="Text 30"/>
          <p:cNvSpPr/>
          <p:nvPr/>
        </p:nvSpPr>
        <p:spPr>
          <a:xfrm>
            <a:off x="987552"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5</a:t>
            </a:r>
            <a:endParaRPr lang="en-US" sz="2600" dirty="0"/>
          </a:p>
        </p:txBody>
      </p:sp>
      <p:sp>
        <p:nvSpPr>
          <p:cNvPr id="33" name="Text 31"/>
          <p:cNvSpPr/>
          <p:nvPr/>
        </p:nvSpPr>
        <p:spPr>
          <a:xfrm>
            <a:off x="438912" y="3657600"/>
            <a:ext cx="1828800" cy="411480"/>
          </a:xfrm>
          <a:prstGeom prst="rect">
            <a:avLst/>
          </a:prstGeom>
          <a:noFill/>
          <a:ln/>
        </p:spPr>
        <p:txBody>
          <a:bodyPr wrap="square" lIns="0" tIns="0" rIns="0" bIns="0" rtlCol="0" anchor="ctr"/>
          <a:lstStyle/>
          <a:p>
            <a:pPr rtl="1" algn="ctr" indent="0" marL="0">
              <a:buNone/>
            </a:pPr>
            <a:r>
              <a:rPr lang="en-US" sz="1800" b="1" dirty="0">
                <a:solidFill>
                  <a:srgbClr val="0F172A"/>
                </a:solidFill>
                <a:latin typeface="Cambria" pitchFamily="34" charset="0"/>
                <a:ea typeface="Cambria" pitchFamily="34" charset="-122"/>
                <a:cs typeface="Cambria" pitchFamily="34" charset="-120"/>
              </a:rPr>
              <a:t>سَوِّ</a:t>
            </a:r>
            <a:endParaRPr lang="en-US" sz="1800" dirty="0"/>
          </a:p>
        </p:txBody>
      </p:sp>
      <p:sp>
        <p:nvSpPr>
          <p:cNvPr id="34" name="Text 32"/>
          <p:cNvSpPr/>
          <p:nvPr/>
        </p:nvSpPr>
        <p:spPr>
          <a:xfrm>
            <a:off x="466344" y="4059936"/>
            <a:ext cx="1773936" cy="640080"/>
          </a:xfrm>
          <a:prstGeom prst="rect">
            <a:avLst/>
          </a:prstGeom>
          <a:noFill/>
          <a:ln/>
        </p:spPr>
        <p:txBody>
          <a:bodyPr wrap="square" lIns="0" tIns="0" rIns="0" bIns="0" rtlCol="0" anchor="ctr"/>
          <a:lstStyle/>
          <a:p>
            <a:pPr rtl="1" algn="ctr" indent="0" marL="0">
              <a:lnSpc>
                <a:spcPct val="105000"/>
              </a:lnSpc>
              <a:buNone/>
            </a:pPr>
            <a:r>
              <a:rPr lang="en-US" sz="1250" dirty="0">
                <a:solidFill>
                  <a:srgbClr val="64748B"/>
                </a:solidFill>
                <a:latin typeface="Calibri" pitchFamily="34" charset="0"/>
                <a:ea typeface="Calibri" pitchFamily="34" charset="-122"/>
                <a:cs typeface="Calibri" pitchFamily="34" charset="-120"/>
              </a:rPr>
              <a:t>تُقسَّم الإيرادات للمدينة آنياً وبتدقيق كامل.</a:t>
            </a:r>
            <a:endParaRPr lang="en-US" sz="1250" dirty="0"/>
          </a:p>
        </p:txBody>
      </p:sp>
      <p:sp>
        <p:nvSpPr>
          <p:cNvPr id="35" name="Text 33"/>
          <p:cNvSpPr/>
          <p:nvPr/>
        </p:nvSpPr>
        <p:spPr>
          <a:xfrm>
            <a:off x="457200" y="5257800"/>
            <a:ext cx="11274552"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كل خطوة مسجّلة. </a:t>
            </a:r>
            <a:pPr algn="ctr" indent="0" marL="0">
              <a:buNone/>
            </a:pPr>
            <a:r>
              <a:rPr lang="en-US" sz="1500" dirty="0">
                <a:solidFill>
                  <a:srgbClr val="64748B"/>
                </a:solidFill>
                <a:latin typeface="Calibri" pitchFamily="34" charset="0"/>
                <a:ea typeface="Calibri" pitchFamily="34" charset="-122"/>
                <a:cs typeface="Calibri" pitchFamily="34" charset="-120"/>
              </a:rPr>
              <a:t>تحصل المدينة على سجلّ كامل يصعب العبث به لكل جلسة وكل ليرة.</a:t>
            </a:r>
            <a:endParaRPr lang="en-US" sz="1500" dirty="0"/>
          </a:p>
        </p:txBody>
      </p:sp>
      <p:sp>
        <p:nvSpPr>
          <p:cNvPr id="36" name="Text 34"/>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37" name="Text 35"/>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الإنجاز</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ليست فكرة — منصّة عاملة ومتاحة اليوم.</a:t>
            </a:r>
            <a:endParaRPr lang="en-US" sz="3000" dirty="0"/>
          </a:p>
        </p:txBody>
      </p:sp>
      <p:sp>
        <p:nvSpPr>
          <p:cNvPr id="6" name="Shape 4"/>
          <p:cNvSpPr/>
          <p:nvPr/>
        </p:nvSpPr>
        <p:spPr>
          <a:xfrm>
            <a:off x="7982712"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0908792" y="2148840"/>
            <a:ext cx="384048" cy="384048"/>
          </a:xfrm>
          <a:prstGeom prst="ellipse">
            <a:avLst/>
          </a:prstGeom>
          <a:solidFill>
            <a:srgbClr val="D4A017"/>
          </a:solidFill>
          <a:ln/>
        </p:spPr>
      </p:sp>
      <p:sp>
        <p:nvSpPr>
          <p:cNvPr id="8" name="Text 6"/>
          <p:cNvSpPr/>
          <p:nvPr/>
        </p:nvSpPr>
        <p:spPr>
          <a:xfrm>
            <a:off x="10908792" y="2148840"/>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8686800" y="2112264"/>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ثلاثة تطبيقات بحسب الدور</a:t>
            </a:r>
            <a:endParaRPr lang="en-US" sz="1500" dirty="0"/>
          </a:p>
        </p:txBody>
      </p:sp>
      <p:sp>
        <p:nvSpPr>
          <p:cNvPr id="10" name="Text 8"/>
          <p:cNvSpPr/>
          <p:nvPr/>
        </p:nvSpPr>
        <p:spPr>
          <a:xfrm>
            <a:off x="8686800" y="2551176"/>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تجارب للسائق والحارس والمدير — كلٌّ مصمّمة لما يحتاجه ذلك المستخدم بالضبط.</a:t>
            </a:r>
            <a:endParaRPr lang="en-US" sz="1200" dirty="0"/>
          </a:p>
        </p:txBody>
      </p:sp>
      <p:sp>
        <p:nvSpPr>
          <p:cNvPr id="11" name="Shape 9"/>
          <p:cNvSpPr/>
          <p:nvPr/>
        </p:nvSpPr>
        <p:spPr>
          <a:xfrm>
            <a:off x="4233672"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7159752" y="2148840"/>
            <a:ext cx="384048" cy="384048"/>
          </a:xfrm>
          <a:prstGeom prst="ellipse">
            <a:avLst/>
          </a:prstGeom>
          <a:solidFill>
            <a:srgbClr val="D4A017"/>
          </a:solidFill>
          <a:ln/>
        </p:spPr>
      </p:sp>
      <p:sp>
        <p:nvSpPr>
          <p:cNvPr id="13" name="Text 11"/>
          <p:cNvSpPr/>
          <p:nvPr/>
        </p:nvSpPr>
        <p:spPr>
          <a:xfrm>
            <a:off x="7159752" y="2148840"/>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4937760" y="2112264"/>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عربية أولاً، وثنائية اللغة</a:t>
            </a:r>
            <a:endParaRPr lang="en-US" sz="1500" dirty="0"/>
          </a:p>
        </p:txBody>
      </p:sp>
      <p:sp>
        <p:nvSpPr>
          <p:cNvPr id="15" name="Text 13"/>
          <p:cNvSpPr/>
          <p:nvPr/>
        </p:nvSpPr>
        <p:spPr>
          <a:xfrm>
            <a:off x="4937760" y="2551176"/>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واجهة عربية أصيلة من اليمين لليسار، وزر واحد للإنجليزية، ووضعان فاتح وداكن.</a:t>
            </a:r>
            <a:endParaRPr lang="en-US" sz="1200" dirty="0"/>
          </a:p>
        </p:txBody>
      </p:sp>
      <p:sp>
        <p:nvSpPr>
          <p:cNvPr id="16" name="Shape 14"/>
          <p:cNvSpPr/>
          <p:nvPr/>
        </p:nvSpPr>
        <p:spPr>
          <a:xfrm>
            <a:off x="484632"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3410712" y="2148840"/>
            <a:ext cx="384048" cy="384048"/>
          </a:xfrm>
          <a:prstGeom prst="ellipse">
            <a:avLst/>
          </a:prstGeom>
          <a:solidFill>
            <a:srgbClr val="D4A017"/>
          </a:solidFill>
          <a:ln/>
        </p:spPr>
      </p:sp>
      <p:sp>
        <p:nvSpPr>
          <p:cNvPr id="18" name="Text 16"/>
          <p:cNvSpPr/>
          <p:nvPr/>
        </p:nvSpPr>
        <p:spPr>
          <a:xfrm>
            <a:off x="3410712" y="2148840"/>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1188720" y="2112264"/>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خريطة تفاعلية حيّة</a:t>
            </a:r>
            <a:endParaRPr lang="en-US" sz="1500" dirty="0"/>
          </a:p>
        </p:txBody>
      </p:sp>
      <p:sp>
        <p:nvSpPr>
          <p:cNvPr id="20" name="Text 18"/>
          <p:cNvSpPr/>
          <p:nvPr/>
        </p:nvSpPr>
        <p:spPr>
          <a:xfrm>
            <a:off x="1188720" y="2551176"/>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خريطة دمشق حقيقية بمناطق محدّدة جغرافياً (حمراء وصفراء وخضراء) وموقع مباشر.</a:t>
            </a:r>
            <a:endParaRPr lang="en-US" sz="1200" dirty="0"/>
          </a:p>
        </p:txBody>
      </p:sp>
      <p:sp>
        <p:nvSpPr>
          <p:cNvPr id="21" name="Shape 19"/>
          <p:cNvSpPr/>
          <p:nvPr/>
        </p:nvSpPr>
        <p:spPr>
          <a:xfrm>
            <a:off x="7982712"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10908792" y="3813048"/>
            <a:ext cx="384048" cy="384048"/>
          </a:xfrm>
          <a:prstGeom prst="ellipse">
            <a:avLst/>
          </a:prstGeom>
          <a:solidFill>
            <a:srgbClr val="D4A017"/>
          </a:solidFill>
          <a:ln/>
        </p:spPr>
      </p:sp>
      <p:sp>
        <p:nvSpPr>
          <p:cNvPr id="23" name="Text 21"/>
          <p:cNvSpPr/>
          <p:nvPr/>
        </p:nvSpPr>
        <p:spPr>
          <a:xfrm>
            <a:off x="10908792" y="3813048"/>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8686800" y="3776472"/>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محفظة مسبقة ودفتر قيود</a:t>
            </a:r>
            <a:endParaRPr lang="en-US" sz="1500" dirty="0"/>
          </a:p>
        </p:txBody>
      </p:sp>
      <p:sp>
        <p:nvSpPr>
          <p:cNvPr id="25" name="Text 23"/>
          <p:cNvSpPr/>
          <p:nvPr/>
        </p:nvSpPr>
        <p:spPr>
          <a:xfrm>
            <a:off x="8686800" y="4215384"/>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شحن بالقسائم، وتسعير مرتبط بالوقود، ودفتر قيود إلحاقي للتدقيق.</a:t>
            </a:r>
            <a:endParaRPr lang="en-US" sz="1200" dirty="0"/>
          </a:p>
        </p:txBody>
      </p:sp>
      <p:sp>
        <p:nvSpPr>
          <p:cNvPr id="26" name="Shape 24"/>
          <p:cNvSpPr/>
          <p:nvPr/>
        </p:nvSpPr>
        <p:spPr>
          <a:xfrm>
            <a:off x="4233672"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7" name="Shape 25"/>
          <p:cNvSpPr/>
          <p:nvPr/>
        </p:nvSpPr>
        <p:spPr>
          <a:xfrm>
            <a:off x="7159752" y="3813048"/>
            <a:ext cx="384048" cy="384048"/>
          </a:xfrm>
          <a:prstGeom prst="ellipse">
            <a:avLst/>
          </a:prstGeom>
          <a:solidFill>
            <a:srgbClr val="D4A017"/>
          </a:solidFill>
          <a:ln/>
        </p:spPr>
      </p:sp>
      <p:sp>
        <p:nvSpPr>
          <p:cNvPr id="28" name="Text 26"/>
          <p:cNvSpPr/>
          <p:nvPr/>
        </p:nvSpPr>
        <p:spPr>
          <a:xfrm>
            <a:off x="7159752" y="3813048"/>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4937760" y="3776472"/>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محصّنة وآمنة</a:t>
            </a:r>
            <a:endParaRPr lang="en-US" sz="1500" dirty="0"/>
          </a:p>
        </p:txBody>
      </p:sp>
      <p:sp>
        <p:nvSpPr>
          <p:cNvPr id="30" name="Text 28"/>
          <p:cNvSpPr/>
          <p:nvPr/>
        </p:nvSpPr>
        <p:spPr>
          <a:xfrm>
            <a:off x="4937760" y="4215384"/>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تحكّم بالوصول حسب الدور وأمان على مستوى الصفوف لكل جدول؛ ومدفوعات مانعة للتكرار.</a:t>
            </a:r>
            <a:endParaRPr lang="en-US" sz="1200" dirty="0"/>
          </a:p>
        </p:txBody>
      </p:sp>
      <p:sp>
        <p:nvSpPr>
          <p:cNvPr id="31" name="Shape 29"/>
          <p:cNvSpPr/>
          <p:nvPr/>
        </p:nvSpPr>
        <p:spPr>
          <a:xfrm>
            <a:off x="484632"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2" name="Shape 30"/>
          <p:cNvSpPr/>
          <p:nvPr/>
        </p:nvSpPr>
        <p:spPr>
          <a:xfrm>
            <a:off x="3410712" y="3813048"/>
            <a:ext cx="384048" cy="384048"/>
          </a:xfrm>
          <a:prstGeom prst="ellipse">
            <a:avLst/>
          </a:prstGeom>
          <a:solidFill>
            <a:srgbClr val="D4A017"/>
          </a:solidFill>
          <a:ln/>
        </p:spPr>
      </p:sp>
      <p:sp>
        <p:nvSpPr>
          <p:cNvPr id="33" name="Text 31"/>
          <p:cNvSpPr/>
          <p:nvPr/>
        </p:nvSpPr>
        <p:spPr>
          <a:xfrm>
            <a:off x="3410712" y="3813048"/>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34" name="Text 32"/>
          <p:cNvSpPr/>
          <p:nvPr/>
        </p:nvSpPr>
        <p:spPr>
          <a:xfrm>
            <a:off x="1188720" y="3776472"/>
            <a:ext cx="2606040" cy="457200"/>
          </a:xfrm>
          <a:prstGeom prst="rect">
            <a:avLst/>
          </a:prstGeom>
          <a:noFill/>
          <a:ln/>
        </p:spPr>
        <p:txBody>
          <a:bodyPr wrap="square" lIns="0" tIns="0" rIns="0" bIns="0" rtlCol="0" anchor="ctr"/>
          <a:lstStyle/>
          <a:p>
            <a:pPr rtl="1" algn="r" indent="0" marL="0">
              <a:buNone/>
            </a:pPr>
            <a:r>
              <a:rPr lang="en-US" sz="1500" b="1" dirty="0">
                <a:solidFill>
                  <a:srgbClr val="0F172A"/>
                </a:solidFill>
                <a:latin typeface="Cambria" pitchFamily="34" charset="0"/>
                <a:ea typeface="Cambria" pitchFamily="34" charset="-122"/>
                <a:cs typeface="Cambria" pitchFamily="34" charset="-120"/>
              </a:rPr>
              <a:t>منشورة وبتكلفة بنية صفرية</a:t>
            </a:r>
            <a:endParaRPr lang="en-US" sz="1500" dirty="0"/>
          </a:p>
        </p:txBody>
      </p:sp>
      <p:sp>
        <p:nvSpPr>
          <p:cNvPr id="35" name="Text 33"/>
          <p:cNvSpPr/>
          <p:nvPr/>
        </p:nvSpPr>
        <p:spPr>
          <a:xfrm>
            <a:off x="1188720" y="4215384"/>
            <a:ext cx="2606040" cy="713232"/>
          </a:xfrm>
          <a:prstGeom prst="rect">
            <a:avLst/>
          </a:prstGeom>
          <a:noFill/>
          <a:ln/>
        </p:spPr>
        <p:txBody>
          <a:bodyPr wrap="square" lIns="0" tIns="0" rIns="0" bIns="0" rtlCol="0" anchor="ctr"/>
          <a:lstStyle/>
          <a:p>
            <a:pPr rtl="1" algn="r" indent="0" marL="0">
              <a:lnSpc>
                <a:spcPct val="103000"/>
              </a:lnSpc>
              <a:buNone/>
            </a:pPr>
            <a:r>
              <a:rPr lang="en-US" sz="1200" dirty="0">
                <a:solidFill>
                  <a:srgbClr val="64748B"/>
                </a:solidFill>
                <a:latin typeface="Calibri" pitchFamily="34" charset="0"/>
                <a:ea typeface="Calibri" pitchFamily="34" charset="-122"/>
                <a:cs typeface="Calibri" pitchFamily="34" charset="-120"/>
              </a:rPr>
              <a:t>تعمل على بنية مفتوحة المصدر — بلا تراخيص وبلا مفاتيح خدمات أجنبية.</a:t>
            </a:r>
            <a:endParaRPr lang="en-US" sz="1200" dirty="0"/>
          </a:p>
        </p:txBody>
      </p:sp>
      <p:sp>
        <p:nvSpPr>
          <p:cNvPr id="36" name="Text 34"/>
          <p:cNvSpPr/>
          <p:nvPr/>
        </p:nvSpPr>
        <p:spPr>
          <a:xfrm>
            <a:off x="457200" y="5760720"/>
            <a:ext cx="11274552" cy="365760"/>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جرّبها الآن:  </a:t>
            </a:r>
            <a:pPr algn="ctr" indent="0" marL="0">
              <a:buNone/>
            </a:pPr>
            <a:r>
              <a:rPr lang="en-US" sz="1250" b="1" dirty="0">
                <a:solidFill>
                  <a:srgbClr val="D4A017"/>
                </a:solidFill>
                <a:latin typeface="Calibri" pitchFamily="34" charset="0"/>
                <a:ea typeface="Calibri" pitchFamily="34" charset="-122"/>
                <a:cs typeface="Calibri" pitchFamily="34" charset="-120"/>
              </a:rPr>
              <a:t>damascus-park.vercel.app</a:t>
            </a:r>
            <a:pPr algn="ctr" indent="0" marL="0">
              <a:buNone/>
            </a:pPr>
            <a:r>
              <a:rPr lang="en-US" sz="1250" dirty="0">
                <a:solidFill>
                  <a:srgbClr val="64748B"/>
                </a:solidFill>
                <a:latin typeface="Calibri" pitchFamily="34" charset="0"/>
                <a:ea typeface="Calibri" pitchFamily="34" charset="-122"/>
                <a:cs typeface="Calibri" pitchFamily="34" charset="-120"/>
              </a:rPr>
              <a:t>  ·  driver@ / warden@ / admin@mawqif.sy  ·  Demo@Mawqif2025!</a:t>
            </a:r>
            <a:endParaRPr lang="en-US" sz="1250" dirty="0"/>
          </a:p>
        </p:txBody>
      </p:sp>
      <p:sp>
        <p:nvSpPr>
          <p:cNvPr id="37" name="Text 35"/>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38" name="Text 36"/>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الميزة الفارقة</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تعرفة تحافظ على قيمتها.</a:t>
            </a:r>
            <a:endParaRPr lang="en-US" sz="3000" dirty="0"/>
          </a:p>
        </p:txBody>
      </p:sp>
      <p:sp>
        <p:nvSpPr>
          <p:cNvPr id="6" name="Text 4"/>
          <p:cNvSpPr/>
          <p:nvPr/>
        </p:nvSpPr>
        <p:spPr>
          <a:xfrm>
            <a:off x="6062472" y="1691640"/>
            <a:ext cx="5486400" cy="640080"/>
          </a:xfrm>
          <a:prstGeom prst="rect">
            <a:avLst/>
          </a:prstGeom>
          <a:noFill/>
          <a:ln/>
        </p:spPr>
        <p:txBody>
          <a:bodyPr wrap="square" lIns="0" tIns="0" rIns="0" bIns="0" rtlCol="0" anchor="ctr"/>
          <a:lstStyle/>
          <a:p>
            <a:pPr rtl="1" algn="r" indent="0" marL="0">
              <a:lnSpc>
                <a:spcPct val="110000"/>
              </a:lnSpc>
              <a:buNone/>
            </a:pPr>
            <a:r>
              <a:rPr lang="en-US" sz="1600" dirty="0">
                <a:solidFill>
                  <a:srgbClr val="0F172A"/>
                </a:solidFill>
                <a:latin typeface="Calibri" pitchFamily="34" charset="0"/>
                <a:ea typeface="Calibri" pitchFamily="34" charset="-122"/>
                <a:cs typeface="Calibri" pitchFamily="34" charset="-120"/>
              </a:rPr>
              <a:t>موقف لا يخزّن سعراً ثابتاً أبداً. سعر كل منطقة مرتبط بمؤشر سعر البنزين:</a:t>
            </a:r>
            <a:endParaRPr lang="en-US" sz="1600" dirty="0"/>
          </a:p>
        </p:txBody>
      </p:sp>
      <p:sp>
        <p:nvSpPr>
          <p:cNvPr id="7" name="Shape 5"/>
          <p:cNvSpPr/>
          <p:nvPr/>
        </p:nvSpPr>
        <p:spPr>
          <a:xfrm>
            <a:off x="6153912" y="2377440"/>
            <a:ext cx="5394960" cy="914400"/>
          </a:xfrm>
          <a:prstGeom prst="roundRect">
            <a:avLst>
              <a:gd name="adj" fmla="val 9000"/>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8" name="Text 6"/>
          <p:cNvSpPr/>
          <p:nvPr/>
        </p:nvSpPr>
        <p:spPr>
          <a:xfrm>
            <a:off x="6153912" y="2377440"/>
            <a:ext cx="5394960" cy="914400"/>
          </a:xfrm>
          <a:prstGeom prst="rect">
            <a:avLst/>
          </a:prstGeom>
          <a:noFill/>
          <a:ln/>
        </p:spPr>
        <p:txBody>
          <a:bodyPr wrap="square" lIns="0" tIns="0" rIns="0" bIns="0" rtlCol="0" anchor="ctr"/>
          <a:lstStyle/>
          <a:p>
            <a:pPr rtl="1" algn="ctr" indent="0" marL="0">
              <a:buNone/>
            </a:pPr>
            <a:r>
              <a:rPr lang="en-US" sz="1500" b="1" dirty="0">
                <a:solidFill>
                  <a:srgbClr val="0B1220"/>
                </a:solidFill>
                <a:latin typeface="Calibri" pitchFamily="34" charset="0"/>
                <a:ea typeface="Calibri" pitchFamily="34" charset="-122"/>
                <a:cs typeface="Calibri" pitchFamily="34" charset="-120"/>
              </a:rPr>
              <a:t>سعر الساعة  =  ( سعر البنزين ÷ 1000 )  ×  معامل المنطقة</a:t>
            </a:r>
            <a:endParaRPr lang="en-US" sz="1500" dirty="0"/>
          </a:p>
        </p:txBody>
      </p:sp>
      <p:sp>
        <p:nvSpPr>
          <p:cNvPr id="9" name="Shape 7"/>
          <p:cNvSpPr/>
          <p:nvPr/>
        </p:nvSpPr>
        <p:spPr>
          <a:xfrm>
            <a:off x="11356848" y="3675888"/>
            <a:ext cx="146304" cy="146304"/>
          </a:xfrm>
          <a:prstGeom prst="ellipse">
            <a:avLst/>
          </a:prstGeom>
          <a:solidFill>
            <a:srgbClr val="D4A017"/>
          </a:solidFill>
          <a:ln/>
        </p:spPr>
      </p:sp>
      <p:sp>
        <p:nvSpPr>
          <p:cNvPr id="10" name="Text 8"/>
          <p:cNvSpPr/>
          <p:nvPr/>
        </p:nvSpPr>
        <p:spPr>
          <a:xfrm>
            <a:off x="6199632" y="3566160"/>
            <a:ext cx="5029200" cy="457200"/>
          </a:xfrm>
          <a:prstGeom prst="rect">
            <a:avLst/>
          </a:prstGeom>
          <a:noFill/>
          <a:ln/>
        </p:spPr>
        <p:txBody>
          <a:bodyPr wrap="square" lIns="0" tIns="0" rIns="0" bIns="0" rtlCol="0" anchor="ctr"/>
          <a:lstStyle/>
          <a:p>
            <a:pPr rtl="1" algn="r" indent="0" marL="0">
              <a:buNone/>
            </a:pPr>
            <a:r>
              <a:rPr lang="en-US" sz="1400" dirty="0">
                <a:solidFill>
                  <a:srgbClr val="0F172A"/>
                </a:solidFill>
                <a:latin typeface="Calibri" pitchFamily="34" charset="0"/>
                <a:ea typeface="Calibri" pitchFamily="34" charset="-122"/>
                <a:cs typeface="Calibri" pitchFamily="34" charset="-120"/>
              </a:rPr>
              <a:t>حين يتضاعف الوقود، تتضاعف تعرفة المواقف — تلقائياً.</a:t>
            </a:r>
            <a:endParaRPr lang="en-US" sz="1400" dirty="0"/>
          </a:p>
        </p:txBody>
      </p:sp>
      <p:sp>
        <p:nvSpPr>
          <p:cNvPr id="11" name="Shape 9"/>
          <p:cNvSpPr/>
          <p:nvPr/>
        </p:nvSpPr>
        <p:spPr>
          <a:xfrm>
            <a:off x="11356848" y="4242816"/>
            <a:ext cx="146304" cy="146304"/>
          </a:xfrm>
          <a:prstGeom prst="ellipse">
            <a:avLst/>
          </a:prstGeom>
          <a:solidFill>
            <a:srgbClr val="0B1220"/>
          </a:solidFill>
          <a:ln/>
        </p:spPr>
      </p:sp>
      <p:sp>
        <p:nvSpPr>
          <p:cNvPr id="12" name="Text 10"/>
          <p:cNvSpPr/>
          <p:nvPr/>
        </p:nvSpPr>
        <p:spPr>
          <a:xfrm>
            <a:off x="6199632" y="4133088"/>
            <a:ext cx="5029200" cy="457200"/>
          </a:xfrm>
          <a:prstGeom prst="rect">
            <a:avLst/>
          </a:prstGeom>
          <a:noFill/>
          <a:ln/>
        </p:spPr>
        <p:txBody>
          <a:bodyPr wrap="square" lIns="0" tIns="0" rIns="0" bIns="0" rtlCol="0" anchor="ctr"/>
          <a:lstStyle/>
          <a:p>
            <a:pPr rtl="1" algn="r" indent="0" marL="0">
              <a:buNone/>
            </a:pPr>
            <a:r>
              <a:rPr lang="en-US" sz="1400" dirty="0">
                <a:solidFill>
                  <a:srgbClr val="0F172A"/>
                </a:solidFill>
                <a:latin typeface="Calibri" pitchFamily="34" charset="0"/>
                <a:ea typeface="Calibri" pitchFamily="34" charset="-122"/>
                <a:cs typeface="Calibri" pitchFamily="34" charset="-120"/>
              </a:rPr>
              <a:t>يغيّر المدير رقماً واحداً؛ فتُعاد تسعيرة كل المناطق فوراً.</a:t>
            </a:r>
            <a:endParaRPr lang="en-US" sz="1400" dirty="0"/>
          </a:p>
        </p:txBody>
      </p:sp>
      <p:sp>
        <p:nvSpPr>
          <p:cNvPr id="13" name="Shape 11"/>
          <p:cNvSpPr/>
          <p:nvPr/>
        </p:nvSpPr>
        <p:spPr>
          <a:xfrm>
            <a:off x="11356848" y="4809744"/>
            <a:ext cx="146304" cy="146304"/>
          </a:xfrm>
          <a:prstGeom prst="ellipse">
            <a:avLst/>
          </a:prstGeom>
          <a:solidFill>
            <a:srgbClr val="0B1220"/>
          </a:solidFill>
          <a:ln/>
        </p:spPr>
      </p:sp>
      <p:sp>
        <p:nvSpPr>
          <p:cNvPr id="14" name="Text 12"/>
          <p:cNvSpPr/>
          <p:nvPr/>
        </p:nvSpPr>
        <p:spPr>
          <a:xfrm>
            <a:off x="6199632" y="4700016"/>
            <a:ext cx="5029200" cy="457200"/>
          </a:xfrm>
          <a:prstGeom prst="rect">
            <a:avLst/>
          </a:prstGeom>
          <a:noFill/>
          <a:ln/>
        </p:spPr>
        <p:txBody>
          <a:bodyPr wrap="square" lIns="0" tIns="0" rIns="0" bIns="0" rtlCol="0" anchor="ctr"/>
          <a:lstStyle/>
          <a:p>
            <a:pPr rtl="1" algn="r" indent="0" marL="0">
              <a:buNone/>
            </a:pPr>
            <a:r>
              <a:rPr lang="en-US" sz="1400" dirty="0">
                <a:solidFill>
                  <a:srgbClr val="0F172A"/>
                </a:solidFill>
                <a:latin typeface="Calibri" pitchFamily="34" charset="0"/>
                <a:ea typeface="Calibri" pitchFamily="34" charset="-122"/>
                <a:cs typeface="Calibri" pitchFamily="34" charset="-120"/>
              </a:rPr>
              <a:t>الإيراد يلاحق القيمة الحقيقية بدل أن يتآكل بالليرة.</a:t>
            </a:r>
            <a:endParaRPr lang="en-US" sz="1400" dirty="0"/>
          </a:p>
        </p:txBody>
      </p:sp>
      <p:graphicFrame>
        <p:nvGraphicFramePr>
          <p:cNvPr id="15" name="Chart 0" descr=""/>
          <p:cNvGraphicFramePr/>
          <p:nvPr/>
        </p:nvGraphicFramePr>
        <p:xfrm>
          <a:off x="667512"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17" name="Text 14"/>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743200" y="3291840"/>
            <a:ext cx="5486400" cy="5486400"/>
          </a:xfrm>
          <a:prstGeom prst="ellipse">
            <a:avLst/>
          </a:prstGeom>
          <a:solidFill>
            <a:srgbClr val="14213D"/>
          </a:solidFill>
          <a:ln/>
        </p:spPr>
      </p:sp>
      <p:sp>
        <p:nvSpPr>
          <p:cNvPr id="3" name="Shape 1"/>
          <p:cNvSpPr/>
          <p:nvPr/>
        </p:nvSpPr>
        <p:spPr>
          <a:xfrm>
            <a:off x="11045952" y="548640"/>
            <a:ext cx="502920" cy="502920"/>
          </a:xfrm>
          <a:prstGeom prst="ellipse">
            <a:avLst/>
          </a:prstGeom>
          <a:solidFill>
            <a:srgbClr val="D4A017"/>
          </a:solidFill>
          <a:ln/>
        </p:spPr>
      </p:sp>
      <p:sp>
        <p:nvSpPr>
          <p:cNvPr id="4" name="Text 2"/>
          <p:cNvSpPr/>
          <p:nvPr/>
        </p:nvSpPr>
        <p:spPr>
          <a:xfrm>
            <a:off x="11045952" y="530352"/>
            <a:ext cx="502920" cy="502920"/>
          </a:xfrm>
          <a:prstGeom prst="rect">
            <a:avLst/>
          </a:prstGeom>
          <a:noFill/>
          <a:ln/>
        </p:spPr>
        <p:txBody>
          <a:bodyPr wrap="square" rtlCol="0" anchor="ctr"/>
          <a:lstStyle/>
          <a:p>
            <a:pPr algn="ctr" indent="0" marL="0">
              <a:buNone/>
            </a:pPr>
            <a:r>
              <a:rPr lang="en-US" sz="1430" b="1" dirty="0">
                <a:solidFill>
                  <a:srgbClr val="0B1220"/>
                </a:solidFill>
                <a:latin typeface="Cambria" pitchFamily="34" charset="0"/>
                <a:ea typeface="Cambria" pitchFamily="34" charset="-122"/>
                <a:cs typeface="Cambria" pitchFamily="34" charset="-120"/>
              </a:rPr>
              <a:t>م</a:t>
            </a:r>
            <a:endParaRPr lang="en-US" sz="1430" dirty="0"/>
          </a:p>
        </p:txBody>
      </p:sp>
      <p:sp>
        <p:nvSpPr>
          <p:cNvPr id="5" name="Text 3"/>
          <p:cNvSpPr/>
          <p:nvPr/>
        </p:nvSpPr>
        <p:spPr>
          <a:xfrm>
            <a:off x="1691640" y="566928"/>
            <a:ext cx="9144000" cy="320040"/>
          </a:xfrm>
          <a:prstGeom prst="rect">
            <a:avLst/>
          </a:prstGeom>
          <a:noFill/>
          <a:ln/>
        </p:spPr>
        <p:txBody>
          <a:bodyPr wrap="square" lIns="0" tIns="0" rIns="0" bIns="0" rtlCol="0" anchor="ctr"/>
          <a:lstStyle/>
          <a:p>
            <a:pPr rtl="1" algn="r" indent="0" marL="0">
              <a:buNone/>
            </a:pPr>
            <a:r>
              <a:rPr lang="en-US" sz="1300" b="1" dirty="0">
                <a:solidFill>
                  <a:srgbClr val="D4A017"/>
                </a:solidFill>
                <a:latin typeface="Calibri" pitchFamily="34" charset="0"/>
                <a:ea typeface="Calibri" pitchFamily="34" charset="-122"/>
                <a:cs typeface="Calibri" pitchFamily="34" charset="-120"/>
              </a:rPr>
              <a:t>سيادية بالتصميم</a:t>
            </a:r>
            <a:endParaRPr lang="en-US" sz="1300" dirty="0"/>
          </a:p>
        </p:txBody>
      </p:sp>
      <p:sp>
        <p:nvSpPr>
          <p:cNvPr id="6" name="Text 4"/>
          <p:cNvSpPr/>
          <p:nvPr/>
        </p:nvSpPr>
        <p:spPr>
          <a:xfrm>
            <a:off x="758952" y="1143000"/>
            <a:ext cx="10789920" cy="82296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مستقلّة عن القنوات الأجنبية، وآمنة افتراضياً.</a:t>
            </a:r>
            <a:endParaRPr lang="en-US" sz="3000" dirty="0"/>
          </a:p>
        </p:txBody>
      </p:sp>
      <p:sp>
        <p:nvSpPr>
          <p:cNvPr id="7" name="Shape 5"/>
          <p:cNvSpPr/>
          <p:nvPr/>
        </p:nvSpPr>
        <p:spPr>
          <a:xfrm>
            <a:off x="6153912" y="2240280"/>
            <a:ext cx="5394960" cy="1600200"/>
          </a:xfrm>
          <a:prstGeom prst="roundRect">
            <a:avLst>
              <a:gd name="adj" fmla="val 4571"/>
            </a:avLst>
          </a:prstGeom>
          <a:solidFill>
            <a:srgbClr val="14213D"/>
          </a:solidFill>
          <a:ln w="12700">
            <a:solidFill>
              <a:srgbClr val="23304D"/>
            </a:solidFill>
            <a:prstDash val="solid"/>
          </a:ln>
        </p:spPr>
      </p:sp>
      <p:sp>
        <p:nvSpPr>
          <p:cNvPr id="8" name="Shape 6"/>
          <p:cNvSpPr/>
          <p:nvPr/>
        </p:nvSpPr>
        <p:spPr>
          <a:xfrm>
            <a:off x="10771632" y="2514600"/>
            <a:ext cx="502920" cy="502920"/>
          </a:xfrm>
          <a:prstGeom prst="ellipse">
            <a:avLst/>
          </a:prstGeom>
          <a:solidFill>
            <a:srgbClr val="D4A017"/>
          </a:solidFill>
          <a:ln/>
        </p:spPr>
      </p:sp>
      <p:sp>
        <p:nvSpPr>
          <p:cNvPr id="9" name="Text 7"/>
          <p:cNvSpPr/>
          <p:nvPr/>
        </p:nvSpPr>
        <p:spPr>
          <a:xfrm>
            <a:off x="10771632" y="2514600"/>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6748272" y="2478024"/>
            <a:ext cx="4526280" cy="411480"/>
          </a:xfrm>
          <a:prstGeom prst="rect">
            <a:avLst/>
          </a:prstGeom>
          <a:noFill/>
          <a:ln/>
        </p:spPr>
        <p:txBody>
          <a:bodyPr wrap="square" lIns="0" tIns="0" rIns="0" bIns="0" rtlCol="0" anchor="ctr"/>
          <a:lstStyle/>
          <a:p>
            <a:pPr rtl="1" algn="r" indent="0" marL="0">
              <a:buNone/>
            </a:pPr>
            <a:r>
              <a:rPr lang="en-US" sz="1700" b="1" dirty="0">
                <a:solidFill>
                  <a:srgbClr val="FFFFFF"/>
                </a:solidFill>
                <a:latin typeface="Cambria" pitchFamily="34" charset="0"/>
                <a:ea typeface="Cambria" pitchFamily="34" charset="-122"/>
                <a:cs typeface="Cambria" pitchFamily="34" charset="-120"/>
              </a:rPr>
              <a:t>قنوات دفع محلية</a:t>
            </a:r>
            <a:endParaRPr lang="en-US" sz="1700" dirty="0"/>
          </a:p>
        </p:txBody>
      </p:sp>
      <p:sp>
        <p:nvSpPr>
          <p:cNvPr id="11" name="Text 9"/>
          <p:cNvSpPr/>
          <p:nvPr/>
        </p:nvSpPr>
        <p:spPr>
          <a:xfrm>
            <a:off x="6748272" y="2898648"/>
            <a:ext cx="4526280" cy="868680"/>
          </a:xfrm>
          <a:prstGeom prst="rect">
            <a:avLst/>
          </a:prstGeom>
          <a:noFill/>
          <a:ln/>
        </p:spPr>
        <p:txBody>
          <a:bodyPr wrap="square" lIns="0" tIns="0" rIns="0" bIns="0" rtlCol="0" anchor="ctr"/>
          <a:lstStyle/>
          <a:p>
            <a:pPr rtl="1" algn="r" indent="0" marL="0">
              <a:lnSpc>
                <a:spcPct val="104000"/>
              </a:lnSpc>
              <a:buNone/>
            </a:pPr>
            <a:r>
              <a:rPr lang="en-US" sz="1250" dirty="0">
                <a:solidFill>
                  <a:srgbClr val="AEBBD0"/>
                </a:solidFill>
                <a:latin typeface="Calibri" pitchFamily="34" charset="0"/>
                <a:ea typeface="Calibri" pitchFamily="34" charset="-122"/>
                <a:cs typeface="Calibri" pitchFamily="34" charset="-120"/>
              </a:rPr>
              <a:t>شحن عبر شبكة الدفع الوطنية والقسائم — دون اعتماد على فيزا أو ماستركارد.</a:t>
            </a:r>
            <a:endParaRPr lang="en-US" sz="1250" dirty="0"/>
          </a:p>
        </p:txBody>
      </p:sp>
      <p:sp>
        <p:nvSpPr>
          <p:cNvPr id="12" name="Shape 10"/>
          <p:cNvSpPr/>
          <p:nvPr/>
        </p:nvSpPr>
        <p:spPr>
          <a:xfrm>
            <a:off x="576072" y="2240280"/>
            <a:ext cx="5394960" cy="1600200"/>
          </a:xfrm>
          <a:prstGeom prst="roundRect">
            <a:avLst>
              <a:gd name="adj" fmla="val 4571"/>
            </a:avLst>
          </a:prstGeom>
          <a:solidFill>
            <a:srgbClr val="14213D"/>
          </a:solidFill>
          <a:ln w="12700">
            <a:solidFill>
              <a:srgbClr val="23304D"/>
            </a:solidFill>
            <a:prstDash val="solid"/>
          </a:ln>
        </p:spPr>
      </p:sp>
      <p:sp>
        <p:nvSpPr>
          <p:cNvPr id="13" name="Shape 11"/>
          <p:cNvSpPr/>
          <p:nvPr/>
        </p:nvSpPr>
        <p:spPr>
          <a:xfrm>
            <a:off x="5193792" y="2514600"/>
            <a:ext cx="502920" cy="502920"/>
          </a:xfrm>
          <a:prstGeom prst="ellipse">
            <a:avLst/>
          </a:prstGeom>
          <a:solidFill>
            <a:srgbClr val="D4A017"/>
          </a:solidFill>
          <a:ln/>
        </p:spPr>
      </p:sp>
      <p:sp>
        <p:nvSpPr>
          <p:cNvPr id="14" name="Text 12"/>
          <p:cNvSpPr/>
          <p:nvPr/>
        </p:nvSpPr>
        <p:spPr>
          <a:xfrm>
            <a:off x="5193792" y="2514600"/>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170432" y="2478024"/>
            <a:ext cx="4526280" cy="411480"/>
          </a:xfrm>
          <a:prstGeom prst="rect">
            <a:avLst/>
          </a:prstGeom>
          <a:noFill/>
          <a:ln/>
        </p:spPr>
        <p:txBody>
          <a:bodyPr wrap="square" lIns="0" tIns="0" rIns="0" bIns="0" rtlCol="0" anchor="ctr"/>
          <a:lstStyle/>
          <a:p>
            <a:pPr rtl="1" algn="r" indent="0" marL="0">
              <a:buNone/>
            </a:pPr>
            <a:r>
              <a:rPr lang="en-US" sz="1700" b="1" dirty="0">
                <a:solidFill>
                  <a:srgbClr val="FFFFFF"/>
                </a:solidFill>
                <a:latin typeface="Cambria" pitchFamily="34" charset="0"/>
                <a:ea typeface="Cambria" pitchFamily="34" charset="-122"/>
                <a:cs typeface="Cambria" pitchFamily="34" charset="-120"/>
              </a:rPr>
              <a:t>البيانات تبقى داخل البلد</a:t>
            </a:r>
            <a:endParaRPr lang="en-US" sz="1700" dirty="0"/>
          </a:p>
        </p:txBody>
      </p:sp>
      <p:sp>
        <p:nvSpPr>
          <p:cNvPr id="16" name="Text 14"/>
          <p:cNvSpPr/>
          <p:nvPr/>
        </p:nvSpPr>
        <p:spPr>
          <a:xfrm>
            <a:off x="1170432" y="2898648"/>
            <a:ext cx="4526280" cy="868680"/>
          </a:xfrm>
          <a:prstGeom prst="rect">
            <a:avLst/>
          </a:prstGeom>
          <a:noFill/>
          <a:ln/>
        </p:spPr>
        <p:txBody>
          <a:bodyPr wrap="square" lIns="0" tIns="0" rIns="0" bIns="0" rtlCol="0" anchor="ctr"/>
          <a:lstStyle/>
          <a:p>
            <a:pPr rtl="1" algn="r" indent="0" marL="0">
              <a:lnSpc>
                <a:spcPct val="104000"/>
              </a:lnSpc>
              <a:buNone/>
            </a:pPr>
            <a:r>
              <a:rPr lang="en-US" sz="1250" dirty="0">
                <a:solidFill>
                  <a:srgbClr val="AEBBD0"/>
                </a:solidFill>
                <a:latin typeface="Calibri" pitchFamily="34" charset="0"/>
                <a:ea typeface="Calibri" pitchFamily="34" charset="-122"/>
                <a:cs typeface="Calibri" pitchFamily="34" charset="-120"/>
              </a:rPr>
              <a:t>قاعدة بيانات قابلة لتحكّم الحكومة؛ دون اعتماد على هويّة سحابية أجنبية.</a:t>
            </a:r>
            <a:endParaRPr lang="en-US" sz="1250" dirty="0"/>
          </a:p>
        </p:txBody>
      </p:sp>
      <p:sp>
        <p:nvSpPr>
          <p:cNvPr id="17" name="Shape 15"/>
          <p:cNvSpPr/>
          <p:nvPr/>
        </p:nvSpPr>
        <p:spPr>
          <a:xfrm>
            <a:off x="6153912" y="4023360"/>
            <a:ext cx="5394960" cy="1600200"/>
          </a:xfrm>
          <a:prstGeom prst="roundRect">
            <a:avLst>
              <a:gd name="adj" fmla="val 4571"/>
            </a:avLst>
          </a:prstGeom>
          <a:solidFill>
            <a:srgbClr val="14213D"/>
          </a:solidFill>
          <a:ln w="12700">
            <a:solidFill>
              <a:srgbClr val="23304D"/>
            </a:solidFill>
            <a:prstDash val="solid"/>
          </a:ln>
        </p:spPr>
      </p:sp>
      <p:sp>
        <p:nvSpPr>
          <p:cNvPr id="18" name="Shape 16"/>
          <p:cNvSpPr/>
          <p:nvPr/>
        </p:nvSpPr>
        <p:spPr>
          <a:xfrm>
            <a:off x="10771632" y="4297680"/>
            <a:ext cx="502920" cy="502920"/>
          </a:xfrm>
          <a:prstGeom prst="ellipse">
            <a:avLst/>
          </a:prstGeom>
          <a:solidFill>
            <a:srgbClr val="D4A017"/>
          </a:solidFill>
          <a:ln/>
        </p:spPr>
      </p:sp>
      <p:sp>
        <p:nvSpPr>
          <p:cNvPr id="19" name="Text 17"/>
          <p:cNvSpPr/>
          <p:nvPr/>
        </p:nvSpPr>
        <p:spPr>
          <a:xfrm>
            <a:off x="10771632" y="4297680"/>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6748272" y="4261104"/>
            <a:ext cx="4526280" cy="411480"/>
          </a:xfrm>
          <a:prstGeom prst="rect">
            <a:avLst/>
          </a:prstGeom>
          <a:noFill/>
          <a:ln/>
        </p:spPr>
        <p:txBody>
          <a:bodyPr wrap="square" lIns="0" tIns="0" rIns="0" bIns="0" rtlCol="0" anchor="ctr"/>
          <a:lstStyle/>
          <a:p>
            <a:pPr rtl="1" algn="r" indent="0" marL="0">
              <a:buNone/>
            </a:pPr>
            <a:r>
              <a:rPr lang="en-US" sz="1700" b="1" dirty="0">
                <a:solidFill>
                  <a:srgbClr val="FFFFFF"/>
                </a:solidFill>
                <a:latin typeface="Cambria" pitchFamily="34" charset="0"/>
                <a:ea typeface="Cambria" pitchFamily="34" charset="-122"/>
                <a:cs typeface="Cambria" pitchFamily="34" charset="-120"/>
              </a:rPr>
              <a:t>صامدة أمام العقوبات</a:t>
            </a:r>
            <a:endParaRPr lang="en-US" sz="1700" dirty="0"/>
          </a:p>
        </p:txBody>
      </p:sp>
      <p:sp>
        <p:nvSpPr>
          <p:cNvPr id="21" name="Text 19"/>
          <p:cNvSpPr/>
          <p:nvPr/>
        </p:nvSpPr>
        <p:spPr>
          <a:xfrm>
            <a:off x="6748272" y="4681728"/>
            <a:ext cx="4526280" cy="868680"/>
          </a:xfrm>
          <a:prstGeom prst="rect">
            <a:avLst/>
          </a:prstGeom>
          <a:noFill/>
          <a:ln/>
        </p:spPr>
        <p:txBody>
          <a:bodyPr wrap="square" lIns="0" tIns="0" rIns="0" bIns="0" rtlCol="0" anchor="ctr"/>
          <a:lstStyle/>
          <a:p>
            <a:pPr rtl="1" algn="r" indent="0" marL="0">
              <a:lnSpc>
                <a:spcPct val="104000"/>
              </a:lnSpc>
              <a:buNone/>
            </a:pPr>
            <a:r>
              <a:rPr lang="en-US" sz="1250" dirty="0">
                <a:solidFill>
                  <a:srgbClr val="AEBBD0"/>
                </a:solidFill>
                <a:latin typeface="Calibri" pitchFamily="34" charset="0"/>
                <a:ea typeface="Calibri" pitchFamily="34" charset="-122"/>
                <a:cs typeface="Calibri" pitchFamily="34" charset="-120"/>
              </a:rPr>
              <a:t>مبنية كلياً على برمجيات مفتوحة المصدر وخرائط OpenStreetMap المجانية — لا شيء يُرخَّص أو يُفقَد.</a:t>
            </a:r>
            <a:endParaRPr lang="en-US" sz="1250" dirty="0"/>
          </a:p>
        </p:txBody>
      </p:sp>
      <p:sp>
        <p:nvSpPr>
          <p:cNvPr id="22" name="Shape 20"/>
          <p:cNvSpPr/>
          <p:nvPr/>
        </p:nvSpPr>
        <p:spPr>
          <a:xfrm>
            <a:off x="576072" y="4023360"/>
            <a:ext cx="5394960" cy="1600200"/>
          </a:xfrm>
          <a:prstGeom prst="roundRect">
            <a:avLst>
              <a:gd name="adj" fmla="val 4571"/>
            </a:avLst>
          </a:prstGeom>
          <a:solidFill>
            <a:srgbClr val="14213D"/>
          </a:solidFill>
          <a:ln w="12700">
            <a:solidFill>
              <a:srgbClr val="23304D"/>
            </a:solidFill>
            <a:prstDash val="solid"/>
          </a:ln>
        </p:spPr>
      </p:sp>
      <p:sp>
        <p:nvSpPr>
          <p:cNvPr id="23" name="Shape 21"/>
          <p:cNvSpPr/>
          <p:nvPr/>
        </p:nvSpPr>
        <p:spPr>
          <a:xfrm>
            <a:off x="5193792" y="4297680"/>
            <a:ext cx="502920" cy="502920"/>
          </a:xfrm>
          <a:prstGeom prst="ellipse">
            <a:avLst/>
          </a:prstGeom>
          <a:solidFill>
            <a:srgbClr val="D4A017"/>
          </a:solidFill>
          <a:ln/>
        </p:spPr>
      </p:sp>
      <p:sp>
        <p:nvSpPr>
          <p:cNvPr id="24" name="Text 22"/>
          <p:cNvSpPr/>
          <p:nvPr/>
        </p:nvSpPr>
        <p:spPr>
          <a:xfrm>
            <a:off x="5193792" y="4297680"/>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1170432" y="4261104"/>
            <a:ext cx="4526280" cy="411480"/>
          </a:xfrm>
          <a:prstGeom prst="rect">
            <a:avLst/>
          </a:prstGeom>
          <a:noFill/>
          <a:ln/>
        </p:spPr>
        <p:txBody>
          <a:bodyPr wrap="square" lIns="0" tIns="0" rIns="0" bIns="0" rtlCol="0" anchor="ctr"/>
          <a:lstStyle/>
          <a:p>
            <a:pPr rtl="1" algn="r" indent="0" marL="0">
              <a:buNone/>
            </a:pPr>
            <a:r>
              <a:rPr lang="en-US" sz="1700" b="1" dirty="0">
                <a:solidFill>
                  <a:srgbClr val="FFFFFF"/>
                </a:solidFill>
                <a:latin typeface="Cambria" pitchFamily="34" charset="0"/>
                <a:ea typeface="Cambria" pitchFamily="34" charset="-122"/>
                <a:cs typeface="Cambria" pitchFamily="34" charset="-120"/>
              </a:rPr>
              <a:t>أمان بمستوى المصارف</a:t>
            </a:r>
            <a:endParaRPr lang="en-US" sz="1700" dirty="0"/>
          </a:p>
        </p:txBody>
      </p:sp>
      <p:sp>
        <p:nvSpPr>
          <p:cNvPr id="26" name="Text 24"/>
          <p:cNvSpPr/>
          <p:nvPr/>
        </p:nvSpPr>
        <p:spPr>
          <a:xfrm>
            <a:off x="1170432" y="4681728"/>
            <a:ext cx="4526280" cy="868680"/>
          </a:xfrm>
          <a:prstGeom prst="rect">
            <a:avLst/>
          </a:prstGeom>
          <a:noFill/>
          <a:ln/>
        </p:spPr>
        <p:txBody>
          <a:bodyPr wrap="square" lIns="0" tIns="0" rIns="0" bIns="0" rtlCol="0" anchor="ctr"/>
          <a:lstStyle/>
          <a:p>
            <a:pPr rtl="1" algn="r" indent="0" marL="0">
              <a:lnSpc>
                <a:spcPct val="104000"/>
              </a:lnSpc>
              <a:buNone/>
            </a:pPr>
            <a:r>
              <a:rPr lang="en-US" sz="1250" dirty="0">
                <a:solidFill>
                  <a:srgbClr val="AEBBD0"/>
                </a:solidFill>
                <a:latin typeface="Calibri" pitchFamily="34" charset="0"/>
                <a:ea typeface="Calibri" pitchFamily="34" charset="-122"/>
                <a:cs typeface="Calibri" pitchFamily="34" charset="-120"/>
              </a:rPr>
              <a:t>تحكّم بالوصول حسب الدور، وأمان على مستوى الصفوف لكل جدول، ومدفوعات مانعة للتكرار، ودفتر تدقيق إلحاقي.</a:t>
            </a:r>
            <a:endParaRPr lang="en-US" sz="1250" dirty="0"/>
          </a:p>
        </p:txBody>
      </p:sp>
      <p:sp>
        <p:nvSpPr>
          <p:cNvPr id="27" name="Text 25"/>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94A3B8"/>
                </a:solidFill>
                <a:latin typeface="Calibri" pitchFamily="34" charset="0"/>
                <a:ea typeface="Calibri" pitchFamily="34" charset="-122"/>
                <a:cs typeface="Calibri" pitchFamily="34" charset="-120"/>
              </a:rPr>
              <a:t>موقف · مواقف دمشق الذكية</a:t>
            </a:r>
            <a:endParaRPr lang="en-US" sz="1000" dirty="0"/>
          </a:p>
        </p:txBody>
      </p:sp>
      <p:sp>
        <p:nvSpPr>
          <p:cNvPr id="28" name="Text 26"/>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الجدوى الاقتصادية</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نموذج ذاتي التمويل — المدينة تربح من اليوم الأول.</a:t>
            </a:r>
            <a:endParaRPr lang="en-US" sz="3000" dirty="0"/>
          </a:p>
        </p:txBody>
      </p:sp>
      <p:sp>
        <p:nvSpPr>
          <p:cNvPr id="6" name="Text 4"/>
          <p:cNvSpPr/>
          <p:nvPr/>
        </p:nvSpPr>
        <p:spPr>
          <a:xfrm>
            <a:off x="6336792" y="1645920"/>
            <a:ext cx="5212080" cy="640080"/>
          </a:xfrm>
          <a:prstGeom prst="rect">
            <a:avLst/>
          </a:prstGeom>
          <a:noFill/>
          <a:ln/>
        </p:spPr>
        <p:txBody>
          <a:bodyPr wrap="square" lIns="0" tIns="0" rIns="0" bIns="0" rtlCol="0" anchor="ctr"/>
          <a:lstStyle/>
          <a:p>
            <a:pPr algn="r" indent="0" marL="0">
              <a:lnSpc>
                <a:spcPct val="108000"/>
              </a:lnSpc>
              <a:buNone/>
            </a:pPr>
            <a:r>
              <a:rPr lang="en-US" sz="1500" b="1" dirty="0">
                <a:solidFill>
                  <a:srgbClr val="0F172A"/>
                </a:solidFill>
                <a:latin typeface="Calibri" pitchFamily="34" charset="0"/>
                <a:ea typeface="Calibri" pitchFamily="34" charset="-122"/>
                <a:cs typeface="Calibri" pitchFamily="34" charset="-120"/>
              </a:rPr>
              <a:t>بلا كلفة مسبقة. </a:t>
            </a:r>
            <a:pPr algn="r" indent="0" marL="0">
              <a:lnSpc>
                <a:spcPct val="108000"/>
              </a:lnSpc>
              <a:buNone/>
            </a:pPr>
            <a:r>
              <a:rPr lang="en-US" sz="1500" dirty="0">
                <a:solidFill>
                  <a:srgbClr val="64748B"/>
                </a:solidFill>
                <a:latin typeface="Calibri" pitchFamily="34" charset="0"/>
                <a:ea typeface="Calibri" pitchFamily="34" charset="-122"/>
                <a:cs typeface="Calibri" pitchFamily="34" charset="-120"/>
              </a:rPr>
              <a:t>لا يتقاضى موقف إلا مع تحصيل الإيراد — تقاسم شفّاف للإيرادات.</a:t>
            </a:r>
            <a:endParaRPr lang="en-US" sz="1500" dirty="0"/>
          </a:p>
        </p:txBody>
      </p:sp>
      <p:graphicFrame>
        <p:nvGraphicFramePr>
          <p:cNvPr id="7" name="Chart 0" descr=""/>
          <p:cNvGraphicFramePr/>
          <p:nvPr/>
        </p:nvGraphicFramePr>
        <p:xfrm>
          <a:off x="6611112" y="22860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21792" y="1828800"/>
            <a:ext cx="5440680" cy="4023360"/>
          </a:xfrm>
          <a:prstGeom prst="roundRect">
            <a:avLst>
              <a:gd name="adj" fmla="val 2045"/>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9" name="Text 6"/>
          <p:cNvSpPr/>
          <p:nvPr/>
        </p:nvSpPr>
        <p:spPr>
          <a:xfrm>
            <a:off x="850392" y="2011680"/>
            <a:ext cx="4983480" cy="36576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اقتصاديات تجريبية إرشادية</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50392" y="2468880"/>
          <a:ext cx="4983480" cy="914400"/>
        </p:xfrm>
        <a:graphic>
          <a:graphicData uri="http://schemas.openxmlformats.org/drawingml/2006/table">
            <a:tbl>
              <a:tblPr/>
              <a:tblGrid>
                <a:gridCol w="1554480"/>
                <a:gridCol w="3429000"/>
              </a:tblGrid>
              <a:tr h="384048">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القيمة</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البند</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r>
              <a:tr h="384048">
                <a:tc>
                  <a:txBody>
                    <a:bodyPr/>
                    <a:lstStyle/>
                    <a:p>
                      <a:pPr algn="r" indent="0" marL="0">
                        <a:buNone/>
                      </a:pPr>
                      <a:r>
                        <a:rPr lang="en-US" sz="1250" dirty="0">
                          <a:solidFill>
                            <a:srgbClr val="64748B"/>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مواقف مُدارة (3 مناطق تجريبية)</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r" indent="0" marL="0">
                        <a:buNone/>
                      </a:pPr>
                      <a:r>
                        <a:rPr lang="en-US" sz="1250" dirty="0">
                          <a:solidFill>
                            <a:srgbClr val="64748B"/>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ساعات مدفوعة / موقف / يوم</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r" indent="0" marL="0">
                        <a:buNone/>
                      </a:pPr>
                      <a:r>
                        <a:rPr lang="en-US" sz="1250" dirty="0">
                          <a:solidFill>
                            <a:srgbClr val="64748B"/>
                          </a:solidFill>
                          <a:latin typeface="Calibri" pitchFamily="34" charset="0"/>
                          <a:ea typeface="Calibri" pitchFamily="34" charset="-122"/>
                          <a:cs typeface="Calibri" pitchFamily="34" charset="-120"/>
                        </a:rPr>
                        <a:t>≈ 10,000 ل.س/س</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سعر مرجّح عند بنزين 5,000 ل.س/ل</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r" indent="0" marL="0">
                        <a:buNone/>
                      </a:pPr>
                      <a:r>
                        <a:rPr lang="en-US" sz="1250" dirty="0">
                          <a:solidFill>
                            <a:srgbClr val="64748B"/>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أيام التشغيل / شهر</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 1.5 مليار ل.س</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إجمالي التحصيل الشهري</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r" indent="0" marL="0">
                        <a:buNone/>
                      </a:pPr>
                      <a:r>
                        <a:rPr lang="en-US" sz="1250" b="1" dirty="0">
                          <a:solidFill>
                            <a:srgbClr val="D4A017"/>
                          </a:solidFill>
                          <a:latin typeface="Calibri" pitchFamily="34" charset="0"/>
                          <a:ea typeface="Calibri" pitchFamily="34" charset="-122"/>
                          <a:cs typeface="Calibri" pitchFamily="34" charset="-120"/>
                        </a:rPr>
                        <a:t>≈ 0.9 مليار ل.س</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7A5C00"/>
                          </a:solidFill>
                          <a:latin typeface="Calibri" pitchFamily="34" charset="0"/>
                          <a:ea typeface="Calibri" pitchFamily="34" charset="-122"/>
                          <a:cs typeface="Calibri" pitchFamily="34" charset="-120"/>
                        </a:rPr>
                        <a:t>حصة المدينة (60%)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Text 7"/>
          <p:cNvSpPr/>
          <p:nvPr/>
        </p:nvSpPr>
        <p:spPr>
          <a:xfrm>
            <a:off x="850392" y="5440680"/>
            <a:ext cx="4983480" cy="548640"/>
          </a:xfrm>
          <a:prstGeom prst="rect">
            <a:avLst/>
          </a:prstGeom>
          <a:noFill/>
          <a:ln/>
        </p:spPr>
        <p:txBody>
          <a:bodyPr wrap="square" lIns="0" tIns="0" rIns="0" bIns="0" rtlCol="0" anchor="ctr"/>
          <a:lstStyle/>
          <a:p>
            <a:pPr rtl="1" algn="r" indent="0" marL="0">
              <a:lnSpc>
                <a:spcPct val="103000"/>
              </a:lnSpc>
              <a:buNone/>
            </a:pPr>
            <a:r>
              <a:rPr lang="en-US" sz="1050" i="1" dirty="0">
                <a:solidFill>
                  <a:srgbClr val="64748B"/>
                </a:solidFill>
                <a:latin typeface="Calibri" pitchFamily="34" charset="0"/>
                <a:ea typeface="Calibri" pitchFamily="34" charset="-122"/>
                <a:cs typeface="Calibri" pitchFamily="34" charset="-120"/>
              </a:rPr>
              <a:t>نموذج إرشادي — تتغيّر الأرقام مع بيانات الإشغال البلدية الفعلية. وحتى عند نصف هذه الفرضيات، تجني المدينة إيراداً رسمياً جديداً دون أي إنفاق رأسمالي.</a:t>
            </a:r>
            <a:endParaRPr lang="en-US" sz="1050" dirty="0"/>
          </a:p>
        </p:txBody>
      </p:sp>
      <p:sp>
        <p:nvSpPr>
          <p:cNvPr id="12" name="Text 8"/>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13" name="Text 9"/>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القيمة للبلدية</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ما الذي تكسبه المدينة.</a:t>
            </a:r>
            <a:endParaRPr lang="en-US" sz="3000" dirty="0"/>
          </a:p>
        </p:txBody>
      </p:sp>
      <p:sp>
        <p:nvSpPr>
          <p:cNvPr id="6" name="Shape 4"/>
          <p:cNvSpPr/>
          <p:nvPr/>
        </p:nvSpPr>
        <p:spPr>
          <a:xfrm>
            <a:off x="7982712"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0817352" y="2167128"/>
            <a:ext cx="457200" cy="457200"/>
          </a:xfrm>
          <a:prstGeom prst="ellipse">
            <a:avLst/>
          </a:prstGeom>
          <a:solidFill>
            <a:srgbClr val="FBEFC9"/>
          </a:solidFill>
          <a:ln/>
        </p:spPr>
      </p:sp>
      <p:sp>
        <p:nvSpPr>
          <p:cNvPr id="8" name="Text 6"/>
          <p:cNvSpPr/>
          <p:nvPr/>
        </p:nvSpPr>
        <p:spPr>
          <a:xfrm>
            <a:off x="10817352" y="216712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8257032" y="271576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إيراد رسمي جديد</a:t>
            </a:r>
            <a:endParaRPr lang="en-US" sz="1600" dirty="0"/>
          </a:p>
        </p:txBody>
      </p:sp>
      <p:sp>
        <p:nvSpPr>
          <p:cNvPr id="10" name="Text 8"/>
          <p:cNvSpPr/>
          <p:nvPr/>
        </p:nvSpPr>
        <p:spPr>
          <a:xfrm>
            <a:off x="8257032" y="309981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تحويل أصل نقدي غير رسمي إلى دخل قابل للتدقيق — بحصة الأغلبية للمدينة.</a:t>
            </a:r>
            <a:endParaRPr lang="en-US" sz="1200" dirty="0"/>
          </a:p>
        </p:txBody>
      </p:sp>
      <p:sp>
        <p:nvSpPr>
          <p:cNvPr id="11" name="Shape 9"/>
          <p:cNvSpPr/>
          <p:nvPr/>
        </p:nvSpPr>
        <p:spPr>
          <a:xfrm>
            <a:off x="4233672"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7068312" y="2167128"/>
            <a:ext cx="457200" cy="457200"/>
          </a:xfrm>
          <a:prstGeom prst="ellipse">
            <a:avLst/>
          </a:prstGeom>
          <a:solidFill>
            <a:srgbClr val="FBEFC9"/>
          </a:solidFill>
          <a:ln/>
        </p:spPr>
      </p:sp>
      <p:sp>
        <p:nvSpPr>
          <p:cNvPr id="13" name="Text 11"/>
          <p:cNvSpPr/>
          <p:nvPr/>
        </p:nvSpPr>
        <p:spPr>
          <a:xfrm>
            <a:off x="7068312" y="216712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4507992" y="271576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شفافية ومنع التسرّب</a:t>
            </a:r>
            <a:endParaRPr lang="en-US" sz="1600" dirty="0"/>
          </a:p>
        </p:txBody>
      </p:sp>
      <p:sp>
        <p:nvSpPr>
          <p:cNvPr id="15" name="Text 13"/>
          <p:cNvSpPr/>
          <p:nvPr/>
        </p:nvSpPr>
        <p:spPr>
          <a:xfrm>
            <a:off x="4507992" y="309981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كل جلسة وكل ليرة مسجّلة؛ تختفي مشكلة اقتطاع النقد.</a:t>
            </a:r>
            <a:endParaRPr lang="en-US" sz="1200" dirty="0"/>
          </a:p>
        </p:txBody>
      </p:sp>
      <p:sp>
        <p:nvSpPr>
          <p:cNvPr id="16" name="Shape 14"/>
          <p:cNvSpPr/>
          <p:nvPr/>
        </p:nvSpPr>
        <p:spPr>
          <a:xfrm>
            <a:off x="484632"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3319272" y="2167128"/>
            <a:ext cx="457200" cy="457200"/>
          </a:xfrm>
          <a:prstGeom prst="ellipse">
            <a:avLst/>
          </a:prstGeom>
          <a:solidFill>
            <a:srgbClr val="FBEFC9"/>
          </a:solidFill>
          <a:ln/>
        </p:spPr>
      </p:sp>
      <p:sp>
        <p:nvSpPr>
          <p:cNvPr id="18" name="Text 16"/>
          <p:cNvSpPr/>
          <p:nvPr/>
        </p:nvSpPr>
        <p:spPr>
          <a:xfrm>
            <a:off x="3319272" y="216712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758952" y="271576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بيانات إنفاذ حقيقية</a:t>
            </a:r>
            <a:endParaRPr lang="en-US" sz="1600" dirty="0"/>
          </a:p>
        </p:txBody>
      </p:sp>
      <p:sp>
        <p:nvSpPr>
          <p:cNvPr id="20" name="Text 18"/>
          <p:cNvSpPr/>
          <p:nvPr/>
        </p:nvSpPr>
        <p:spPr>
          <a:xfrm>
            <a:off x="758952" y="309981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إشغال وامتثال آنيان حسب المنطقة — انشر الحرّاس حيث يَلزمون.</a:t>
            </a:r>
            <a:endParaRPr lang="en-US" sz="1200" dirty="0"/>
          </a:p>
        </p:txBody>
      </p:sp>
      <p:sp>
        <p:nvSpPr>
          <p:cNvPr id="21" name="Shape 19"/>
          <p:cNvSpPr/>
          <p:nvPr/>
        </p:nvSpPr>
        <p:spPr>
          <a:xfrm>
            <a:off x="7982712"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10817352" y="4041648"/>
            <a:ext cx="457200" cy="457200"/>
          </a:xfrm>
          <a:prstGeom prst="ellipse">
            <a:avLst/>
          </a:prstGeom>
          <a:solidFill>
            <a:srgbClr val="FBEFC9"/>
          </a:solidFill>
          <a:ln/>
        </p:spPr>
      </p:sp>
      <p:sp>
        <p:nvSpPr>
          <p:cNvPr id="23" name="Text 21"/>
          <p:cNvSpPr/>
          <p:nvPr/>
        </p:nvSpPr>
        <p:spPr>
          <a:xfrm>
            <a:off x="10817352" y="404164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8257032" y="459028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تجربة أفضل للمواطن</a:t>
            </a:r>
            <a:endParaRPr lang="en-US" sz="1600" dirty="0"/>
          </a:p>
        </p:txBody>
      </p:sp>
      <p:sp>
        <p:nvSpPr>
          <p:cNvPr id="25" name="Text 23"/>
          <p:cNvSpPr/>
          <p:nvPr/>
        </p:nvSpPr>
        <p:spPr>
          <a:xfrm>
            <a:off x="8257032" y="497433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بلا قطع نقدية وبلا نزاعات؛ خدمة عصرية عربية أولاً يفخر بها المواطن.</a:t>
            </a:r>
            <a:endParaRPr lang="en-US" sz="1200" dirty="0"/>
          </a:p>
        </p:txBody>
      </p:sp>
      <p:sp>
        <p:nvSpPr>
          <p:cNvPr id="26" name="Shape 24"/>
          <p:cNvSpPr/>
          <p:nvPr/>
        </p:nvSpPr>
        <p:spPr>
          <a:xfrm>
            <a:off x="4233672"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7" name="Shape 25"/>
          <p:cNvSpPr/>
          <p:nvPr/>
        </p:nvSpPr>
        <p:spPr>
          <a:xfrm>
            <a:off x="7068312" y="4041648"/>
            <a:ext cx="457200" cy="457200"/>
          </a:xfrm>
          <a:prstGeom prst="ellipse">
            <a:avLst/>
          </a:prstGeom>
          <a:solidFill>
            <a:srgbClr val="FBEFC9"/>
          </a:solidFill>
          <a:ln/>
        </p:spPr>
      </p:sp>
      <p:sp>
        <p:nvSpPr>
          <p:cNvPr id="28" name="Text 26"/>
          <p:cNvSpPr/>
          <p:nvPr/>
        </p:nvSpPr>
        <p:spPr>
          <a:xfrm>
            <a:off x="7068312" y="404164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5</a:t>
            </a:r>
            <a:endParaRPr lang="en-US" sz="1800" dirty="0"/>
          </a:p>
        </p:txBody>
      </p:sp>
      <p:sp>
        <p:nvSpPr>
          <p:cNvPr id="29" name="Text 27"/>
          <p:cNvSpPr/>
          <p:nvPr/>
        </p:nvSpPr>
        <p:spPr>
          <a:xfrm>
            <a:off x="4507992" y="459028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وظائف رقمية</a:t>
            </a:r>
            <a:endParaRPr lang="en-US" sz="1600" dirty="0"/>
          </a:p>
        </p:txBody>
      </p:sp>
      <p:sp>
        <p:nvSpPr>
          <p:cNvPr id="30" name="Text 28"/>
          <p:cNvSpPr/>
          <p:nvPr/>
        </p:nvSpPr>
        <p:spPr>
          <a:xfrm>
            <a:off x="4507992" y="497433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يصبح الحرّاس ضباط ميدان رقميين مجهَّزين؛ وأدوار جديدة في التشغيل.</a:t>
            </a:r>
            <a:endParaRPr lang="en-US" sz="1200" dirty="0"/>
          </a:p>
        </p:txBody>
      </p:sp>
      <p:sp>
        <p:nvSpPr>
          <p:cNvPr id="31" name="Shape 29"/>
          <p:cNvSpPr/>
          <p:nvPr/>
        </p:nvSpPr>
        <p:spPr>
          <a:xfrm>
            <a:off x="484632"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2" name="Shape 30"/>
          <p:cNvSpPr/>
          <p:nvPr/>
        </p:nvSpPr>
        <p:spPr>
          <a:xfrm>
            <a:off x="3319272" y="4041648"/>
            <a:ext cx="457200" cy="457200"/>
          </a:xfrm>
          <a:prstGeom prst="ellipse">
            <a:avLst/>
          </a:prstGeom>
          <a:solidFill>
            <a:srgbClr val="FBEFC9"/>
          </a:solidFill>
          <a:ln/>
        </p:spPr>
      </p:sp>
      <p:sp>
        <p:nvSpPr>
          <p:cNvPr id="33" name="Text 31"/>
          <p:cNvSpPr/>
          <p:nvPr/>
        </p:nvSpPr>
        <p:spPr>
          <a:xfrm>
            <a:off x="3319272" y="4041648"/>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6</a:t>
            </a:r>
            <a:endParaRPr lang="en-US" sz="1800" dirty="0"/>
          </a:p>
        </p:txBody>
      </p:sp>
      <p:sp>
        <p:nvSpPr>
          <p:cNvPr id="34" name="Text 32"/>
          <p:cNvSpPr/>
          <p:nvPr/>
        </p:nvSpPr>
        <p:spPr>
          <a:xfrm>
            <a:off x="758952" y="4590288"/>
            <a:ext cx="3017520" cy="411480"/>
          </a:xfrm>
          <a:prstGeom prst="rect">
            <a:avLst/>
          </a:prstGeom>
          <a:noFill/>
          <a:ln/>
        </p:spPr>
        <p:txBody>
          <a:bodyPr wrap="square" lIns="0" tIns="0" rIns="0" bIns="0" rtlCol="0" anchor="ctr"/>
          <a:lstStyle/>
          <a:p>
            <a:pPr rtl="1" algn="r" indent="0" marL="0">
              <a:buNone/>
            </a:pPr>
            <a:r>
              <a:rPr lang="en-US" sz="1600" b="1" dirty="0">
                <a:solidFill>
                  <a:srgbClr val="0F172A"/>
                </a:solidFill>
                <a:latin typeface="Cambria" pitchFamily="34" charset="0"/>
                <a:ea typeface="Cambria" pitchFamily="34" charset="-122"/>
                <a:cs typeface="Cambria" pitchFamily="34" charset="-120"/>
              </a:rPr>
              <a:t>أساس للمدينة الذكية</a:t>
            </a:r>
            <a:endParaRPr lang="en-US" sz="1600" dirty="0"/>
          </a:p>
        </p:txBody>
      </p:sp>
      <p:sp>
        <p:nvSpPr>
          <p:cNvPr id="35" name="Text 33"/>
          <p:cNvSpPr/>
          <p:nvPr/>
        </p:nvSpPr>
        <p:spPr>
          <a:xfrm>
            <a:off x="758952" y="4974336"/>
            <a:ext cx="3017520" cy="457200"/>
          </a:xfrm>
          <a:prstGeom prst="rect">
            <a:avLst/>
          </a:prstGeom>
          <a:noFill/>
          <a:ln/>
        </p:spPr>
        <p:txBody>
          <a:bodyPr wrap="square" lIns="0" tIns="0" rIns="0" bIns="0" rtlCol="0" anchor="ctr"/>
          <a:lstStyle/>
          <a:p>
            <a:pPr rtl="1" algn="r" indent="0" marL="0">
              <a:buNone/>
            </a:pPr>
            <a:r>
              <a:rPr lang="en-US" sz="1200" dirty="0">
                <a:solidFill>
                  <a:srgbClr val="64748B"/>
                </a:solidFill>
                <a:latin typeface="Calibri" pitchFamily="34" charset="0"/>
                <a:ea typeface="Calibri" pitchFamily="34" charset="-122"/>
                <a:cs typeface="Calibri" pitchFamily="34" charset="-120"/>
              </a:rPr>
              <a:t>طبقة بيانات نظيفة تمتدّ إلى التراخيص والازدحام وتخطيط التنقّل.</a:t>
            </a:r>
            <a:endParaRPr lang="en-US" sz="1200" dirty="0"/>
          </a:p>
        </p:txBody>
      </p:sp>
      <p:sp>
        <p:nvSpPr>
          <p:cNvPr id="36" name="Text 34"/>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37" name="Text 35"/>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بناء أم شراء</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لماذا هذه المنصّة، ولماذا الآن.</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6072" y="1874520"/>
          <a:ext cx="10972800" cy="914400"/>
        </p:xfrm>
        <a:graphic>
          <a:graphicData uri="http://schemas.openxmlformats.org/drawingml/2006/table">
            <a:tbl>
              <a:tblPr/>
              <a:tblGrid>
                <a:gridCol w="2606040"/>
                <a:gridCol w="2606040"/>
                <a:gridCol w="2743200"/>
                <a:gridCol w="3017520"/>
              </a:tblGrid>
              <a:tr h="5486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مورّد أجنبي</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بناء داخلي</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موقف</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01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المعيار</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6–12 شهراً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12–18 شهراً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90 يوماً (حيّ الآن)</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زمن الإطلاق</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ترخيص + صرف أجنبي</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إنفاق رأسمالي مرتفع</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لا شيء — تقاسم إيراد</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الكلفة المسبقة</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نادراً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تُبنى</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أصيلة</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عربية أولاً / RTL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لا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ربما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نعم — داخل البلد</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بيانات ودفع سياديان</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لا</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تُبنى</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مدمجة</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تعرفة مرتبطة بالتضخم</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معرّضة</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يعتمد</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نعم — مفتوحة المصدر</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صمود أمام العقوبات</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Text 4"/>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8" name="Text 5"/>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091672" y="502920"/>
            <a:ext cx="457200" cy="457200"/>
          </a:xfrm>
          <a:prstGeom prst="ellipse">
            <a:avLst/>
          </a:prstGeom>
          <a:solidFill>
            <a:srgbClr val="D4A017"/>
          </a:solidFill>
          <a:ln/>
        </p:spPr>
      </p:sp>
      <p:sp>
        <p:nvSpPr>
          <p:cNvPr id="3" name="Text 1"/>
          <p:cNvSpPr/>
          <p:nvPr/>
        </p:nvSpPr>
        <p:spPr>
          <a:xfrm>
            <a:off x="11091672"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832104" y="457200"/>
            <a:ext cx="10058400" cy="274320"/>
          </a:xfrm>
          <a:prstGeom prst="rect">
            <a:avLst/>
          </a:prstGeom>
          <a:noFill/>
          <a:ln/>
        </p:spPr>
        <p:txBody>
          <a:bodyPr wrap="square" lIns="0" tIns="0" rIns="0" bIns="0" rtlCol="0" anchor="ctr"/>
          <a:lstStyle/>
          <a:p>
            <a:pPr rtl="1" algn="r" indent="0" marL="0">
              <a:buNone/>
            </a:pPr>
            <a:r>
              <a:rPr lang="en-US" sz="1250" b="1" dirty="0">
                <a:solidFill>
                  <a:srgbClr val="D4A017"/>
                </a:solidFill>
                <a:latin typeface="Calibri" pitchFamily="34" charset="0"/>
                <a:ea typeface="Calibri" pitchFamily="34" charset="-122"/>
                <a:cs typeface="Calibri" pitchFamily="34" charset="-120"/>
              </a:rPr>
              <a:t>خطة الإطلاق</a:t>
            </a:r>
            <a:endParaRPr lang="en-US" sz="1250" dirty="0"/>
          </a:p>
        </p:txBody>
      </p:sp>
      <p:sp>
        <p:nvSpPr>
          <p:cNvPr id="5" name="Text 3"/>
          <p:cNvSpPr/>
          <p:nvPr/>
        </p:nvSpPr>
        <p:spPr>
          <a:xfrm>
            <a:off x="283464" y="713232"/>
            <a:ext cx="10607040" cy="777240"/>
          </a:xfrm>
          <a:prstGeom prst="rect">
            <a:avLst/>
          </a:prstGeom>
          <a:noFill/>
          <a:ln/>
        </p:spPr>
        <p:txBody>
          <a:bodyPr wrap="square" lIns="0" tIns="0" rIns="0" bIns="0" rtlCol="0" anchor="ctr"/>
          <a:lstStyle/>
          <a:p>
            <a:pPr rtl="1" algn="r" indent="0" marL="0">
              <a:buNone/>
            </a:pPr>
            <a:r>
              <a:rPr lang="en-US" sz="3000" b="1" dirty="0">
                <a:solidFill>
                  <a:srgbClr val="0F172A"/>
                </a:solidFill>
                <a:latin typeface="Cambria" pitchFamily="34" charset="0"/>
                <a:ea typeface="Cambria" pitchFamily="34" charset="-122"/>
                <a:cs typeface="Cambria" pitchFamily="34" charset="-120"/>
              </a:rPr>
              <a:t>مسار متدرّج من التجربة إلى المستوى الوطني.</a:t>
            </a:r>
            <a:endParaRPr lang="en-US" sz="3000" dirty="0"/>
          </a:p>
        </p:txBody>
      </p:sp>
      <p:sp>
        <p:nvSpPr>
          <p:cNvPr id="6" name="Shape 4"/>
          <p:cNvSpPr/>
          <p:nvPr/>
        </p:nvSpPr>
        <p:spPr>
          <a:xfrm>
            <a:off x="1307592" y="3063240"/>
            <a:ext cx="9326880" cy="0"/>
          </a:xfrm>
          <a:prstGeom prst="line">
            <a:avLst/>
          </a:prstGeom>
          <a:noFill/>
          <a:ln w="25400">
            <a:solidFill>
              <a:srgbClr val="E2E8F0"/>
            </a:solidFill>
            <a:prstDash val="solid"/>
          </a:ln>
        </p:spPr>
      </p:sp>
      <p:sp>
        <p:nvSpPr>
          <p:cNvPr id="7" name="Shape 5"/>
          <p:cNvSpPr/>
          <p:nvPr/>
        </p:nvSpPr>
        <p:spPr>
          <a:xfrm>
            <a:off x="9468612" y="2697480"/>
            <a:ext cx="731520" cy="731520"/>
          </a:xfrm>
          <a:prstGeom prst="ellipse">
            <a:avLst/>
          </a:prstGeom>
          <a:solidFill>
            <a:srgbClr val="D4A017"/>
          </a:solidFill>
          <a:ln/>
        </p:spPr>
      </p:sp>
      <p:sp>
        <p:nvSpPr>
          <p:cNvPr id="8" name="Text 6"/>
          <p:cNvSpPr/>
          <p:nvPr/>
        </p:nvSpPr>
        <p:spPr>
          <a:xfrm>
            <a:off x="9468612" y="2697480"/>
            <a:ext cx="731520" cy="73152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1</a:t>
            </a:r>
            <a:endParaRPr lang="en-US" sz="2400" dirty="0"/>
          </a:p>
        </p:txBody>
      </p:sp>
      <p:sp>
        <p:nvSpPr>
          <p:cNvPr id="9" name="Shape 7"/>
          <p:cNvSpPr/>
          <p:nvPr/>
        </p:nvSpPr>
        <p:spPr>
          <a:xfrm>
            <a:off x="8119872" y="3657600"/>
            <a:ext cx="3429000" cy="2011680"/>
          </a:xfrm>
          <a:prstGeom prst="roundRect">
            <a:avLst>
              <a:gd name="adj" fmla="val 4091"/>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0" name="Text 8"/>
          <p:cNvSpPr/>
          <p:nvPr/>
        </p:nvSpPr>
        <p:spPr>
          <a:xfrm>
            <a:off x="8394192" y="3840480"/>
            <a:ext cx="2880360" cy="274320"/>
          </a:xfrm>
          <a:prstGeom prst="rect">
            <a:avLst/>
          </a:prstGeom>
          <a:noFill/>
          <a:ln/>
        </p:spPr>
        <p:txBody>
          <a:bodyPr wrap="square" lIns="0" tIns="0" rIns="0" bIns="0" rtlCol="0" anchor="ctr"/>
          <a:lstStyle/>
          <a:p>
            <a:pPr rtl="1" algn="r" indent="0" marL="0">
              <a:buNone/>
            </a:pPr>
            <a:r>
              <a:rPr lang="en-US" sz="1200" b="1" dirty="0">
                <a:solidFill>
                  <a:srgbClr val="D4A017"/>
                </a:solidFill>
                <a:latin typeface="Calibri" pitchFamily="34" charset="0"/>
                <a:ea typeface="Calibri" pitchFamily="34" charset="-122"/>
                <a:cs typeface="Calibri" pitchFamily="34" charset="-120"/>
              </a:rPr>
              <a:t>المرحلة 1</a:t>
            </a:r>
            <a:endParaRPr lang="en-US" sz="1200" dirty="0"/>
          </a:p>
        </p:txBody>
      </p:sp>
      <p:sp>
        <p:nvSpPr>
          <p:cNvPr id="11" name="Text 9"/>
          <p:cNvSpPr/>
          <p:nvPr/>
        </p:nvSpPr>
        <p:spPr>
          <a:xfrm>
            <a:off x="8394192" y="4096512"/>
            <a:ext cx="2880360" cy="457200"/>
          </a:xfrm>
          <a:prstGeom prst="rect">
            <a:avLst/>
          </a:prstGeom>
          <a:noFill/>
          <a:ln/>
        </p:spPr>
        <p:txBody>
          <a:bodyPr wrap="square" lIns="0" tIns="0" rIns="0" bIns="0" rtlCol="0" anchor="ctr"/>
          <a:lstStyle/>
          <a:p>
            <a:pPr rtl="1" algn="r" indent="0" marL="0">
              <a:buNone/>
            </a:pPr>
            <a:r>
              <a:rPr lang="en-US" sz="1900" b="1" dirty="0">
                <a:solidFill>
                  <a:srgbClr val="0F172A"/>
                </a:solidFill>
                <a:latin typeface="Cambria" pitchFamily="34" charset="0"/>
                <a:ea typeface="Cambria" pitchFamily="34" charset="-122"/>
                <a:cs typeface="Cambria" pitchFamily="34" charset="-120"/>
              </a:rPr>
              <a:t>تجربة 90 يوماً</a:t>
            </a:r>
            <a:endParaRPr lang="en-US" sz="1900" dirty="0"/>
          </a:p>
        </p:txBody>
      </p:sp>
      <p:sp>
        <p:nvSpPr>
          <p:cNvPr id="12" name="Text 10"/>
          <p:cNvSpPr/>
          <p:nvPr/>
        </p:nvSpPr>
        <p:spPr>
          <a:xfrm>
            <a:off x="8394192" y="4572000"/>
            <a:ext cx="2880360" cy="1005840"/>
          </a:xfrm>
          <a:prstGeom prst="rect">
            <a:avLst/>
          </a:prstGeom>
          <a:noFill/>
          <a:ln/>
        </p:spPr>
        <p:txBody>
          <a:bodyPr wrap="square" lIns="0" tIns="0" rIns="0" bIns="0" rtlCol="0" anchor="ctr"/>
          <a:lstStyle/>
          <a:p>
            <a:pPr rtl="1" algn="r" indent="0" marL="0">
              <a:lnSpc>
                <a:spcPct val="105000"/>
              </a:lnSpc>
              <a:buNone/>
            </a:pPr>
            <a:r>
              <a:rPr lang="en-US" sz="1250" dirty="0">
                <a:solidFill>
                  <a:srgbClr val="64748B"/>
                </a:solidFill>
                <a:latin typeface="Calibri" pitchFamily="34" charset="0"/>
                <a:ea typeface="Calibri" pitchFamily="34" charset="-122"/>
                <a:cs typeface="Calibri" pitchFamily="34" charset="-120"/>
              </a:rPr>
              <a:t>شعلان والمزة وكفرسوسة. إثبات الإيراد والإنفاذ وإقبال المواطنين على لوحة حيّة.</a:t>
            </a:r>
            <a:endParaRPr lang="en-US" sz="1250" dirty="0"/>
          </a:p>
        </p:txBody>
      </p:sp>
      <p:sp>
        <p:nvSpPr>
          <p:cNvPr id="13" name="Shape 11"/>
          <p:cNvSpPr/>
          <p:nvPr/>
        </p:nvSpPr>
        <p:spPr>
          <a:xfrm>
            <a:off x="5719572" y="2697480"/>
            <a:ext cx="731520" cy="731520"/>
          </a:xfrm>
          <a:prstGeom prst="ellipse">
            <a:avLst/>
          </a:prstGeom>
          <a:solidFill>
            <a:srgbClr val="0B1220"/>
          </a:solidFill>
          <a:ln/>
        </p:spPr>
      </p:sp>
      <p:sp>
        <p:nvSpPr>
          <p:cNvPr id="14" name="Text 12"/>
          <p:cNvSpPr/>
          <p:nvPr/>
        </p:nvSpPr>
        <p:spPr>
          <a:xfrm>
            <a:off x="5719572" y="2697480"/>
            <a:ext cx="731520" cy="731520"/>
          </a:xfrm>
          <a:prstGeom prst="rect">
            <a:avLst/>
          </a:prstGeom>
          <a:noFill/>
          <a:ln/>
        </p:spPr>
        <p:txBody>
          <a:bodyPr wrap="square" lIns="0" tIns="0" rIns="0" bIns="0" rtlCol="0" anchor="ctr"/>
          <a:lstStyle/>
          <a:p>
            <a:pPr algn="ctr" indent="0" marL="0">
              <a:buNone/>
            </a:pPr>
            <a:r>
              <a:rPr lang="en-US" sz="2400" b="1" dirty="0">
                <a:solidFill>
                  <a:srgbClr val="D4A017"/>
                </a:solidFill>
                <a:latin typeface="Cambria" pitchFamily="34" charset="0"/>
                <a:ea typeface="Cambria" pitchFamily="34" charset="-122"/>
                <a:cs typeface="Cambria" pitchFamily="34" charset="-120"/>
              </a:rPr>
              <a:t>2</a:t>
            </a:r>
            <a:endParaRPr lang="en-US" sz="2400" dirty="0"/>
          </a:p>
        </p:txBody>
      </p:sp>
      <p:sp>
        <p:nvSpPr>
          <p:cNvPr id="15" name="Shape 13"/>
          <p:cNvSpPr/>
          <p:nvPr/>
        </p:nvSpPr>
        <p:spPr>
          <a:xfrm>
            <a:off x="4370832" y="3657600"/>
            <a:ext cx="3429000" cy="2011680"/>
          </a:xfrm>
          <a:prstGeom prst="roundRect">
            <a:avLst>
              <a:gd name="adj" fmla="val 4091"/>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6" name="Text 14"/>
          <p:cNvSpPr/>
          <p:nvPr/>
        </p:nvSpPr>
        <p:spPr>
          <a:xfrm>
            <a:off x="4645152" y="3840480"/>
            <a:ext cx="2880360" cy="274320"/>
          </a:xfrm>
          <a:prstGeom prst="rect">
            <a:avLst/>
          </a:prstGeom>
          <a:noFill/>
          <a:ln/>
        </p:spPr>
        <p:txBody>
          <a:bodyPr wrap="square" lIns="0" tIns="0" rIns="0" bIns="0" rtlCol="0" anchor="ctr"/>
          <a:lstStyle/>
          <a:p>
            <a:pPr rtl="1" algn="r" indent="0" marL="0">
              <a:buNone/>
            </a:pPr>
            <a:r>
              <a:rPr lang="en-US" sz="1200" b="1" dirty="0">
                <a:solidFill>
                  <a:srgbClr val="D4A017"/>
                </a:solidFill>
                <a:latin typeface="Calibri" pitchFamily="34" charset="0"/>
                <a:ea typeface="Calibri" pitchFamily="34" charset="-122"/>
                <a:cs typeface="Calibri" pitchFamily="34" charset="-120"/>
              </a:rPr>
              <a:t>المرحلة 2</a:t>
            </a:r>
            <a:endParaRPr lang="en-US" sz="1200" dirty="0"/>
          </a:p>
        </p:txBody>
      </p:sp>
      <p:sp>
        <p:nvSpPr>
          <p:cNvPr id="17" name="Text 15"/>
          <p:cNvSpPr/>
          <p:nvPr/>
        </p:nvSpPr>
        <p:spPr>
          <a:xfrm>
            <a:off x="4645152" y="4096512"/>
            <a:ext cx="2880360" cy="457200"/>
          </a:xfrm>
          <a:prstGeom prst="rect">
            <a:avLst/>
          </a:prstGeom>
          <a:noFill/>
          <a:ln/>
        </p:spPr>
        <p:txBody>
          <a:bodyPr wrap="square" lIns="0" tIns="0" rIns="0" bIns="0" rtlCol="0" anchor="ctr"/>
          <a:lstStyle/>
          <a:p>
            <a:pPr rtl="1" algn="r" indent="0" marL="0">
              <a:buNone/>
            </a:pPr>
            <a:r>
              <a:rPr lang="en-US" sz="1900" b="1" dirty="0">
                <a:solidFill>
                  <a:srgbClr val="0F172A"/>
                </a:solidFill>
                <a:latin typeface="Cambria" pitchFamily="34" charset="0"/>
                <a:ea typeface="Cambria" pitchFamily="34" charset="-122"/>
                <a:cs typeface="Cambria" pitchFamily="34" charset="-120"/>
              </a:rPr>
              <a:t>دمشق بالكامل</a:t>
            </a:r>
            <a:endParaRPr lang="en-US" sz="1900" dirty="0"/>
          </a:p>
        </p:txBody>
      </p:sp>
      <p:sp>
        <p:nvSpPr>
          <p:cNvPr id="18" name="Text 16"/>
          <p:cNvSpPr/>
          <p:nvPr/>
        </p:nvSpPr>
        <p:spPr>
          <a:xfrm>
            <a:off x="4645152" y="4572000"/>
            <a:ext cx="2880360" cy="1005840"/>
          </a:xfrm>
          <a:prstGeom prst="rect">
            <a:avLst/>
          </a:prstGeom>
          <a:noFill/>
          <a:ln/>
        </p:spPr>
        <p:txBody>
          <a:bodyPr wrap="square" lIns="0" tIns="0" rIns="0" bIns="0" rtlCol="0" anchor="ctr"/>
          <a:lstStyle/>
          <a:p>
            <a:pPr rtl="1" algn="r" indent="0" marL="0">
              <a:lnSpc>
                <a:spcPct val="105000"/>
              </a:lnSpc>
              <a:buNone/>
            </a:pPr>
            <a:r>
              <a:rPr lang="en-US" sz="1250" dirty="0">
                <a:solidFill>
                  <a:srgbClr val="64748B"/>
                </a:solidFill>
                <a:latin typeface="Calibri" pitchFamily="34" charset="0"/>
                <a:ea typeface="Calibri" pitchFamily="34" charset="-122"/>
                <a:cs typeface="Calibri" pitchFamily="34" charset="-120"/>
              </a:rPr>
              <a:t>توسيع المناطق في العاصمة؛ ودمج شبكة الدفع الوطنية وتأهيل سلك الحرّاس.</a:t>
            </a:r>
            <a:endParaRPr lang="en-US" sz="1250" dirty="0"/>
          </a:p>
        </p:txBody>
      </p:sp>
      <p:sp>
        <p:nvSpPr>
          <p:cNvPr id="19" name="Shape 17"/>
          <p:cNvSpPr/>
          <p:nvPr/>
        </p:nvSpPr>
        <p:spPr>
          <a:xfrm>
            <a:off x="1970532" y="2697480"/>
            <a:ext cx="731520" cy="731520"/>
          </a:xfrm>
          <a:prstGeom prst="ellipse">
            <a:avLst/>
          </a:prstGeom>
          <a:solidFill>
            <a:srgbClr val="0B1220"/>
          </a:solidFill>
          <a:ln/>
        </p:spPr>
      </p:sp>
      <p:sp>
        <p:nvSpPr>
          <p:cNvPr id="20" name="Text 18"/>
          <p:cNvSpPr/>
          <p:nvPr/>
        </p:nvSpPr>
        <p:spPr>
          <a:xfrm>
            <a:off x="1970532" y="2697480"/>
            <a:ext cx="731520" cy="731520"/>
          </a:xfrm>
          <a:prstGeom prst="rect">
            <a:avLst/>
          </a:prstGeom>
          <a:noFill/>
          <a:ln/>
        </p:spPr>
        <p:txBody>
          <a:bodyPr wrap="square" lIns="0" tIns="0" rIns="0" bIns="0" rtlCol="0" anchor="ctr"/>
          <a:lstStyle/>
          <a:p>
            <a:pPr algn="ctr" indent="0" marL="0">
              <a:buNone/>
            </a:pPr>
            <a:r>
              <a:rPr lang="en-US" sz="2400" b="1" dirty="0">
                <a:solidFill>
                  <a:srgbClr val="D4A017"/>
                </a:solidFill>
                <a:latin typeface="Cambria" pitchFamily="34" charset="0"/>
                <a:ea typeface="Cambria" pitchFamily="34" charset="-122"/>
                <a:cs typeface="Cambria" pitchFamily="34" charset="-120"/>
              </a:rPr>
              <a:t>3</a:t>
            </a:r>
            <a:endParaRPr lang="en-US" sz="2400" dirty="0"/>
          </a:p>
        </p:txBody>
      </p:sp>
      <p:sp>
        <p:nvSpPr>
          <p:cNvPr id="21" name="Shape 19"/>
          <p:cNvSpPr/>
          <p:nvPr/>
        </p:nvSpPr>
        <p:spPr>
          <a:xfrm>
            <a:off x="621792" y="3657600"/>
            <a:ext cx="3429000" cy="2011680"/>
          </a:xfrm>
          <a:prstGeom prst="roundRect">
            <a:avLst>
              <a:gd name="adj" fmla="val 4091"/>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Text 20"/>
          <p:cNvSpPr/>
          <p:nvPr/>
        </p:nvSpPr>
        <p:spPr>
          <a:xfrm>
            <a:off x="896112" y="3840480"/>
            <a:ext cx="2880360" cy="274320"/>
          </a:xfrm>
          <a:prstGeom prst="rect">
            <a:avLst/>
          </a:prstGeom>
          <a:noFill/>
          <a:ln/>
        </p:spPr>
        <p:txBody>
          <a:bodyPr wrap="square" lIns="0" tIns="0" rIns="0" bIns="0" rtlCol="0" anchor="ctr"/>
          <a:lstStyle/>
          <a:p>
            <a:pPr rtl="1" algn="r" indent="0" marL="0">
              <a:buNone/>
            </a:pPr>
            <a:r>
              <a:rPr lang="en-US" sz="1200" b="1" dirty="0">
                <a:solidFill>
                  <a:srgbClr val="D4A017"/>
                </a:solidFill>
                <a:latin typeface="Calibri" pitchFamily="34" charset="0"/>
                <a:ea typeface="Calibri" pitchFamily="34" charset="-122"/>
                <a:cs typeface="Calibri" pitchFamily="34" charset="-120"/>
              </a:rPr>
              <a:t>المرحلة 3</a:t>
            </a:r>
            <a:endParaRPr lang="en-US" sz="1200" dirty="0"/>
          </a:p>
        </p:txBody>
      </p:sp>
      <p:sp>
        <p:nvSpPr>
          <p:cNvPr id="23" name="Text 21"/>
          <p:cNvSpPr/>
          <p:nvPr/>
        </p:nvSpPr>
        <p:spPr>
          <a:xfrm>
            <a:off x="896112" y="4096512"/>
            <a:ext cx="2880360" cy="457200"/>
          </a:xfrm>
          <a:prstGeom prst="rect">
            <a:avLst/>
          </a:prstGeom>
          <a:noFill/>
          <a:ln/>
        </p:spPr>
        <p:txBody>
          <a:bodyPr wrap="square" lIns="0" tIns="0" rIns="0" bIns="0" rtlCol="0" anchor="ctr"/>
          <a:lstStyle/>
          <a:p>
            <a:pPr rtl="1" algn="r" indent="0" marL="0">
              <a:buNone/>
            </a:pPr>
            <a:r>
              <a:rPr lang="en-US" sz="1900" b="1" dirty="0">
                <a:solidFill>
                  <a:srgbClr val="0F172A"/>
                </a:solidFill>
                <a:latin typeface="Cambria" pitchFamily="34" charset="0"/>
                <a:ea typeface="Cambria" pitchFamily="34" charset="-122"/>
                <a:cs typeface="Cambria" pitchFamily="34" charset="-120"/>
              </a:rPr>
              <a:t>وطني + السجل</a:t>
            </a:r>
            <a:endParaRPr lang="en-US" sz="1900" dirty="0"/>
          </a:p>
        </p:txBody>
      </p:sp>
      <p:sp>
        <p:nvSpPr>
          <p:cNvPr id="24" name="Text 22"/>
          <p:cNvSpPr/>
          <p:nvPr/>
        </p:nvSpPr>
        <p:spPr>
          <a:xfrm>
            <a:off x="896112" y="4572000"/>
            <a:ext cx="2880360" cy="1005840"/>
          </a:xfrm>
          <a:prstGeom prst="rect">
            <a:avLst/>
          </a:prstGeom>
          <a:noFill/>
          <a:ln/>
        </p:spPr>
        <p:txBody>
          <a:bodyPr wrap="square" lIns="0" tIns="0" rIns="0" bIns="0" rtlCol="0" anchor="ctr"/>
          <a:lstStyle/>
          <a:p>
            <a:pPr rtl="1" algn="r" indent="0" marL="0">
              <a:lnSpc>
                <a:spcPct val="105000"/>
              </a:lnSpc>
              <a:buNone/>
            </a:pPr>
            <a:r>
              <a:rPr lang="en-US" sz="1250" dirty="0">
                <a:solidFill>
                  <a:srgbClr val="64748B"/>
                </a:solidFill>
                <a:latin typeface="Calibri" pitchFamily="34" charset="0"/>
                <a:ea typeface="Calibri" pitchFamily="34" charset="-122"/>
                <a:cs typeface="Calibri" pitchFamily="34" charset="-120"/>
              </a:rPr>
              <a:t>التوسّع إلى محافظات أخرى وربط سجلّ مركبات وزارة النقل الحيّ.</a:t>
            </a:r>
            <a:endParaRPr lang="en-US" sz="1250" dirty="0"/>
          </a:p>
        </p:txBody>
      </p:sp>
      <p:sp>
        <p:nvSpPr>
          <p:cNvPr id="25" name="Text 23"/>
          <p:cNvSpPr/>
          <p:nvPr/>
        </p:nvSpPr>
        <p:spPr>
          <a:xfrm>
            <a:off x="4233672" y="6473952"/>
            <a:ext cx="7315200" cy="274320"/>
          </a:xfrm>
          <a:prstGeom prst="rect">
            <a:avLst/>
          </a:prstGeom>
          <a:noFill/>
          <a:ln/>
        </p:spPr>
        <p:txBody>
          <a:bodyPr wrap="square" lIns="0" tIns="0" rIns="0" bIns="0" rtlCol="0" anchor="ctr"/>
          <a:lstStyle/>
          <a:p>
            <a:pPr rtl="1" algn="r" indent="0" marL="0">
              <a:buNone/>
            </a:pPr>
            <a:r>
              <a:rPr lang="en-US" sz="1000" dirty="0">
                <a:solidFill>
                  <a:srgbClr val="64748B"/>
                </a:solidFill>
                <a:latin typeface="Calibri" pitchFamily="34" charset="0"/>
                <a:ea typeface="Calibri" pitchFamily="34" charset="-122"/>
                <a:cs typeface="Calibri" pitchFamily="34" charset="-120"/>
              </a:rPr>
              <a:t>موقف · مواقف دمشق الذكية</a:t>
            </a:r>
            <a:endParaRPr lang="en-US" sz="1000" dirty="0"/>
          </a:p>
        </p:txBody>
      </p:sp>
      <p:sp>
        <p:nvSpPr>
          <p:cNvPr id="26" name="Text 24"/>
          <p:cNvSpPr/>
          <p:nvPr/>
        </p:nvSpPr>
        <p:spPr>
          <a:xfrm>
            <a:off x="640080" y="6473952"/>
            <a:ext cx="54864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834640" y="-2194560"/>
            <a:ext cx="6400800" cy="6400800"/>
          </a:xfrm>
          <a:prstGeom prst="ellipse">
            <a:avLst/>
          </a:prstGeom>
          <a:solidFill>
            <a:srgbClr val="14213D"/>
          </a:solidFill>
          <a:ln/>
        </p:spPr>
      </p:sp>
      <p:sp>
        <p:nvSpPr>
          <p:cNvPr id="3" name="Shape 1"/>
          <p:cNvSpPr/>
          <p:nvPr/>
        </p:nvSpPr>
        <p:spPr>
          <a:xfrm>
            <a:off x="10908792" y="594360"/>
            <a:ext cx="640080" cy="640080"/>
          </a:xfrm>
          <a:prstGeom prst="ellipse">
            <a:avLst/>
          </a:prstGeom>
          <a:solidFill>
            <a:srgbClr val="D4A017"/>
          </a:solidFill>
          <a:ln/>
        </p:spPr>
      </p:sp>
      <p:sp>
        <p:nvSpPr>
          <p:cNvPr id="4" name="Text 2"/>
          <p:cNvSpPr/>
          <p:nvPr/>
        </p:nvSpPr>
        <p:spPr>
          <a:xfrm>
            <a:off x="10908792" y="576072"/>
            <a:ext cx="640080" cy="640080"/>
          </a:xfrm>
          <a:prstGeom prst="rect">
            <a:avLst/>
          </a:prstGeom>
          <a:noFill/>
          <a:ln/>
        </p:spPr>
        <p:txBody>
          <a:bodyPr wrap="square" rtlCol="0" anchor="ctr"/>
          <a:lstStyle/>
          <a:p>
            <a:pPr algn="ctr" indent="0" marL="0">
              <a:buNone/>
            </a:pPr>
            <a:r>
              <a:rPr lang="en-US" sz="1820" b="1" dirty="0">
                <a:solidFill>
                  <a:srgbClr val="0B1220"/>
                </a:solidFill>
                <a:latin typeface="Cambria" pitchFamily="34" charset="0"/>
                <a:ea typeface="Cambria" pitchFamily="34" charset="-122"/>
                <a:cs typeface="Cambria" pitchFamily="34" charset="-120"/>
              </a:rPr>
              <a:t>م</a:t>
            </a:r>
            <a:endParaRPr lang="en-US" sz="1820" dirty="0"/>
          </a:p>
        </p:txBody>
      </p:sp>
      <p:sp>
        <p:nvSpPr>
          <p:cNvPr id="5" name="Text 3"/>
          <p:cNvSpPr/>
          <p:nvPr/>
        </p:nvSpPr>
        <p:spPr>
          <a:xfrm>
            <a:off x="3364992" y="713232"/>
            <a:ext cx="7315200" cy="365760"/>
          </a:xfrm>
          <a:prstGeom prst="rect">
            <a:avLst/>
          </a:prstGeom>
          <a:noFill/>
          <a:ln/>
        </p:spPr>
        <p:txBody>
          <a:bodyPr wrap="square" lIns="0" tIns="0" rIns="0" bIns="0" rtlCol="0" anchor="ctr"/>
          <a:lstStyle/>
          <a:p>
            <a:pPr rtl="1" algn="r" indent="0" marL="0">
              <a:buNone/>
            </a:pPr>
            <a:r>
              <a:rPr lang="en-US" sz="1300" b="1" dirty="0">
                <a:solidFill>
                  <a:srgbClr val="D4A017"/>
                </a:solidFill>
                <a:latin typeface="Calibri" pitchFamily="34" charset="0"/>
                <a:ea typeface="Calibri" pitchFamily="34" charset="-122"/>
                <a:cs typeface="Calibri" pitchFamily="34" charset="-120"/>
              </a:rPr>
              <a:t>الطلب</a:t>
            </a:r>
            <a:endParaRPr lang="en-US" sz="1300" dirty="0"/>
          </a:p>
        </p:txBody>
      </p:sp>
      <p:sp>
        <p:nvSpPr>
          <p:cNvPr id="6" name="Text 4"/>
          <p:cNvSpPr/>
          <p:nvPr/>
        </p:nvSpPr>
        <p:spPr>
          <a:xfrm>
            <a:off x="758952" y="1554480"/>
            <a:ext cx="10789920" cy="1280160"/>
          </a:xfrm>
          <a:prstGeom prst="rect">
            <a:avLst/>
          </a:prstGeom>
          <a:noFill/>
          <a:ln/>
        </p:spPr>
        <p:txBody>
          <a:bodyPr wrap="square" lIns="0" tIns="0" rIns="0" bIns="0" rtlCol="0" anchor="ctr"/>
          <a:lstStyle/>
          <a:p>
            <a:pPr rtl="1" algn="r" indent="0" marL="0">
              <a:buNone/>
            </a:pPr>
            <a:r>
              <a:rPr lang="en-US" sz="3300" b="1" dirty="0">
                <a:solidFill>
                  <a:srgbClr val="FFFFFF"/>
                </a:solidFill>
                <a:latin typeface="Cambria" pitchFamily="34" charset="0"/>
                <a:ea typeface="Cambria" pitchFamily="34" charset="-122"/>
                <a:cs typeface="Cambria" pitchFamily="34" charset="-120"/>
              </a:rPr>
              <a:t>اعتمدوا تجربة لمدة 90 يوماً في ثلاث مناطق بدمشق.</a:t>
            </a:r>
            <a:endParaRPr lang="en-US" sz="3300" dirty="0"/>
          </a:p>
        </p:txBody>
      </p:sp>
      <p:sp>
        <p:nvSpPr>
          <p:cNvPr id="7" name="Text 5"/>
          <p:cNvSpPr/>
          <p:nvPr/>
        </p:nvSpPr>
        <p:spPr>
          <a:xfrm>
            <a:off x="6428232" y="2971800"/>
            <a:ext cx="5120640" cy="274320"/>
          </a:xfrm>
          <a:prstGeom prst="rect">
            <a:avLst/>
          </a:prstGeom>
          <a:noFill/>
          <a:ln/>
        </p:spPr>
        <p:txBody>
          <a:bodyPr wrap="square" lIns="0" tIns="0" rIns="0" bIns="0" rtlCol="0" anchor="ctr"/>
          <a:lstStyle/>
          <a:p>
            <a:pPr rtl="1" algn="r" indent="0" marL="0">
              <a:buNone/>
            </a:pPr>
            <a:r>
              <a:rPr lang="en-US" sz="1300" b="1" dirty="0">
                <a:solidFill>
                  <a:srgbClr val="D4A017"/>
                </a:solidFill>
                <a:latin typeface="Calibri" pitchFamily="34" charset="0"/>
                <a:ea typeface="Calibri" pitchFamily="34" charset="-122"/>
                <a:cs typeface="Calibri" pitchFamily="34" charset="-120"/>
              </a:rPr>
              <a:t>ما نحتاجه منكم</a:t>
            </a:r>
            <a:endParaRPr lang="en-US" sz="1300" dirty="0"/>
          </a:p>
        </p:txBody>
      </p:sp>
      <p:sp>
        <p:nvSpPr>
          <p:cNvPr id="8" name="Text 6"/>
          <p:cNvSpPr/>
          <p:nvPr/>
        </p:nvSpPr>
        <p:spPr>
          <a:xfrm>
            <a:off x="6428232" y="3291840"/>
            <a:ext cx="5120640" cy="1828800"/>
          </a:xfrm>
          <a:prstGeom prst="rect">
            <a:avLst/>
          </a:prstGeom>
          <a:noFill/>
          <a:ln/>
        </p:spPr>
        <p:txBody>
          <a:bodyPr wrap="square" lIns="0" tIns="0" rIns="0" bIns="0" rtlCol="0" anchor="ctr"/>
          <a:lstStyle/>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تفويض بثلاث مناطق تجريبية</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تنسيق الإنفاذ (الحرّاس)</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تعريف بشبكة الدفع الوطنية</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مسار إلى سجلّ مركبات وزارة النقل</a:t>
            </a:r>
            <a:endParaRPr lang="en-US" sz="1450" dirty="0"/>
          </a:p>
        </p:txBody>
      </p:sp>
      <p:sp>
        <p:nvSpPr>
          <p:cNvPr id="9" name="Text 7"/>
          <p:cNvSpPr/>
          <p:nvPr/>
        </p:nvSpPr>
        <p:spPr>
          <a:xfrm>
            <a:off x="576072" y="2971800"/>
            <a:ext cx="5120640" cy="274320"/>
          </a:xfrm>
          <a:prstGeom prst="rect">
            <a:avLst/>
          </a:prstGeom>
          <a:noFill/>
          <a:ln/>
        </p:spPr>
        <p:txBody>
          <a:bodyPr wrap="square" lIns="0" tIns="0" rIns="0" bIns="0" rtlCol="0" anchor="ctr"/>
          <a:lstStyle/>
          <a:p>
            <a:pPr rtl="1" algn="r" indent="0" marL="0">
              <a:buNone/>
            </a:pPr>
            <a:r>
              <a:rPr lang="en-US" sz="1300" b="1" dirty="0">
                <a:solidFill>
                  <a:srgbClr val="D4A017"/>
                </a:solidFill>
                <a:latin typeface="Calibri" pitchFamily="34" charset="0"/>
                <a:ea typeface="Calibri" pitchFamily="34" charset="-122"/>
                <a:cs typeface="Calibri" pitchFamily="34" charset="-120"/>
              </a:rPr>
              <a:t>ما تحصلون عليه</a:t>
            </a:r>
            <a:endParaRPr lang="en-US" sz="1300" dirty="0"/>
          </a:p>
        </p:txBody>
      </p:sp>
      <p:sp>
        <p:nvSpPr>
          <p:cNvPr id="10" name="Text 8"/>
          <p:cNvSpPr/>
          <p:nvPr/>
        </p:nvSpPr>
        <p:spPr>
          <a:xfrm>
            <a:off x="576072" y="3291840"/>
            <a:ext cx="5120640" cy="1828800"/>
          </a:xfrm>
          <a:prstGeom prst="rect">
            <a:avLst/>
          </a:prstGeom>
          <a:noFill/>
          <a:ln/>
        </p:spPr>
        <p:txBody>
          <a:bodyPr wrap="square" lIns="0" tIns="0" rIns="0" bIns="0" rtlCol="0" anchor="ctr"/>
          <a:lstStyle/>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إيراد حيّ ولوحة تحكّم خلال 90 يوماً</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بلا كلفة مسبقة — الدفع مع التحصيل</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60% من كل ليرة، بتدقيق كامل</a:t>
            </a:r>
            <a:endParaRPr lang="en-US" sz="1450" dirty="0"/>
          </a:p>
          <a:p>
            <a:pPr algn="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أصل سيادي تملكه المدينة</a:t>
            </a:r>
            <a:endParaRPr lang="en-US" sz="1450" dirty="0"/>
          </a:p>
        </p:txBody>
      </p:sp>
      <p:sp>
        <p:nvSpPr>
          <p:cNvPr id="11" name="Shape 9"/>
          <p:cNvSpPr/>
          <p:nvPr/>
        </p:nvSpPr>
        <p:spPr>
          <a:xfrm>
            <a:off x="667512" y="5532120"/>
            <a:ext cx="10881360" cy="0"/>
          </a:xfrm>
          <a:prstGeom prst="line">
            <a:avLst/>
          </a:prstGeom>
          <a:noFill/>
          <a:ln w="12700">
            <a:solidFill>
              <a:srgbClr val="23304D"/>
            </a:solidFill>
            <a:prstDash val="solid"/>
          </a:ln>
        </p:spPr>
      </p:sp>
      <p:sp>
        <p:nvSpPr>
          <p:cNvPr id="12" name="Text 10"/>
          <p:cNvSpPr/>
          <p:nvPr/>
        </p:nvSpPr>
        <p:spPr>
          <a:xfrm>
            <a:off x="667512" y="5715000"/>
            <a:ext cx="10881360" cy="457200"/>
          </a:xfrm>
          <a:prstGeom prst="rect">
            <a:avLst/>
          </a:prstGeom>
          <a:noFill/>
          <a:ln/>
        </p:spPr>
        <p:txBody>
          <a:bodyPr wrap="square" lIns="0" tIns="0" rIns="0" bIns="0" rtlCol="0" anchor="ctr"/>
          <a:lstStyle/>
          <a:p>
            <a:pPr algn="r" indent="0" marL="0">
              <a:buNone/>
            </a:pPr>
            <a:r>
              <a:rPr lang="en-US" sz="1600" b="1" dirty="0">
                <a:solidFill>
                  <a:srgbClr val="F59E0B"/>
                </a:solidFill>
                <a:latin typeface="Calibri" pitchFamily="34" charset="0"/>
                <a:ea typeface="Calibri" pitchFamily="34" charset="-122"/>
                <a:cs typeface="Calibri" pitchFamily="34" charset="-120"/>
              </a:rPr>
              <a:t>damascus-park.vercel.app</a:t>
            </a:r>
            <a:pPr algn="r" indent="0" marL="0">
              <a:buNone/>
            </a:pPr>
            <a:r>
              <a:rPr lang="en-US" sz="1600" dirty="0">
                <a:solidFill>
                  <a:srgbClr val="94A3B8"/>
                </a:solidFill>
                <a:latin typeface="Calibri" pitchFamily="34" charset="0"/>
                <a:ea typeface="Calibri" pitchFamily="34" charset="-122"/>
                <a:cs typeface="Calibri" pitchFamily="34" charset="-120"/>
              </a:rPr>
              <a:t>  :شاهدوها مباشرة اليوم</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موقف — مواقف دمشق الذكية · عرض المرحلة الأولى</dc:title>
  <dc:subject>PptxGenJS Presentation</dc:subject>
  <dc:creator>Mawqif</dc:creator>
  <cp:lastModifiedBy>Mawqif</cp:lastModifiedBy>
  <cp:revision>1</cp:revision>
  <dcterms:created xsi:type="dcterms:W3CDTF">2026-06-28T20:34:39Z</dcterms:created>
  <dcterms:modified xsi:type="dcterms:W3CDTF">2026-06-28T20:34:39Z</dcterms:modified>
</cp:coreProperties>
</file>